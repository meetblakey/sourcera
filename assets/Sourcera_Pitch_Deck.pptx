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SLIDE — opens every conversation.</a:t>
            </a:r>
          </a:p>
          <a:p/>
          <a:p>
            <a:r>
              <a:t>Three audiences, one deck:</a:t>
            </a:r>
          </a:p>
          <a:p>
            <a:r>
              <a:t>(1) Investor — this is a category-defining two-sided marketplace with outcome-accounted AI pricing and structural 90%+ gross margin.</a:t>
            </a:r>
          </a:p>
          <a:p>
            <a:r>
              <a:t>(2) Strategic partner — integrations at Phase 13 (Jira, Linear, Salesforce, Coupa, Ivalua) are available from day one; we're upstream of the contract.</a:t>
            </a:r>
          </a:p>
          <a:p>
            <a:r>
              <a:t>(3) Enterprise customer — Sourcera runs your next software evaluation end-to-end, produces the audit artifact your auditor asks for, and costs less than one Coupa seat per year.</a:t>
            </a:r>
          </a:p>
          <a:p/>
          <a:p>
            <a:r>
              <a:t>Open with the tagline: 'Choose Correct. Move Faster.' is the promise — defensible decisions, compressed cycle time. For investors, frame it as category creation: 'Software Evaluation Platform' is a new category; no Gartner quadrant exists yet; we're defining it.</a:t>
            </a:r>
          </a:p>
          <a:p/>
          <a:p>
            <a:r>
              <a:t>Before advancing: confirm the audience. The problem slide (Slide 2) and the ask slide (Slide 18) are the only slides that should be adjusted per audience.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 quantified on both sides.</a:t>
            </a:r>
          </a:p>
          <a:p/>
          <a:p>
            <a:r>
              <a:t>BUYER SIDE. Enterprise software decisions are high-stakes ($500K–$10M), cross-functional (5–9 roles across 3–6 functions), and frequent (4–12 evaluations/year in the primary ICP). The tooling is still: Excel tab per vendor, SharePoint folder for RFP responses, Outlook threads for vendor Q&amp;A, PowerPoint deck authored the weekend before executive review, Word 'Selection Memo' nobody can find two years later. At $100/hour blended loaded rate, a mid-market evaluation consumes 120–180 hours = $12K–$18K direct labor per evaluation. Two of the last five evaluations at a typical mid-market buyer had an auditor finding on vendor management.</a:t>
            </a:r>
          </a:p>
          <a:p/>
          <a:p>
            <a:r>
              <a:t>SELLER SIDE. B2B SaaS vendors respond to 30–150 RFPs per year. Primary ICP has no dedicated RFP team — a single proposal manager or an overwhelmed 1–2 person team. Same SOC 2 statements, DPA clauses, product descriptions copy-pasted into every bid. Qualified RFPs never reach vendors who aren't already in the buyer's personal network. Response latency (days instead of hours) directly costs deals.</a:t>
            </a:r>
          </a:p>
          <a:p/>
          <a:p>
            <a:r>
              <a:t>Both sides share one structural failure: institutional knowledge evaporates with staff turnover.</a:t>
            </a:r>
          </a:p>
          <a:p/>
          <a:p>
            <a:r>
              <a:t>Say the ROI number out loud: 'Sourcera Starter at $3,600/yr pays for itself in the first evaluation.' That's the most persuasive economic line in the deck.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NOW — the timing argument.</a:t>
            </a:r>
          </a:p>
          <a:p/>
          <a:p>
            <a:r>
              <a:t>Sourcera is viable because of five simultaneously-true conditions. Any one of them would justify a feature. All five together justify the category.</a:t>
            </a:r>
          </a:p>
          <a:p/>
          <a:p>
            <a:r>
              <a:t>1. AI maturation. Cite-before-state retrieval, confidence-scored pre-scoring, and policy-document parsing moved from research to production in 2024–2025. Grounded drafting with inline citations is usable inside an audit.</a:t>
            </a:r>
          </a:p>
          <a:p/>
          <a:p>
            <a:r>
              <a:t>2. Compliance pressure. SOC 2 Type II, ISO 27001, HIPAA, NYDFS 500, DORA, PCI-DSS 4.0, FedRAMP. Documented vendor-risk procedures are now a board-level KPI. The auditor now asks for an artifact Sourcera ships (SHA-256 hashed Selection Record).</a:t>
            </a:r>
          </a:p>
          <a:p/>
          <a:p>
            <a:r>
              <a:t>3. Distributed procurement. The average buying team is 5–9 roles across 3–6 functions. With remote/hybrid as default, per-seat tooling suppresses exactly the cross-functional participation the product needs. This is why unlimited-seats pricing is a structural decision — not a marketing line.</a:t>
            </a:r>
          </a:p>
          <a:p/>
          <a:p>
            <a:r>
              <a:t>4. RFP fatigue. Seller-side volume is growing faster than team headcount. The solo proposal manager is the highest-attrition seat in revenue ops, and the replacement-or-tooling decision fires in 60–90 days.</a:t>
            </a:r>
          </a:p>
          <a:p/>
          <a:p>
            <a:r>
              <a:t>5. Procurement is understaffed. Software spend compounds at ~15-18% a year; procurement headcount is flat. Leverage per person is the only remaining lever, and leverage at this scale means AI.</a:t>
            </a:r>
          </a:p>
          <a:p/>
          <a:p>
            <a:r>
              <a:t>Close with: 'Gartner hasn't yet named this category. In 2027 they will. The first movers define the methodology — everyone else adopts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SOLUTION — three pillars.</a:t>
            </a:r>
          </a:p>
          <a:p/>
          <a:p>
            <a:r>
              <a:t>PILLAR 1: Structured Evaluation. The fixed 13-phase pipeline is opinionated — you cannot skip, reorder, or rename phases. Every Requirement is gate-validated. Weight × Grade scoring produces a defensible number. Phase 9 creates an immutable snapshot of every vendor response. Phase 13 produces a SHA-256-hashed Selection Record. This is the evaluation spine that replaces the spreadsheet.</a:t>
            </a:r>
          </a:p>
          <a:p/>
          <a:p>
            <a:r>
              <a:t>PILLAR 2: AI Intelligence. The Agent is infrastructure, not a feature — woven into every phase. 21+ cataloged capabilities; Opus for deep reasoning (policy parsing, KB bootstrap), Sonnet for general-purpose (pre-scoring, first-pass drafting), Haiku for high-volume (triage, dedupe, staleness). Every output is grounded (cite-before-state), confidence-scored, and editable; the Agent never commits without explicit user confirmation. The outcome-accounted pricing mechanic — accepted ops bill at 10× cost, rejected at 1.05× cost — structurally aligns Sourcera's margin on output quality.</a:t>
            </a:r>
          </a:p>
          <a:p/>
          <a:p>
            <a:r>
              <a:t>PILLAR 3: Vendor Discovery Marketplace. A third data domain alongside the two consoles, with its own access rules. Seller Profiles and Software Pages are free-to-publish from day one — maximizing inventory. Capability Declarations are machine-searchable structured positioning. Buyers publish summary listings; sellers submit Expressions of Interest and enter the evaluation directly if accepted. Schema.org structured data compounds per-category organic search. This is not G2 (reviews); this is upstream of G2 — the evaluation itself.</a:t>
            </a:r>
          </a:p>
          <a:p/>
          <a:p>
            <a:r>
              <a:t>The integration is the point. Consoles + Agent + Marketplace is what no competitor ships.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DUAL-CONSOLE ARCHITECTURE — the structural moat.</a:t>
            </a:r>
          </a:p>
          <a:p/>
          <a:p>
            <a:r>
              <a:t>A single Sourcera Organization is split into a Buyer Console and a Seller Console with strict data isolation enforced at the database query level — not just UI. Console-scoped queries require both org_id and console parameters. Direct API calls cannot cross the boundary.</a:t>
            </a:r>
          </a:p>
          <a:p/>
          <a:p>
            <a:r>
              <a:t>Why this matters architecturally. Same company can safely run procurement AND respond to customer RFPs inside one tool without ever cross-contaminating. Your InfoSec team can evaluate security vendors on the buyer side while your Sales team responds to customer security questionnaires on the seller side — and neither surface sees the other's KB, vendors, Agent memory, or Q&amp;A threads.</a:t>
            </a:r>
          </a:p>
          <a:p/>
          <a:p>
            <a:r>
              <a:t>Why this matters commercially. Every competitor picks a side — Responsive and Loopio only exist on the seller side; Coupa and Ivalua only exist on the buyer side. Sourcera is the only platform where the same Org has coherent pricing on both sides, a unified AI wallet, and a Marketplace bridge between them.</a:t>
            </a:r>
          </a:p>
          <a:p/>
          <a:p>
            <a:r>
              <a:t>The Marketplace is the third domain. Buyer Listings + Seller Capability Declarations + Seller Profiles + Match Scoring live there. Buyers publish a summary listing; sellers submit an EOI; if accepted, the seller's Bid Workspace is provisioned and they enter the buyer's evaluation directly.</a:t>
            </a:r>
          </a:p>
          <a:p/>
          <a:p>
            <a:r>
              <a:t>Technical note for investors: Convex provides the query-level enforcement; WorkOS handles enterprise SSO/SCIM; the firewall is not a feature we add — it's a constraint enforced by every query.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13-PHASE PIPELINE — the spine.</a:t>
            </a:r>
          </a:p>
          <a:p/>
          <a:p>
            <a:r>
              <a:t>Phase 1: Stakeholder Alignment &amp; Discovery. Business case drafted, stakeholders invited, Discovery Document attached.</a:t>
            </a:r>
          </a:p>
          <a:p>
            <a:r>
              <a:t>Phase 2: Requirement Definition. Teams build the matrix. 50-200 requirements typical, each with global ID (e.g., SRC-1001), weight 0-20, response type.</a:t>
            </a:r>
          </a:p>
          <a:p>
            <a:r>
              <a:t>Phase 3: Use Case Definition. Requirements grouped into Use Cases (3-8 typical); Use Case Leads assigned.</a:t>
            </a:r>
          </a:p>
          <a:p>
            <a:r>
              <a:t>Phases 4-5: Vendor Discovery &amp; Outreach. Sourced via Marketplace, manual import, or AI suggestion. ITBs issued.</a:t>
            </a:r>
          </a:p>
          <a:p>
            <a:r>
              <a:t>Phase 6: Bidding Opens. Minimum 7-day bidding window; Q&amp;A threads open; Requirement Amendment Protocol active.</a:t>
            </a:r>
          </a:p>
          <a:p>
            <a:r>
              <a:t>Phase 7: Response Refinement. Vendors edit and resubmit. Response versions tracked.</a:t>
            </a:r>
          </a:p>
          <a:p>
            <a:r>
              <a:t>Phase 8: Due Diligence &amp; Demos. Findings logged as comments.</a:t>
            </a:r>
          </a:p>
          <a:p>
            <a:r>
              <a:t>Phase 9: Final Clarifications. LAST AMENDMENT WINDOW. Requirements and Responses permanently locked on exit. Immutable snapshots created.</a:t>
            </a:r>
          </a:p>
          <a:p>
            <a:r>
              <a:t>Phase 10: Team Scoring. Collaborative scoring unlocks. Agent Pre-Scoring populates suggestions. Disagreement Insight Cards surface ≥0.3 variance.</a:t>
            </a:r>
          </a:p>
          <a:p>
            <a:r>
              <a:t>Phase 11: Score Review &amp; Consensus. Team Leads resolve outliers. TCO and scenarios finalized.</a:t>
            </a:r>
          </a:p>
          <a:p>
            <a:r>
              <a:t>Phase 12: Selection &amp; Recommendation. Executive review. Selection Report generated, signed, routed.</a:t>
            </a:r>
          </a:p>
          <a:p>
            <a:r>
              <a:t>Phase 13: Contract &amp; Closure. Workspace becomes immutable audit record. Selection Record created.</a:t>
            </a:r>
          </a:p>
          <a:p/>
          <a:p>
            <a:r>
              <a:t>Three guarantees:</a:t>
            </a:r>
          </a:p>
          <a:p>
            <a:r>
              <a:t>— Gate validation: cannot skip or reorder phases.</a:t>
            </a:r>
          </a:p>
          <a:p>
            <a:r>
              <a:t>— Immutability at Phase 9: vendor responses freeze; no retroactive edits.</a:t>
            </a:r>
          </a:p>
          <a:p>
            <a:r>
              <a:t>— Audit by construction: SHA-256-hashed Selection Record is the artifact the auditor asks for.</a:t>
            </a:r>
          </a:p>
          <a:p/>
          <a:p>
            <a:r>
              <a:t>Competitor contrast: Coupa/Ivalua have 'sourcing modules' — configurable RFx shells. The buyer builds their own workflow. Sourcera ships the opinionated methodology. That's why the category is different.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INTELLIGENCE — the Agent as infrastructure.</a:t>
            </a:r>
          </a:p>
          <a:p/>
          <a:p>
            <a:r>
              <a:t>21 cataloged capabilities in the Master Spec + 10+ expansion capabilities in the KB Engineering Spec. Tiered model selection: Opus for deep reasoning (Policy Parsing, KB Bootstrap, Ghost-RFP Ingestion), Sonnet for general purpose (Pre-Scoring, First-Pass Draft, TCO Narrative, Pulse Digest), Haiku for high-volume (Triage, Dedupe, Staleness).</a:t>
            </a:r>
          </a:p>
          <a:p/>
          <a:p>
            <a:r>
              <a:t>Every output is grounded — cite-before-state rule. Every output is confidence-scored. Every output is attributed [AI-Generated] with inline confidence. The Agent never commits without explicit user confirmation. Outputs are filtered against factually incorrect pre-scores, unseen vendor names, and direct scoring recommendations.</a:t>
            </a:r>
          </a:p>
          <a:p/>
          <a:p>
            <a:r>
              <a:t>THE KEY INNOVATION IS THE PRICING LAYER.</a:t>
            </a:r>
          </a:p>
          <a:p/>
          <a:p>
            <a:r>
              <a:t>Every AI Operation settles as accepted or rejected on a capability-specific signal. Default on timeout is rejected — biases cost protection when signal is ambiguous.</a:t>
            </a:r>
          </a:p>
          <a:p>
            <a:r>
              <a:t>- Accepted ops: bill at VALUE price = cost_base × 10 (draws from customer budget)</a:t>
            </a:r>
          </a:p>
          <a:p>
            <a:r>
              <a:t>- Rejected ops: bill at COST price = cost_base × 1.05 (near-zero margin)</a:t>
            </a:r>
          </a:p>
          <a:p/>
          <a:p>
            <a:r>
              <a:t>cost_base is re-derived nightly from Anthropic billing and Convex compute. Multiplier holds constant. Customer sees one number: 'AI budget used this month' in value-dollars.</a:t>
            </a:r>
          </a:p>
          <a:p/>
          <a:p>
            <a:r>
              <a:t>This is the structural guarantee. If Sourcera hallucinates or produces unusable output, we lose money. The more the Agent fails, the more margin Sourcera loses. That's what 'aligned incentive on quality' means at the pricing layer — not a marketing line, an accounting identity.</a:t>
            </a:r>
          </a:p>
          <a:p/>
          <a:p>
            <a:r>
              <a:t>Competitor contrast: token-based AI pricing is bill-shock-ready and conflates effort with value. Feature-toggle AI creates shelfware. Flat-rate AI is adverse-selection-vulnerable. Outcome-accounted AI avoids all three.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MARKETPLACE — the third domain.</a:t>
            </a:r>
          </a:p>
          <a:p/>
          <a:p>
            <a:r>
              <a:t>Beyond the Buyer Console and Seller Console, there is a Marketplace Domain with its own access rules. This is where buyers discover sellers and sellers discover opportunities — not where they transact (the evaluation itself happens in a Workspace linked to a Bid Workspace).</a:t>
            </a:r>
          </a:p>
          <a:p/>
          <a:p>
            <a:r>
              <a:t>Four components:</a:t>
            </a:r>
          </a:p>
          <a:p>
            <a:r>
              <a:t>1. Seller Profiles. Published free on domain verification. Emits Schema.org structured data — SEO compounds. Three verification tiers (Basic domain-verified / Verified with SOC 2 uploaded / Certified with ≥3 closed bids on Sourcera). Tiers are earned, not purchased.</a:t>
            </a:r>
          </a:p>
          <a:p>
            <a:r>
              <a:t>2. SellerSoftware + Capability Declarations. Each software entity has up to 3 Capability Declarations on Free, 25 on Starter, 250 on Growth, unlimited on Scale. Controlled taxonomy prevents fabrication.</a:t>
            </a:r>
          </a:p>
          <a:p>
            <a:r>
              <a:t>3. Buyer Listings + EOI Workflow. Buyers publish summary listings (full requirements NEVER exposed — only buyer-authored summary). Sellers submit Expressions of Interest. Accepted EOIs provision a Bid Workspace and the seller enters the evaluation directly.</a:t>
            </a:r>
          </a:p>
          <a:p>
            <a:r>
              <a:t>4. Match Scoring. Free viewers see labels ('Strong match'). Growth+ sellers and Buyer Growth+ see numeric scores. Calibrated from every bid close — the network compounds.</a:t>
            </a:r>
          </a:p>
          <a:p/>
          <a:p>
            <a:r>
              <a:t>THE KEY DISTINCTION. This is not a review site. G2 and Gartner show sentiment, upstream of the purchase decision. Apollo and 6sense provide inferred intent — 90% noise. Responsive and Loopio are seller-only KB tools with no buyer discovery surface. Sourcera Marketplace is converted intent — the buyer is actively evaluating, inside a structured 13-phase pipeline, and we know the deadline.</a:t>
            </a:r>
          </a:p>
          <a:p/>
          <a:p>
            <a:r>
              <a:t>Investor line: 'G2 tells you the market is looking. Sourcera tells you which buyer is evaluating, and hands you the RFP.'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HERO MOMENT — the single most valuable moment in the product.</a:t>
            </a:r>
          </a:p>
          <a:p/>
          <a:p>
            <a:r>
              <a:t>The most valuable signup Sourcera will ever get is the one the vendor did not ask for.</a:t>
            </a:r>
          </a:p>
          <a:p/>
          <a:p>
            <a:r>
              <a:t>SEQUENCE. A buyer invites a vendor to their evaluation via M1 (Vendor-Invite-Creates-Account). The vendor receives a magic-link email. They click. Inside the SSO redirect latency — 30 to 90 seconds — Sourcera:</a:t>
            </a:r>
          </a:p>
          <a:p/>
          <a:p>
            <a:r>
              <a:t>1. Domain Bootstrap. Opus-tier crawl of the vendor's homepage, help center, docs, and trust center (drawn from the lifetime-free bootstrap allowance).</a:t>
            </a:r>
          </a:p>
          <a:p>
            <a:r>
              <a:t>2. KB Propose. 40–200 draft KB entries staged with confidence score and provenance URL.</a:t>
            </a:r>
          </a:p>
          <a:p>
            <a:r>
              <a:t>3. First-Pass Draft. Sonnet drafts responses for every requirement in the buyer's evaluation, citing the newly bootstrapped KB.</a:t>
            </a:r>
          </a:p>
          <a:p>
            <a:r>
              <a:t>4. Landing screen. The vendor lands NOT on an empty workspace — on their drafted bid.</a:t>
            </a:r>
          </a:p>
          <a:p/>
          <a:p>
            <a:r>
              <a:t>THE LANDING SCREEN COPY (exact):</a:t>
            </a:r>
          </a:p>
          <a:p>
            <a:r>
              <a:t>'Your bid for [Buyer Company] is ready. 47 of 82 requirements have AI drafts. 31 cite evidence from your own website. Review time: ~35 min.'</a:t>
            </a:r>
          </a:p>
          <a:p/>
          <a:p>
            <a:r>
              <a:t>Every status line during the progress bar is TRUE and reflects actual work completed.</a:t>
            </a:r>
          </a:p>
          <a:p/>
          <a:p>
            <a:r>
              <a:t>Why this matters commercially. The cold-start wall for a new vendor collapses from ~2 days (status quo: manual triage, KB hunt, draft from scratch) to ~30 seconds of latency hidden behind an honest onboarding progress bar. The vendor arrives with the work already started, their own content already in the tool, and the buyer's real requirements already answered — before any pricing conversation.</a:t>
            </a:r>
          </a:p>
          <a:p/>
          <a:p>
            <a:r>
              <a:t>Activation metric: minutes from magic-link click to first submitted requirement response. Target p50 &lt; 20 min, p90 &lt; 60 min.</a:t>
            </a:r>
          </a:p>
          <a:p/>
          <a:p>
            <a:r>
              <a:t>This is why Sourcera's seller-side acquisition is structurally different from Responsive and Loopio. Those products start with an empty workspace and a setup wizard. Sourcera starts with a drafted bid.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BUSINESS MODEL — two-sided pricing, pooled AI wallet.</a:t>
            </a:r>
          </a:p>
          <a:p/>
          <a:p>
            <a:r>
              <a:t>Core principle: Per-organization, never per-seat. Unlimited seats on every paid tier. Procurement is cross-functional by nature — a seat tax suppresses the exact collaboration the product requires.</a:t>
            </a:r>
          </a:p>
          <a:p/>
          <a:p>
            <a:r>
              <a:t>BUYER TIERS: Free ($0) → Starter ($299) → Growth ($799) → Scale ($1,999) → Enterprise (custom, $3K floor).</a:t>
            </a:r>
          </a:p>
          <a:p>
            <a:r>
              <a:t>SELLER TIERS: Free ($0) → Starter ($149) → Growth ($499) → Scale ($1,499) → Enterprise (custom, $3K floor).</a:t>
            </a:r>
          </a:p>
          <a:p/>
          <a:p>
            <a:r>
              <a:t>All prices shown are MONTHLY at the ANNUAL rate. Monthly-billed is higher.</a:t>
            </a:r>
          </a:p>
          <a:p/>
          <a:p>
            <a:r>
              <a:t>Seller anchors against Responsive ($7–15K/yr) and Loopio ($15–35K/yr):</a:t>
            </a:r>
          </a:p>
          <a:p>
            <a:r>
              <a:t>— Sourcera Seller Starter at $1,800/yr = 4× cheaper on the RFP-tooling dimension, bundling Marketplace discovery and Capability Declarations they don't ship.</a:t>
            </a:r>
          </a:p>
          <a:p>
            <a:r>
              <a:t>— Sourcera Seller Growth at $6,000/yr = 3× cheaper than Loopio mid, adding CRM Sync, numeric Match Scoring, Seller Signals.</a:t>
            </a:r>
          </a:p>
          <a:p/>
          <a:p>
            <a:r>
              <a:t>CROSS-SIDE POOLING. An Org can hold a Buyer plan, a Seller plan, or both. AI budget is Org-scoped and pooled across consoles. Buyer Growth ($300) + Seller Starter ($30) = $330 unified AI budget. Dual-Console firewall is unchanged — billing is shared, data is not.</a:t>
            </a:r>
          </a:p>
          <a:p/>
          <a:p>
            <a:r>
              <a:t>WALLET OVERAGE is OFF BY DEFAULT on every plan. An admin must explicitly enable and cap it. Hard caps block ops; soft caps (80%) email Billing Admin. No bill shock possible by default configuration.</a:t>
            </a:r>
          </a:p>
          <a:p/>
          <a:p>
            <a:r>
              <a:t>ENTERPRISE GATE. Enterprise exists because some buyers have non-negotiable compliance requirements (SSO/SCIM, custom DPA). Below the $12K/yr AI commit, the dedicated CSM load destroys margin — so the gate is requirement-driven, not logo-driven. A 10,000-employee customer with no compliance asks belongs on Scale, not Enterprise.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REVENUE MODEL &amp; UNIT ECONOMICS.</a:t>
            </a:r>
          </a:p>
          <a:p/>
          <a:p>
            <a:r>
              <a:t>ARR SCENARIOS. Buyer: Starter $4.2K / Growth $13.2K / Scale $33.6K / Enterprise $48K–$250K+. Seller: Starter $2.2K / Growth $8.4K / Scale $25.2K / Enterprise $48K–$250K+.</a:t>
            </a:r>
          </a:p>
          <a:p/>
          <a:p>
            <a:r>
              <a:t>Total ARR includes plan subscription + value-dollar AI consumption. AI consumption assumes typical utilization: Starter 60%, Growth 100%, Scale 100%, Enterprise at committed spend.</a:t>
            </a:r>
          </a:p>
          <a:p/>
          <a:p>
            <a:r>
              <a:t>MARGIN ARCHITECTURE.</a:t>
            </a:r>
          </a:p>
          <a:p/>
          <a:p>
            <a:r>
              <a:t>96% gross margin at Starter. Plan price dominates; AI cost is minimal.</a:t>
            </a:r>
          </a:p>
          <a:p>
            <a:r>
              <a:t>~91% blended at Year-1 exit mix — Buyer 60% Starter / 25% Growth / 10% Scale / 5% Enterprise; Seller 55% Starter / 25% Growth / 15% Scale / 5% Enterprise.</a:t>
            </a:r>
          </a:p>
          <a:p>
            <a:r>
              <a:t>90%+ blended target at steady state.</a:t>
            </a:r>
          </a:p>
          <a:p/>
          <a:p>
            <a:r>
              <a:t>THE STRUCTURAL MARGIN FLOOR. cost_base is re-derived nightly. Accepted AI ops bill at 10× cost (90% margin). Rejected AI ops bill at 1.05× cost (5% margin). Rejected outputs are never profitable. If Anthropic pricing moves 30%, the multiplier holds and Sourcera absorbs the variance — but customers see stable value-dollars, and the margin floor is defended by plan price not AI math.</a:t>
            </a:r>
          </a:p>
          <a:p/>
          <a:p>
            <a:r>
              <a:t>KEY DEFENSIVE MECHANICS:</a:t>
            </a:r>
          </a:p>
          <a:p>
            <a:r>
              <a:t>— Wallet overage is OFF by default. No bill shock possible without admin opt-in.</a:t>
            </a:r>
          </a:p>
          <a:p>
            <a:r>
              <a:t>— Enterprise only sold when structurally required (SSO, DPA, $12K commit, custom integration). Below that the dedicated CSM load kills margin — Scenario C in Seller Pricing §13 shows 44% gross margin without the commit floor.</a:t>
            </a:r>
          </a:p>
          <a:p>
            <a:r>
              <a:t>— 10% cap on Enterprise share of accounts until CSM motion templatized.</a:t>
            </a:r>
          </a:p>
          <a:p>
            <a:r>
              <a:t>— Zero seat-count exposure. Procurement teams scale 2×–4× without affecting plan revenue — correlates with better evaluations (higher retention) without revenue leak.</a:t>
            </a:r>
          </a:p>
          <a:p/>
          <a:p>
            <a:r>
              <a:t>This is the model that lets the product stay free at entry and still print 90%+ margins at exit mix.</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SIZE — bottoms-up.</a:t>
            </a:r>
          </a:p>
          <a:p/>
          <a:p>
            <a:r>
              <a:t>METHODOLOGY. Bottoms-up, not top-down. Every step is a narrowing multiplier from a named, defensible starting universe.</a:t>
            </a:r>
          </a:p>
          <a:p/>
          <a:p>
            <a:r>
              <a:t>BUYER SIDE.</a:t>
            </a:r>
          </a:p>
          <a:p>
            <a:r>
              <a:t>Start: ~500,000 mid-market and enterprise organizations in target geos (US, EU, APAC). Employee bands 200–20,000; annual software spend $500K–$75M. Data sources: Census Bureau EPD, Eurostat, Crunchbase enterprise cuts.</a:t>
            </a:r>
          </a:p>
          <a:p>
            <a:r>
              <a:t>× 50% run ≥2 structured software evaluations per year. Based on GTM_POSITIONING §1.1.1 ICP criteria (primary: 4–12 evals/yr; expansion: 2–4 evals/yr).</a:t>
            </a:r>
          </a:p>
          <a:p>
            <a:r>
              <a:t>× 40% attach rate — willing to pay for structured evaluation tooling. Conservative; anchored to actual procurement-tech adoption among mid-market (Vendr/Tropic penetration ~15–20% in year 4 of category; Sourcera's category is more urgent because of audit exposure).</a:t>
            </a:r>
          </a:p>
          <a:p>
            <a:r>
              <a:t>= ~100,000 addressable Buyer accounts × $8K blended ARR = ~$800M Buyer SAM.</a:t>
            </a:r>
          </a:p>
          <a:p/>
          <a:p>
            <a:r>
              <a:t>SELLER SIDE.</a:t>
            </a:r>
          </a:p>
          <a:p>
            <a:r>
              <a:t>Start: ~200,000 B2B SaaS + regulated-vertical vendors globally. $1M+ ARR (below that, structured RFP tooling has no ROI). Data sources: Crunchbase B2B cuts, Pitchbook vendor lists.</a:t>
            </a:r>
          </a:p>
          <a:p>
            <a:r>
              <a:t>× 50% with material RFP volume (≥10/yr). Primary + Expansion ICP per §1.2.1.</a:t>
            </a:r>
          </a:p>
          <a:p>
            <a:r>
              <a:t>× 50% attach rate. Higher than buyer-side because forced-signup path (M1 buyer invite → magic-link hero moment) materially lowers CAC vs. pure outbound.</a:t>
            </a:r>
          </a:p>
          <a:p>
            <a:r>
              <a:t>= ~50,000 addressable Seller accounts × $4K blended ARR = ~$200M Seller SAM.</a:t>
            </a:r>
          </a:p>
          <a:p/>
          <a:p>
            <a:r>
              <a:t>COMBINED SAM = ~$1B. Deliberately conservative — no inflation from network-adjacent upsells (Pro Trial Seats, Marketplace Promoted Placements, custom integrations).</a:t>
            </a:r>
          </a:p>
          <a:p/>
          <a:p>
            <a:r>
              <a:t>SOM at Year 3. 2,500 Buyer accounts + 5,000 Seller accounts. ~$30M ARR. This is ≤3% of combined SAM. A 3% share of a $1B SAM at Year 3 is plausibly achievable with the two-sided flywheel — every Buyer seeds 3–10 Sellers via M1.</a:t>
            </a:r>
          </a:p>
          <a:p/>
          <a:p>
            <a:r>
              <a:t>Category defensibility. Sourcera is the only product spanning both sides. The SAM is not carved out of an existing category — it is a category-creation number. Investors should read this as: if only ONE side of the market materializes, the product still has a $200–800M opportunity.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COMPETITIVE LANDSCAPE — the 2×2.</a:t>
            </a:r>
          </a:p>
          <a:p/>
          <a:p>
            <a:r>
              <a:t>X-axis: single-sided vs. two-sided platform coverage.</a:t>
            </a:r>
          </a:p>
          <a:p>
            <a:r>
              <a:t>Y-axis: evaluation workflow depth (shallow → deep).</a:t>
            </a:r>
          </a:p>
          <a:p/>
          <a:p>
            <a:r>
              <a:t>TOP-LEFT (high depth, single-side). Coupa, Ivalua, Jaggaer own P2P. Their sourcing modules are configurable shells — you build your own evaluation workflow. Responsive and Loopio own seller-side RFP response, $7–35K/yr, no buyer surface. OneTrust/ProcessUnity/Venminder own vendor risk monitoring post-contract. SAP Ariba is enterprise P2P.</a:t>
            </a:r>
          </a:p>
          <a:p/>
          <a:p>
            <a:r>
              <a:t>TOP-RIGHT (high depth, two-sided). Sourcera alone. Nobody else ships both consoles with the evaluation depth to make them credible on either side — and nobody else has the Marketplace bridge between them.</a:t>
            </a:r>
          </a:p>
          <a:p/>
          <a:p>
            <a:r>
              <a:t>BOTTOM-LEFT (low depth, single-side). G2, Gartner, TrustRadius — reviews, upstream of the deal. Excel + SharePoint + Outlook — the real competitor, used by 95%+ of target buyers today. Vendr, Tropic, Spendflo — renewal negotiation, post-selection.</a:t>
            </a:r>
          </a:p>
          <a:p/>
          <a:p>
            <a:r>
              <a:t>BOTTOM-RIGHT (low depth, two-sided). Empty. Nobody builds a shallow two-sided marketplace here because without evaluation depth there's no defensible workflow to integrate both sides around.</a:t>
            </a:r>
          </a:p>
          <a:p/>
          <a:p>
            <a:r>
              <a:t>THE UNIQUE CLAIM. Sourcera is the only platform that:</a:t>
            </a:r>
          </a:p>
          <a:p>
            <a:r>
              <a:t>1. Ships a fixed 13-phase evaluation pipeline (no competitor ships an opinionated methodology).</a:t>
            </a:r>
          </a:p>
          <a:p>
            <a:r>
              <a:t>2. Treats the Agent as infrastructure with outcome-accounted pricing (no competitor priced on outcome).</a:t>
            </a:r>
          </a:p>
          <a:p>
            <a:r>
              <a:t>3. Enforces Dual-Console firewall at the database query layer (no competitor has both consoles in one platform).</a:t>
            </a:r>
          </a:p>
          <a:p>
            <a:r>
              <a:t>4. Operates a Marketplace with Capability Declarations (no competitor has both-sided discovery).</a:t>
            </a:r>
          </a:p>
          <a:p>
            <a:r>
              <a:t>5. Unlimited seats on every paid tier (Coupa, Ivalua, and Responsive all per-seat).</a:t>
            </a:r>
          </a:p>
          <a:p/>
          <a:p>
            <a:r>
              <a:t>The dominant competitive line: 'Coupa owns your purchase orders. Sourcera owns the evaluation that precedes them. Integration at Enterprise.'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GROWTH ENGINE — the two-sided flywheel.</a:t>
            </a:r>
          </a:p>
          <a:p/>
          <a:p>
            <a:r>
              <a:t>Eight steps compound:</a:t>
            </a:r>
          </a:p>
          <a:p>
            <a:r>
              <a:t>1. Buyer runs an evaluation. Every mid-market evaluation invites 3–10 vendors.</a:t>
            </a:r>
          </a:p>
          <a:p>
            <a:r>
              <a:t>2. Every invited vendor is forced-signed-up via M1. They arrive at peak pain (RFP deadline, no tool).</a:t>
            </a:r>
          </a:p>
          <a:p>
            <a:r>
              <a:t>3. Hero Moment: bootstrap + first-pass draft inside SSO redirect. Vendor lands on a drafted bid.</a:t>
            </a:r>
          </a:p>
          <a:p>
            <a:r>
              <a:t>4. Vendor submits first bid. KB of 40–200 entries stays on the platform.</a:t>
            </a:r>
          </a:p>
          <a:p>
            <a:r>
              <a:t>5. KB compounds. Every subsequent bid reuses/improves it. Confidence scores earned from accept/reject signals.</a:t>
            </a:r>
          </a:p>
          <a:p>
            <a:r>
              <a:t>6. Marketplace inventory grows — every vendor has a published Seller Profile + SellerSoftware entity + Capability Declarations from day one.</a:t>
            </a:r>
          </a:p>
          <a:p>
            <a:r>
              <a:t>7. SEO surfaces compound: M9 Category Pages, M10 How-to-Evaluate Guides, M11 Comparison Pages, M12 Market Intelligence Reports. Schema.org structured data emits.</a:t>
            </a:r>
          </a:p>
          <a:p>
            <a:r>
              <a:t>8. Inbound buyer demand rises. Organic search moat per category → more buyer signups → more evaluations → more invites.</a:t>
            </a:r>
          </a:p>
          <a:p/>
          <a:p>
            <a:r>
              <a:t>KEY GROWTH MECHANICS (M1–M17):</a:t>
            </a:r>
          </a:p>
          <a:p>
            <a:r>
              <a:t>— M1 Vendor-Invite-Creates-Account (the forced-signup path).</a:t>
            </a:r>
          </a:p>
          <a:p>
            <a:r>
              <a:t>— M2 Selection Report Public Link (watermarked, per-section redaction).</a:t>
            </a:r>
          </a:p>
          <a:p>
            <a:r>
              <a:t>— M3 Evaluation Certificate Badge.</a:t>
            </a:r>
          </a:p>
          <a:p>
            <a:r>
              <a:t>— M9–M12 SEO-compounding pages.</a:t>
            </a:r>
          </a:p>
          <a:p>
            <a:r>
              <a:t>— M15 Ghost-Bid Importer — pastes historical RFPs to bootstrap KB.</a:t>
            </a:r>
          </a:p>
          <a:p>
            <a:r>
              <a:t>— M17 Buyer-Funded Pro Trial Seats — Scale (5/mo) and Enterprise (15/mo) buyers gift Seller Starter 30-day trials to invited vendors. Bypasses the Free-tier ceiling at the highest-converting moment of the seller funnel.</a:t>
            </a:r>
          </a:p>
          <a:p/>
          <a:p>
            <a:r>
              <a:t>The flywheel is asymmetric. Buyer-side acquisition drives seller supply (via forced signup). Seller supply drives SEO (via Schema.org structured data). SEO drives buyer demand (via organic search inflection per category). Buyer demand drives more seller signups. Each rotation makes the next one more efficient.</a:t>
            </a:r>
          </a:p>
          <a:p/>
          <a:p>
            <a:r>
              <a:t>Investor line: 'The consoles are the moat. The Marketplace is the compounding surface.'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NETWORK EFFECTS — 10 growth loops + 7 seller-side compounding effects.</a:t>
            </a:r>
          </a:p>
          <a:p/>
          <a:p>
            <a:r>
              <a:t>10 CORE GROWTH LOOPS (per Master Summary §3.2):</a:t>
            </a:r>
          </a:p>
          <a:p>
            <a:r>
              <a:t>1. Vendor-Invite-Creates-Account — primary supply-side acquisition channel.</a:t>
            </a:r>
          </a:p>
          <a:p>
            <a:r>
              <a:t>2. Template-Clone-Attribution — cloned templates carry a badge linking back to seller.</a:t>
            </a:r>
          </a:p>
          <a:p>
            <a:r>
              <a:t>3. Selection Report Public Link — watermarked social artifact with per-section redaction.</a:t>
            </a:r>
          </a:p>
          <a:p>
            <a:r>
              <a:t>4. Seller-Profile SEO — Public Seller Org + Software Pages emit Schema.org structured data.</a:t>
            </a:r>
          </a:p>
          <a:p>
            <a:r>
              <a:t>5. Free-AI-Teaser-to-Paid — $5 AI budget on Free is sized to the Aha Moment.</a:t>
            </a:r>
          </a:p>
          <a:p>
            <a:r>
              <a:t>6. Suggested Team Discovery — M7, surfaces colleagues on Sourcera.</a:t>
            </a:r>
          </a:p>
          <a:p>
            <a:r>
              <a:t>7. Cmd+K Suggestion Loop — Command Palette surfaces Marketplace content by context.</a:t>
            </a:r>
          </a:p>
          <a:p>
            <a:r>
              <a:t>8. Bid-Close-Offers-KB-Sync — one-click save-response-to-KB CTA at close.</a:t>
            </a:r>
          </a:p>
          <a:p>
            <a:r>
              <a:t>9. Template Publish Incentive — visibility credits for cloned templates.</a:t>
            </a:r>
          </a:p>
          <a:p>
            <a:r>
              <a:t>10. Marketplace Match-Score Teaser — labels free, numeric paid.</a:t>
            </a:r>
          </a:p>
          <a:p/>
          <a:p>
            <a:r>
              <a:t>7 SELLER-SIDE COMPOUNDING EFFECTS (per Master Summary §3.4):</a:t>
            </a:r>
          </a:p>
          <a:p>
            <a:r>
              <a:t>1. Invited-Vendor → Published-Profile → Marketplace-Ready Inventory — every invite adds one searchable listing.</a:t>
            </a:r>
          </a:p>
          <a:p>
            <a:r>
              <a:t>2. KB → Capability Declaration → Match Score → EOI → Revenue — free vendor work compounds into organic search real estate.</a:t>
            </a:r>
          </a:p>
          <a:p>
            <a:r>
              <a:t>3. Bid-Close → Win/Loss Signal → Platform Learning — 200 active vendors × 1 close/mo = 2,400 Match Score calibration events/year.</a:t>
            </a:r>
          </a:p>
          <a:p>
            <a:r>
              <a:t>4. Seller-Profile SEO Loop — structural defense against G2/Gartner.</a:t>
            </a:r>
          </a:p>
          <a:p>
            <a:r>
              <a:t>5. Ghost-Bid Import Loop (M15) — catapults vendors over the KB-accumulation barrier in one session.</a:t>
            </a:r>
          </a:p>
          <a:p>
            <a:r>
              <a:t>6. Buyer-Funded Pro Trial Loop (M17) — materially higher conversion than cold-start Free-to-Starter.</a:t>
            </a:r>
          </a:p>
          <a:p>
            <a:r>
              <a:t>7. Template Publish Incentive (M9) — incentivizes shared content creation.</a:t>
            </a:r>
          </a:p>
          <a:p/>
          <a:p>
            <a:r>
              <a:t>KEY MATH: Every Buyer evaluation invites 3–10 vendors. At 2,500 Buyer accounts × 4 evaluations/yr × 5 vendors average = 50,000 vendor signups per year by Year 3 — the seller-side CAC collapses.</a:t>
            </a:r>
          </a:p>
          <a:p/>
          <a:p>
            <a:r>
              <a:t>Every loop operates regardless of plan tier. Free supply keeps the flywheel spinning. Paid supply funds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TRACTION / WHAT WE'VE BUILT — pre-revenue framing.</a:t>
            </a:r>
          </a:p>
          <a:p/>
          <a:p>
            <a:r>
              <a:t>This slide intentionally does NOT claim logos, testimonials, or paying-customer counts. Sourcera is pre-revenue. The claim is: the product has been specified at staff-engineer fidelity before the first line of commercial code — and that specification is the traction.</a:t>
            </a:r>
          </a:p>
          <a:p/>
          <a:p>
            <a:r>
              <a:t>PRODUCT SCOPE.</a:t>
            </a:r>
          </a:p>
          <a:p>
            <a:r>
              <a:t>— Sourcera Master Spec v6.0.0: 900+ pages of internal-consistency-checked build specification. 13-phase pipeline. Dual-Console architecture. 21+ AI capabilities with model selection, confidence thresholds, and outcome signals.</a:t>
            </a:r>
          </a:p>
          <a:p>
            <a:r>
              <a:t>— Authoritative KB Engineering Spec for Seller KB / MCP / Managed Agent / Retrieval / Indexing.</a:t>
            </a:r>
          </a:p>
          <a:p>
            <a:r>
              <a:t>— UX Design Spec at Linear-benchmark fidelity: 8 core UX principles, 8 core interaction patterns, full token system (color, typography, spacing, motion, iconography).</a:t>
            </a:r>
          </a:p>
          <a:p>
            <a:r>
              <a:t>— 45 RBAC role/permission scopes, full entity schema, complete state-machine tables, notification event catalog, full API endpoint spec.</a:t>
            </a:r>
          </a:p>
          <a:p/>
          <a:p>
            <a:r>
              <a:t>GTM READINESS.</a:t>
            </a:r>
          </a:p>
          <a:p>
            <a:r>
              <a:t>— GTM_POSITIONING v1.0: ICP segmentation, 9 personas with objection/rebuttal mapping, competitive matrix, category definition narrative.</a:t>
            </a:r>
          </a:p>
          <a:p>
            <a:r>
              <a:t>— GTM_SALES_PLAYBOOK: full outbound sequences per persona, demo playbook, objection handlers, pricing narrative.</a:t>
            </a:r>
          </a:p>
          <a:p>
            <a:r>
              <a:t>— GTM_CONTENT_ENGINE, GTM_GROWTH_TACTICS, GTM_NETWORK_EFFECTS, GTM_PLG_ARCHITECTURE, GTM_90DAY_SPRINT.</a:t>
            </a:r>
          </a:p>
          <a:p>
            <a:r>
              <a:t>— 17 PLG growth mechanics (M1–M17) with integrity controls.</a:t>
            </a:r>
          </a:p>
          <a:p>
            <a:r>
              <a:t>— 8 category seed taxonomies (Security/GRC, Data/Analytics, DevOps, RevOps, HR-Tech, AI Infra, etc.).</a:t>
            </a:r>
          </a:p>
          <a:p/>
          <a:p>
            <a:r>
              <a:t>PRICING + ECONOMICS.</a:t>
            </a:r>
          </a:p>
          <a:p>
            <a:r>
              <a:t>— Sourcera Buyer Pricing Strategy v2 + Sourcera Seller Pricing Strategy v2.</a:t>
            </a:r>
          </a:p>
          <a:p>
            <a:r>
              <a:t>— 21 outcome signal definitions (per capability, per side, with accepted-signal windows).</a:t>
            </a:r>
          </a:p>
          <a:p>
            <a:r>
              <a:t>— Nightly cost_base recalculation job spec. Public rate card endpoint.</a:t>
            </a:r>
          </a:p>
          <a:p>
            <a:r>
              <a:t>— Scenario modeling (A/B/C) for seller-side gross margin defense.</a:t>
            </a:r>
          </a:p>
          <a:p>
            <a:r>
              <a:t>— Committed-spend Enterprise gating with $3K/mo floor.</a:t>
            </a:r>
          </a:p>
          <a:p/>
          <a:p>
            <a:r>
              <a:t>ARCHITECTURE: Convex + WorkOS + Anthropic + Firecrawl + Stripe + Clerk + PostHog + Loops + Zendesk + Perplexity. No speculative dependencies.</a:t>
            </a:r>
          </a:p>
          <a:p/>
          <a:p>
            <a:r>
              <a:t>Investor framing: 'The product is not a MVP plan. It's a V1 specification ready for engineering — the risk is execution speed, not product scope.'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TEAM — solo founder, stated as a strength.</a:t>
            </a:r>
          </a:p>
          <a:p/>
          <a:p>
            <a:r>
              <a:t>STRATEGIC FRAMING. A solo founder is usually treated as a risk. Here it is deliberately a strength, across three dimensions:</a:t>
            </a:r>
          </a:p>
          <a:p/>
          <a:p>
            <a:r>
              <a:t>1. CAPITAL EFFICIENCY. The complete product specification — Master Spec, Buyer Pricing, Seller Pricing, KB Engineering Spec, UX Design, GTM corpus — has been authored at effectively zero burn. The specification pre-work that typically takes a founding team 6–12 months at $1M+ burn has already happened. Every dollar raised goes to engineering and GTM, not to reconciling inherited disagreements between PM, design, and engineering leads.</a:t>
            </a:r>
          </a:p>
          <a:p/>
          <a:p>
            <a:r>
              <a:t>2. TECHNICAL DEPTH. The specifications are at staff-engineer-grade fidelity: full entity schemas, complete state machines, API endpoint contracts with request/response examples, webhook signing/retry semantics, AI capability matrices with model selection and outcome signals, retrieval architecture with cite-before-state rules. The spec is executable — a junior engineer can implement against it unambiguously.</a:t>
            </a:r>
          </a:p>
          <a:p/>
          <a:p>
            <a:r>
              <a:t>3. PRODUCT COHERENCE. Sourcera is opinionated — dual-console, fixed 13-phase pipeline, outcome-accounted AI pricing, unlimited seats, published Seller Profiles on Free — because those opinions are internally consistent by construction. Committee-authored products are the single most reliable source of product incoherence; Sourcera avoided that by writing the spec before the team.</a:t>
            </a:r>
          </a:p>
          <a:p/>
          <a:p>
            <a:r>
              <a:t>HIRING PLAN. Founding engineer (Convex, TypeScript, enterprise security) → design-partner engineer → applied AI engineer → founding account executive. Kept deliberately lean through the design-partner cohort.</a:t>
            </a:r>
          </a:p>
          <a:p/>
          <a:p>
            <a:r>
              <a:t>WHAT TO SAY OUT LOUD. 'The product is opinionated because one person made every call and reconciled every trade-off. Opinionated products win enterprise.' For investors, that's the pitch. For partners and customers, it's the product stance. For future employees, it's a clear decision-making principle.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ASK — three variations, one slide.</a:t>
            </a:r>
          </a:p>
          <a:p/>
          <a:p>
            <a:r>
              <a:t>The slide is audience-invariant. The SPOKEN ask is audience-specific. Pick the track that matches who's in the room.</a:t>
            </a:r>
          </a:p>
          <a:p/>
          <a:p>
            <a:r>
              <a:t>=== FOR INVESTORS ===</a:t>
            </a:r>
          </a:p>
          <a:p>
            <a:r>
              <a:t>'We're raising a seed round. The round funds the specification-to-shipping arc: founding engineer, founding AE, design-partner GTM, Convex + Anthropic + Firecrawl production infrastructure. The thesis is four parts:</a:t>
            </a:r>
          </a:p>
          <a:p>
            <a:r>
              <a:t>1. A two-sided marketplace with forced supply-side acquisition via buyer invite — CAC collapses on the seller side.</a:t>
            </a:r>
          </a:p>
          <a:p>
            <a:r>
              <a:t>2. Outcome-accounted AI pricing — structural 90%+ gross margin floor defended at the accounting layer.</a:t>
            </a:r>
          </a:p>
          <a:p>
            <a:r>
              <a:t>3. Category definition — Software Evaluation Platform doesn't have a Gartner Magic Quadrant yet. First mover defines the methodology.</a:t>
            </a:r>
          </a:p>
          <a:p>
            <a:r>
              <a:t>4. Opinionated solo-founder product — spec is internally consistent by construction, not committee.</a:t>
            </a:r>
          </a:p>
          <a:p>
            <a:r>
              <a:t>Target: 18 months to combined $3M ARR conservative (2,500 Buyer × ~$4K avg + 5,000 Seller × ~$3K avg, weighted toward Starter).</a:t>
            </a:r>
          </a:p>
          <a:p>
            <a:r>
              <a:t>Ask: [specific dollar number, equity range, lead commitment, customary board observer seat].'</a:t>
            </a:r>
          </a:p>
          <a:p/>
          <a:p>
            <a:r>
              <a:t>=== FOR PARTNERS ===</a:t>
            </a:r>
          </a:p>
          <a:p>
            <a:r>
              <a:t>'The most valuable strategic partnership surface is at Phase 13 — Selection Report close. Every evaluation that closes routes the selection downstream:</a:t>
            </a:r>
          </a:p>
          <a:p>
            <a:r>
              <a:t>— Jira, Linear, Asana, Azure DevOps for the engineering implementation.</a:t>
            </a:r>
          </a:p>
          <a:p>
            <a:r>
              <a:t>— Salesforce, HubSpot, Dynamics, Pipedrive for the seller CRM sync.</a:t>
            </a:r>
          </a:p>
          <a:p>
            <a:r>
              <a:t>— Coupa, Ivalua, Jaggaer, SAP Ariba, ServiceNow for the P2P transaction layer downstream.</a:t>
            </a:r>
          </a:p>
          <a:p>
            <a:r>
              <a:t>— Ironclad, DocuSign CLM, Icertis for contract authoring after close.</a:t>
            </a:r>
          </a:p>
          <a:p>
            <a:r>
              <a:t>We want launch integration partners. In return: co-marketing on Category Pages (M9), Comparison Pages (M11), Market Intelligence Reports (M12). Referral fee on qualified intros. Enterprise co-sell motion at Phase 13.</a:t>
            </a:r>
          </a:p>
          <a:p>
            <a:r>
              <a:t>Ask: [pilot integration scope, co-marketing launch window, referral economics].'</a:t>
            </a:r>
          </a:p>
          <a:p/>
          <a:p>
            <a:r>
              <a:t>=== FOR ENTERPRISE CUSTOMERS ===</a:t>
            </a:r>
          </a:p>
          <a:p>
            <a:r>
              <a:t>'We're running a design-partner cohort — 10 slots. 90-day pilot on your next software evaluation with full migration support, founder-level partnership, locked-in pricing, and feature-roadmap co-authorship. What you get: audit-ready Selection Record on Day 1 of Phase 13, replacement of the Excel+SharePoint+Outlook+PowerPoint workflow, unlimited seats for Legal+InfoSec+Finance+IT.</a:t>
            </a:r>
          </a:p>
          <a:p>
            <a:r>
              <a:t>What we need: an active evaluation, a named champion (Priya or Jordan persona — see GTM_POSITIONING §2), and a willingness to give feedback weekly for the pilot duration.</a:t>
            </a:r>
          </a:p>
          <a:p>
            <a:r>
              <a:t>Ask: [specific upcoming evaluation, champion commitment, pilot-start date].'</a:t>
            </a:r>
          </a:p>
          <a:p/>
          <a:p>
            <a:r>
              <a:t>All three variations can be delivered in under 60 seconds. Close with 'Which of these is you?' if audience is ambiguous.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 CONSERVATIVE 24-MONTH FINANCIAL MODEL.</a:t>
            </a:r>
          </a:p>
          <a:p/>
          <a:p>
            <a:r>
              <a:t>This is the base case. Every number ties to a published pricing tier and an explicit conversion assumption.</a:t>
            </a:r>
          </a:p>
          <a:p/>
          <a:p>
            <a:r>
              <a:t>DESIGN-PARTNER COHORT. M0–M12: 10-slot cohort of regulated-industry buyers running actual evaluations. Free → discounted Starter/Growth. Converts to paid by M9; cohort rolls off as a cohort by M12 as organic + forced-signup overtakes.</a:t>
            </a:r>
          </a:p>
          <a:p/>
          <a:p>
            <a:r>
              <a:t>PAID ACCOUNT BUILD.</a:t>
            </a:r>
          </a:p>
          <a:p>
            <a:r>
              <a:t>— Buyer paid: 0 (M3) → 10 (M6) → 50 (M9) → 150 (M12) → 350 (M15) → 700 (M18) → 1,200 (M21) → 1,800 (M24). Tier mix weighted 60/25/10/5 Starter/Growth/Scale/Enterprise at steady state.</a:t>
            </a:r>
          </a:p>
          <a:p>
            <a:r>
              <a:t>— Seller paid: 5 (M3) → 40 (M6) → 200 (M9) → 700 (M12) → 1,800 (M15) → 3,400 (M18) → 5,500 (M21) → 7,500 (M24). Forced-signup path dominates supply from M6 onward.</a:t>
            </a:r>
          </a:p>
          <a:p/>
          <a:p>
            <a:r>
              <a:t>ARR TRAJECTORY. $36K (M6) → $220K (M9) → $780K (M12) → $2.1M (M15) → $4.2M (M18) → $7.2M (M21) → $11.4M (M24).</a:t>
            </a:r>
          </a:p>
          <a:p/>
          <a:p>
            <a:r>
              <a:t>GROSS MARGIN. Blends up from 88% (M6, pre-AI-scale) to 92% (M24). Anchored to the 10× / 1.05× accounting and the exit-mix tier composition.</a:t>
            </a:r>
          </a:p>
          <a:p/>
          <a:p>
            <a:r>
              <a:t>CASH BURN. Tops out around $230K/mo at M18 and declines as revenue crosses burn. Assumes one seed round (M1) and one Series A (~M15–M18) to bridge to default-alive.</a:t>
            </a:r>
          </a:p>
          <a:p/>
          <a:p>
            <a:r>
              <a:t>KEY DRIVERS:</a:t>
            </a:r>
          </a:p>
          <a:p>
            <a:r>
              <a:t>— Forced-signup conversion 4% Free→Starter. Conservative — the Hero Moment should yield 6–10% if the Master Spec targets hold.</a:t>
            </a:r>
          </a:p>
          <a:p>
            <a:r>
              <a:t>— Buyer Free→Starter 8% within 90 days — anchored to procurement-tech category benchmarks.</a:t>
            </a:r>
          </a:p>
          <a:p>
            <a:r>
              <a:t>— Starter→Growth expansion 22% at 6 months — trigger is 80% AI budget utilization × 2 months.</a:t>
            </a:r>
          </a:p>
          <a:p>
            <a:r>
              <a:t>— Enterprise cap 10% through M24 to protect CSM margin until templatized.</a:t>
            </a:r>
          </a:p>
          <a:p/>
          <a:p>
            <a:r>
              <a:t>DOWNSIDE. Conversion halved → $6M ARR at M24. Still a real company; Series A plausible.</a:t>
            </a:r>
          </a:p>
          <a:p>
            <a:r>
              <a:t>UPSIDE. Forced-signup conversion 8% → $18M ARR at M24. Category-defining trajectory.</a:t>
            </a:r>
          </a:p>
          <a:p/>
          <a:p>
            <a:r>
              <a:t>WHAT THIS MODEL DOES NOT CLAIM:</a:t>
            </a:r>
          </a:p>
          <a:p>
            <a:r>
              <a:t>— No hockey stick. Compounding is baked into the flywheel, not the spreadsheet.</a:t>
            </a:r>
          </a:p>
          <a:p>
            <a:r>
              <a:t>— No logo-driven enterprise pops. Enterprise sold only on structural requirement.</a:t>
            </a:r>
          </a:p>
          <a:p>
            <a:r>
              <a:t>— No Marketplace Promoted Placement revenue modeled (upside).</a:t>
            </a:r>
          </a:p>
          <a:p>
            <a:r>
              <a:t>— No Pro Trial Seat revenue modeled (upside).</a:t>
            </a:r>
          </a:p>
          <a:p/>
          <a:p>
            <a:r>
              <a:t>Refer investors to the pricing docs (Sourcera_Buyer_Pricing_Strategy.md §13 scenarios, Sourcera_Seller_Pricing_Strategy.md §13 scenarios) for the underlying cohort math.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4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1508760"/>
            <a:ext cx="457200" cy="91440"/>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737360"/>
            <a:ext cx="5486400" cy="457200"/>
          </a:xfrm>
          <a:prstGeom prst="rect">
            <a:avLst/>
          </a:prstGeom>
          <a:noFill/>
        </p:spPr>
        <p:txBody>
          <a:bodyPr wrap="square" lIns="0" rIns="0" tIns="0" bIns="0" anchor="t">
            <a:spAutoFit/>
          </a:bodyPr>
          <a:lstStyle/>
          <a:p>
            <a:pPr algn="l">
              <a:lnSpc>
                <a:spcPct val="115000"/>
              </a:lnSpc>
            </a:pPr>
            <a:r>
              <a:rPr sz="1800" b="1" i="0">
                <a:solidFill>
                  <a:srgbClr val="F4B400"/>
                </a:solidFill>
                <a:latin typeface="Calibri"/>
              </a:rPr>
              <a:t>SOURCERA</a:t>
            </a:r>
          </a:p>
        </p:txBody>
      </p:sp>
      <p:sp>
        <p:nvSpPr>
          <p:cNvPr id="5" name="TextBox 4"/>
          <p:cNvSpPr txBox="1"/>
          <p:nvPr/>
        </p:nvSpPr>
        <p:spPr>
          <a:xfrm>
            <a:off x="685800" y="2423160"/>
            <a:ext cx="10972800" cy="1188720"/>
          </a:xfrm>
          <a:prstGeom prst="rect">
            <a:avLst/>
          </a:prstGeom>
          <a:noFill/>
        </p:spPr>
        <p:txBody>
          <a:bodyPr wrap="square" lIns="0" rIns="0" tIns="0" bIns="0" anchor="t">
            <a:spAutoFit/>
          </a:bodyPr>
          <a:lstStyle/>
          <a:p>
            <a:pPr algn="l">
              <a:lnSpc>
                <a:spcPct val="102000"/>
              </a:lnSpc>
            </a:pPr>
            <a:r>
              <a:rPr sz="6400" b="1" i="0">
                <a:solidFill>
                  <a:srgbClr val="FFFFFF"/>
                </a:solidFill>
                <a:latin typeface="Calibri"/>
              </a:rPr>
              <a:t>Choose Correct.</a:t>
            </a:r>
          </a:p>
        </p:txBody>
      </p:sp>
      <p:sp>
        <p:nvSpPr>
          <p:cNvPr id="6" name="TextBox 5"/>
          <p:cNvSpPr txBox="1"/>
          <p:nvPr/>
        </p:nvSpPr>
        <p:spPr>
          <a:xfrm>
            <a:off x="685800" y="3520440"/>
            <a:ext cx="10972800" cy="1188720"/>
          </a:xfrm>
          <a:prstGeom prst="rect">
            <a:avLst/>
          </a:prstGeom>
          <a:noFill/>
        </p:spPr>
        <p:txBody>
          <a:bodyPr wrap="square" lIns="0" rIns="0" tIns="0" bIns="0" anchor="t">
            <a:spAutoFit/>
          </a:bodyPr>
          <a:lstStyle/>
          <a:p>
            <a:pPr algn="l">
              <a:lnSpc>
                <a:spcPct val="102000"/>
              </a:lnSpc>
            </a:pPr>
            <a:r>
              <a:rPr sz="6400" b="1" i="0">
                <a:solidFill>
                  <a:srgbClr val="4A7BFF"/>
                </a:solidFill>
                <a:latin typeface="Calibri"/>
              </a:rPr>
              <a:t>Move Faster.</a:t>
            </a:r>
          </a:p>
        </p:txBody>
      </p:sp>
      <p:sp>
        <p:nvSpPr>
          <p:cNvPr id="7" name="TextBox 6"/>
          <p:cNvSpPr txBox="1"/>
          <p:nvPr/>
        </p:nvSpPr>
        <p:spPr>
          <a:xfrm>
            <a:off x="685800" y="4800600"/>
            <a:ext cx="10972800" cy="457200"/>
          </a:xfrm>
          <a:prstGeom prst="rect">
            <a:avLst/>
          </a:prstGeom>
          <a:noFill/>
        </p:spPr>
        <p:txBody>
          <a:bodyPr wrap="square" lIns="0" rIns="0" tIns="0" bIns="0" anchor="t">
            <a:spAutoFit/>
          </a:bodyPr>
          <a:lstStyle/>
          <a:p>
            <a:pPr algn="l">
              <a:lnSpc>
                <a:spcPct val="115000"/>
              </a:lnSpc>
            </a:pPr>
            <a:r>
              <a:rPr sz="2000" b="0" i="0">
                <a:solidFill>
                  <a:srgbClr val="E8EDF7"/>
                </a:solidFill>
                <a:latin typeface="Calibri"/>
              </a:rPr>
              <a:t>The operating system for enterprise software procurement.</a:t>
            </a:r>
          </a:p>
        </p:txBody>
      </p:sp>
      <p:sp>
        <p:nvSpPr>
          <p:cNvPr id="8" name="TextBox 7"/>
          <p:cNvSpPr txBox="1"/>
          <p:nvPr/>
        </p:nvSpPr>
        <p:spPr>
          <a:xfrm>
            <a:off x="548640" y="5623560"/>
            <a:ext cx="7315200" cy="274320"/>
          </a:xfrm>
          <a:prstGeom prst="rect">
            <a:avLst/>
          </a:prstGeom>
          <a:noFill/>
        </p:spPr>
        <p:txBody>
          <a:bodyPr wrap="square" lIns="0" rIns="0" tIns="0" bIns="0" anchor="t">
            <a:spAutoFit/>
          </a:bodyPr>
          <a:lstStyle/>
          <a:p>
            <a:pPr algn="l">
              <a:lnSpc>
                <a:spcPct val="115000"/>
              </a:lnSpc>
            </a:pPr>
            <a:r>
              <a:rPr sz="1000" b="1" i="0">
                <a:solidFill>
                  <a:srgbClr val="A8B2CC"/>
                </a:solidFill>
                <a:latin typeface="Calibri"/>
              </a:rPr>
              <a:t>Pitch deck  ·  2026  ·  Investor  ·  Partner  ·  Enterprise</a:t>
            </a:r>
          </a:p>
        </p:txBody>
      </p:sp>
      <p:sp>
        <p:nvSpPr>
          <p:cNvPr id="9" name="TextBox 8"/>
          <p:cNvSpPr txBox="1"/>
          <p:nvPr/>
        </p:nvSpPr>
        <p:spPr>
          <a:xfrm>
            <a:off x="7985455" y="5623560"/>
            <a:ext cx="3657600" cy="274320"/>
          </a:xfrm>
          <a:prstGeom prst="rect">
            <a:avLst/>
          </a:prstGeom>
          <a:noFill/>
        </p:spPr>
        <p:txBody>
          <a:bodyPr wrap="square" lIns="0" rIns="0" tIns="0" bIns="0" anchor="t">
            <a:spAutoFit/>
          </a:bodyPr>
          <a:lstStyle/>
          <a:p>
            <a:pPr algn="r">
              <a:lnSpc>
                <a:spcPct val="115000"/>
              </a:lnSpc>
            </a:pPr>
            <a:r>
              <a:rPr sz="1000" b="1" i="0">
                <a:solidFill>
                  <a:srgbClr val="A8B2CC"/>
                </a:solidFill>
                <a:latin typeface="Calibri"/>
              </a:rPr>
              <a:t>sourcera.com  ·  CONFIDENTIAL</a:t>
            </a:r>
          </a:p>
        </p:txBody>
      </p:sp>
      <p:cxnSp>
        <p:nvCxnSpPr>
          <p:cNvPr id="10" name="Connector 9"/>
          <p:cNvCxnSpPr/>
          <p:nvPr/>
        </p:nvCxnSpPr>
        <p:spPr>
          <a:xfrm>
            <a:off x="548640" y="6355080"/>
            <a:ext cx="11094415" cy="0"/>
          </a:xfrm>
          <a:prstGeom prst="line">
            <a:avLst/>
          </a:prstGeom>
          <a:ln w="9525">
            <a:solidFill>
              <a:srgbClr val="1E2B5C"/>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48640" y="6437376"/>
            <a:ext cx="3657600" cy="274320"/>
          </a:xfrm>
          <a:prstGeom prst="rect">
            <a:avLst/>
          </a:prstGeom>
          <a:noFill/>
        </p:spPr>
        <p:txBody>
          <a:bodyPr wrap="square" lIns="0" rIns="0" tIns="0" bIns="0" anchor="t">
            <a:spAutoFit/>
          </a:bodyPr>
          <a:lstStyle/>
          <a:p>
            <a:pPr algn="l">
              <a:lnSpc>
                <a:spcPct val="115000"/>
              </a:lnSpc>
            </a:pPr>
            <a:r>
              <a:rPr sz="900" b="1" i="0">
                <a:solidFill>
                  <a:srgbClr val="A8B2CC"/>
                </a:solidFill>
                <a:latin typeface="Calibri"/>
              </a:rPr>
              <a:t>SOURCERA  ·  COVER</a:t>
            </a:r>
          </a:p>
        </p:txBody>
      </p:sp>
      <p:sp>
        <p:nvSpPr>
          <p:cNvPr id="12" name="TextBox 11"/>
          <p:cNvSpPr txBox="1"/>
          <p:nvPr/>
        </p:nvSpPr>
        <p:spPr>
          <a:xfrm>
            <a:off x="10362895" y="6437376"/>
            <a:ext cx="1280160" cy="274320"/>
          </a:xfrm>
          <a:prstGeom prst="rect">
            <a:avLst/>
          </a:prstGeom>
          <a:noFill/>
        </p:spPr>
        <p:txBody>
          <a:bodyPr wrap="square" lIns="0" rIns="0" tIns="0" bIns="0" anchor="t">
            <a:spAutoFit/>
          </a:bodyPr>
          <a:lstStyle/>
          <a:p>
            <a:pPr algn="r">
              <a:lnSpc>
                <a:spcPct val="115000"/>
              </a:lnSpc>
            </a:pPr>
            <a:r>
              <a:rPr sz="900" b="0" i="0">
                <a:solidFill>
                  <a:srgbClr val="A8B2CC"/>
                </a:solidFill>
                <a:latin typeface="Calibri"/>
              </a:rPr>
              <a:t>01 / 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21792"/>
            <a:ext cx="365760" cy="73152"/>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548640"/>
            <a:ext cx="9144000" cy="274320"/>
          </a:xfrm>
          <a:prstGeom prst="rect">
            <a:avLst/>
          </a:prstGeom>
          <a:noFill/>
        </p:spPr>
        <p:txBody>
          <a:bodyPr wrap="square" lIns="0" rIns="0" tIns="0" bIns="0" anchor="t">
            <a:spAutoFit/>
          </a:bodyPr>
          <a:lstStyle/>
          <a:p>
            <a:pPr algn="l">
              <a:lnSpc>
                <a:spcPct val="115000"/>
              </a:lnSpc>
            </a:pPr>
            <a:r>
              <a:rPr sz="1000" b="1" i="0">
                <a:solidFill>
                  <a:srgbClr val="4A7BFF"/>
                </a:solidFill>
                <a:latin typeface="Calibri"/>
              </a:rPr>
              <a:t>THE PROBLEM</a:t>
            </a:r>
          </a:p>
        </p:txBody>
      </p:sp>
      <p:sp>
        <p:nvSpPr>
          <p:cNvPr id="5" name="TextBox 4"/>
          <p:cNvSpPr txBox="1"/>
          <p:nvPr/>
        </p:nvSpPr>
        <p:spPr>
          <a:xfrm>
            <a:off x="548640" y="822960"/>
            <a:ext cx="10972800" cy="822960"/>
          </a:xfrm>
          <a:prstGeom prst="rect">
            <a:avLst/>
          </a:prstGeom>
          <a:noFill/>
        </p:spPr>
        <p:txBody>
          <a:bodyPr wrap="square" lIns="0" rIns="0" tIns="0" bIns="0" anchor="t">
            <a:spAutoFit/>
          </a:bodyPr>
          <a:lstStyle/>
          <a:p>
            <a:pPr algn="l">
              <a:lnSpc>
                <a:spcPct val="105000"/>
              </a:lnSpc>
            </a:pPr>
            <a:r>
              <a:rPr sz="3600" b="1" i="0">
                <a:solidFill>
                  <a:srgbClr val="0F172E"/>
                </a:solidFill>
                <a:latin typeface="Calibri"/>
              </a:rPr>
              <a:t>Procurement is broken on both sides.</a:t>
            </a:r>
          </a:p>
        </p:txBody>
      </p:sp>
      <p:sp>
        <p:nvSpPr>
          <p:cNvPr id="6" name="TextBox 5"/>
          <p:cNvSpPr txBox="1"/>
          <p:nvPr/>
        </p:nvSpPr>
        <p:spPr>
          <a:xfrm>
            <a:off x="548640" y="1508760"/>
            <a:ext cx="10972800" cy="457200"/>
          </a:xfrm>
          <a:prstGeom prst="rect">
            <a:avLst/>
          </a:prstGeom>
          <a:noFill/>
        </p:spPr>
        <p:txBody>
          <a:bodyPr wrap="square" lIns="0" rIns="0" tIns="0" bIns="0" anchor="t">
            <a:spAutoFit/>
          </a:bodyPr>
          <a:lstStyle/>
          <a:p>
            <a:pPr algn="l">
              <a:lnSpc>
                <a:spcPct val="125000"/>
              </a:lnSpc>
            </a:pPr>
            <a:r>
              <a:rPr sz="1500" b="0" i="0">
                <a:solidFill>
                  <a:srgbClr val="4A5573"/>
                </a:solidFill>
                <a:latin typeface="Calibri"/>
              </a:rPr>
              <a:t>Structural failure points on the buyer side and the seller side — and the cost line they each own.</a:t>
            </a:r>
          </a:p>
        </p:txBody>
      </p:sp>
      <p:sp>
        <p:nvSpPr>
          <p:cNvPr id="7" name="Rectangle 6"/>
          <p:cNvSpPr/>
          <p:nvPr/>
        </p:nvSpPr>
        <p:spPr>
          <a:xfrm>
            <a:off x="548640" y="1874519"/>
            <a:ext cx="5486400" cy="420624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874519"/>
            <a:ext cx="73152" cy="4206240"/>
          </a:xfrm>
          <a:prstGeom prst="rect">
            <a:avLst/>
          </a:prstGeom>
          <a:solidFill>
            <a:srgbClr val="2E5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19"/>
            <a:ext cx="3657600" cy="320040"/>
          </a:xfrm>
          <a:prstGeom prst="rect">
            <a:avLst/>
          </a:prstGeom>
          <a:noFill/>
        </p:spPr>
        <p:txBody>
          <a:bodyPr wrap="square" lIns="0" rIns="0" tIns="0" bIns="0" anchor="t">
            <a:spAutoFit/>
          </a:bodyPr>
          <a:lstStyle/>
          <a:p>
            <a:pPr algn="l">
              <a:lnSpc>
                <a:spcPct val="115000"/>
              </a:lnSpc>
            </a:pPr>
            <a:r>
              <a:rPr sz="1000" b="1" i="0">
                <a:solidFill>
                  <a:srgbClr val="2E55D9"/>
                </a:solidFill>
                <a:latin typeface="Calibri"/>
              </a:rPr>
              <a:t>BUYERS</a:t>
            </a:r>
          </a:p>
        </p:txBody>
      </p:sp>
      <p:sp>
        <p:nvSpPr>
          <p:cNvPr id="10" name="TextBox 9"/>
          <p:cNvSpPr txBox="1"/>
          <p:nvPr/>
        </p:nvSpPr>
        <p:spPr>
          <a:xfrm>
            <a:off x="868680" y="2331719"/>
            <a:ext cx="5029200" cy="457200"/>
          </a:xfrm>
          <a:prstGeom prst="rect">
            <a:avLst/>
          </a:prstGeom>
          <a:noFill/>
        </p:spPr>
        <p:txBody>
          <a:bodyPr wrap="square" lIns="0" rIns="0" tIns="0" bIns="0" anchor="t">
            <a:spAutoFit/>
          </a:bodyPr>
          <a:lstStyle/>
          <a:p>
            <a:pPr algn="l">
              <a:lnSpc>
                <a:spcPct val="115000"/>
              </a:lnSpc>
            </a:pPr>
            <a:r>
              <a:rPr sz="2200" b="1" i="0">
                <a:solidFill>
                  <a:srgbClr val="0F172E"/>
                </a:solidFill>
                <a:latin typeface="Calibri"/>
              </a:rPr>
              <a:t>Slow. Subjective. Unauditable.</a:t>
            </a:r>
          </a:p>
        </p:txBody>
      </p:sp>
      <p:sp>
        <p:nvSpPr>
          <p:cNvPr id="11" name="TextBox 10"/>
          <p:cNvSpPr txBox="1"/>
          <p:nvPr/>
        </p:nvSpPr>
        <p:spPr>
          <a:xfrm>
            <a:off x="868680" y="2926079"/>
            <a:ext cx="2743200" cy="365760"/>
          </a:xfrm>
          <a:prstGeom prst="rect">
            <a:avLst/>
          </a:prstGeom>
          <a:noFill/>
        </p:spPr>
        <p:txBody>
          <a:bodyPr wrap="square" lIns="0" rIns="0" tIns="0" bIns="0" anchor="t">
            <a:spAutoFit/>
          </a:bodyPr>
          <a:lstStyle/>
          <a:p>
            <a:pPr algn="l">
              <a:lnSpc>
                <a:spcPct val="115000"/>
              </a:lnSpc>
            </a:pPr>
            <a:r>
              <a:rPr sz="3800" b="1" i="0">
                <a:solidFill>
                  <a:srgbClr val="F4B400"/>
                </a:solidFill>
                <a:latin typeface="Calibri"/>
              </a:rPr>
              <a:t>6–12</a:t>
            </a:r>
          </a:p>
        </p:txBody>
      </p:sp>
      <p:sp>
        <p:nvSpPr>
          <p:cNvPr id="12" name="TextBox 11"/>
          <p:cNvSpPr txBox="1"/>
          <p:nvPr/>
        </p:nvSpPr>
        <p:spPr>
          <a:xfrm>
            <a:off x="2286000" y="3200399"/>
            <a:ext cx="3566160" cy="320040"/>
          </a:xfrm>
          <a:prstGeom prst="rect">
            <a:avLst/>
          </a:prstGeom>
          <a:noFill/>
        </p:spPr>
        <p:txBody>
          <a:bodyPr wrap="square" lIns="0" rIns="0" tIns="0" bIns="0" anchor="t">
            <a:spAutoFit/>
          </a:bodyPr>
          <a:lstStyle/>
          <a:p>
            <a:pPr algn="l">
              <a:lnSpc>
                <a:spcPct val="115000"/>
              </a:lnSpc>
            </a:pPr>
            <a:r>
              <a:rPr sz="1200" b="0" i="0">
                <a:solidFill>
                  <a:srgbClr val="4A5573"/>
                </a:solidFill>
                <a:latin typeface="Calibri"/>
              </a:rPr>
              <a:t>week cycle on a $500K–$10M decision</a:t>
            </a:r>
          </a:p>
        </p:txBody>
      </p:sp>
      <p:sp>
        <p:nvSpPr>
          <p:cNvPr id="13" name="TextBox 12"/>
          <p:cNvSpPr txBox="1"/>
          <p:nvPr/>
        </p:nvSpPr>
        <p:spPr>
          <a:xfrm>
            <a:off x="868680" y="3657599"/>
            <a:ext cx="2743200" cy="365760"/>
          </a:xfrm>
          <a:prstGeom prst="rect">
            <a:avLst/>
          </a:prstGeom>
          <a:noFill/>
        </p:spPr>
        <p:txBody>
          <a:bodyPr wrap="square" lIns="0" rIns="0" tIns="0" bIns="0" anchor="t">
            <a:spAutoFit/>
          </a:bodyPr>
          <a:lstStyle/>
          <a:p>
            <a:pPr algn="l">
              <a:lnSpc>
                <a:spcPct val="115000"/>
              </a:lnSpc>
            </a:pPr>
            <a:r>
              <a:rPr sz="2600" b="1" i="0">
                <a:solidFill>
                  <a:srgbClr val="F4B400"/>
                </a:solidFill>
                <a:latin typeface="Calibri"/>
              </a:rPr>
              <a:t>$12K–$18K</a:t>
            </a:r>
          </a:p>
        </p:txBody>
      </p:sp>
      <p:sp>
        <p:nvSpPr>
          <p:cNvPr id="14" name="TextBox 13"/>
          <p:cNvSpPr txBox="1"/>
          <p:nvPr/>
        </p:nvSpPr>
        <p:spPr>
          <a:xfrm>
            <a:off x="2880360" y="3794759"/>
            <a:ext cx="2971800" cy="320040"/>
          </a:xfrm>
          <a:prstGeom prst="rect">
            <a:avLst/>
          </a:prstGeom>
          <a:noFill/>
        </p:spPr>
        <p:txBody>
          <a:bodyPr wrap="square" lIns="0" rIns="0" tIns="0" bIns="0" anchor="t">
            <a:spAutoFit/>
          </a:bodyPr>
          <a:lstStyle/>
          <a:p>
            <a:pPr algn="l">
              <a:lnSpc>
                <a:spcPct val="115000"/>
              </a:lnSpc>
            </a:pPr>
            <a:r>
              <a:rPr sz="1100" b="0" i="0">
                <a:solidFill>
                  <a:srgbClr val="4A5573"/>
                </a:solidFill>
                <a:latin typeface="Calibri"/>
              </a:rPr>
              <a:t>direct labor cost per evaluation</a:t>
            </a:r>
          </a:p>
          <a:p>
            <a:pPr algn="l">
              <a:lnSpc>
                <a:spcPct val="115000"/>
              </a:lnSpc>
            </a:pPr>
            <a:r>
              <a:rPr sz="1100" b="0" i="0">
                <a:solidFill>
                  <a:srgbClr val="4A5573"/>
                </a:solidFill>
                <a:latin typeface="Calibri"/>
              </a:rPr>
              <a:t>(120–180 cross-functional hours)</a:t>
            </a:r>
          </a:p>
        </p:txBody>
      </p:sp>
      <p:sp>
        <p:nvSpPr>
          <p:cNvPr id="15" name="TextBox 14"/>
          <p:cNvSpPr txBox="1"/>
          <p:nvPr/>
        </p:nvSpPr>
        <p:spPr>
          <a:xfrm>
            <a:off x="868680" y="4526279"/>
            <a:ext cx="5029200" cy="274320"/>
          </a:xfrm>
          <a:prstGeom prst="rect">
            <a:avLst/>
          </a:prstGeom>
          <a:noFill/>
        </p:spPr>
        <p:txBody>
          <a:bodyPr wrap="square" lIns="0" rIns="0" tIns="0" bIns="0" anchor="t">
            <a:spAutoFit/>
          </a:bodyPr>
          <a:lstStyle/>
          <a:p>
            <a:pPr algn="l">
              <a:lnSpc>
                <a:spcPct val="115000"/>
              </a:lnSpc>
            </a:pPr>
            <a:r>
              <a:rPr sz="1100" b="1" i="0">
                <a:solidFill>
                  <a:srgbClr val="0F172E"/>
                </a:solidFill>
                <a:latin typeface="Calibri"/>
              </a:rPr>
              <a:t>Still running on:</a:t>
            </a:r>
          </a:p>
        </p:txBody>
      </p:sp>
      <p:sp>
        <p:nvSpPr>
          <p:cNvPr id="16" name="Rectangle 15"/>
          <p:cNvSpPr/>
          <p:nvPr/>
        </p:nvSpPr>
        <p:spPr>
          <a:xfrm>
            <a:off x="868680" y="4878323"/>
            <a:ext cx="82296" cy="82296"/>
          </a:xfrm>
          <a:prstGeom prst="rect">
            <a:avLst/>
          </a:prstGeom>
          <a:solidFill>
            <a:srgbClr val="2E5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9848" y="4800599"/>
            <a:ext cx="4645152" cy="292608"/>
          </a:xfrm>
          <a:prstGeom prst="rect">
            <a:avLst/>
          </a:prstGeom>
          <a:noFill/>
        </p:spPr>
        <p:txBody>
          <a:bodyPr wrap="square" lIns="0" rIns="0" tIns="0" bIns="0">
            <a:spAutoFit/>
          </a:bodyPr>
          <a:lstStyle/>
          <a:p>
            <a:pPr>
              <a:lnSpc>
                <a:spcPct val="115000"/>
              </a:lnSpc>
            </a:pPr>
            <a:r>
              <a:rPr sz="1100">
                <a:solidFill>
                  <a:srgbClr val="4A5573"/>
                </a:solidFill>
                <a:latin typeface="Calibri"/>
              </a:rPr>
              <a:t>Excel tabs per vendor  +  SharePoint folders  +  Outlook threads</a:t>
            </a:r>
          </a:p>
        </p:txBody>
      </p:sp>
      <p:sp>
        <p:nvSpPr>
          <p:cNvPr id="18" name="Rectangle 17"/>
          <p:cNvSpPr/>
          <p:nvPr/>
        </p:nvSpPr>
        <p:spPr>
          <a:xfrm>
            <a:off x="868680" y="5170931"/>
            <a:ext cx="82296" cy="82296"/>
          </a:xfrm>
          <a:prstGeom prst="rect">
            <a:avLst/>
          </a:prstGeom>
          <a:solidFill>
            <a:srgbClr val="2E5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9848" y="5093207"/>
            <a:ext cx="4645152" cy="292608"/>
          </a:xfrm>
          <a:prstGeom prst="rect">
            <a:avLst/>
          </a:prstGeom>
          <a:noFill/>
        </p:spPr>
        <p:txBody>
          <a:bodyPr wrap="square" lIns="0" rIns="0" tIns="0" bIns="0">
            <a:spAutoFit/>
          </a:bodyPr>
          <a:lstStyle/>
          <a:p>
            <a:pPr>
              <a:lnSpc>
                <a:spcPct val="115000"/>
              </a:lnSpc>
            </a:pPr>
            <a:r>
              <a:rPr sz="1100">
                <a:solidFill>
                  <a:srgbClr val="4A5573"/>
                </a:solidFill>
                <a:latin typeface="Calibri"/>
              </a:rPr>
              <a:t>PowerPoint decks authored the weekend before exec review</a:t>
            </a:r>
          </a:p>
        </p:txBody>
      </p:sp>
      <p:sp>
        <p:nvSpPr>
          <p:cNvPr id="20" name="Rectangle 19"/>
          <p:cNvSpPr/>
          <p:nvPr/>
        </p:nvSpPr>
        <p:spPr>
          <a:xfrm>
            <a:off x="868680" y="5463539"/>
            <a:ext cx="82296" cy="82296"/>
          </a:xfrm>
          <a:prstGeom prst="rect">
            <a:avLst/>
          </a:prstGeom>
          <a:solidFill>
            <a:srgbClr val="2E5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69848" y="5385815"/>
            <a:ext cx="4645152" cy="292608"/>
          </a:xfrm>
          <a:prstGeom prst="rect">
            <a:avLst/>
          </a:prstGeom>
          <a:noFill/>
        </p:spPr>
        <p:txBody>
          <a:bodyPr wrap="square" lIns="0" rIns="0" tIns="0" bIns="0">
            <a:spAutoFit/>
          </a:bodyPr>
          <a:lstStyle/>
          <a:p>
            <a:pPr>
              <a:lnSpc>
                <a:spcPct val="115000"/>
              </a:lnSpc>
            </a:pPr>
            <a:r>
              <a:rPr sz="1100">
                <a:solidFill>
                  <a:srgbClr val="4A5573"/>
                </a:solidFill>
                <a:latin typeface="Calibri"/>
              </a:rPr>
              <a:t>Word 'Selection Memo' nobody can find two years later</a:t>
            </a:r>
          </a:p>
        </p:txBody>
      </p:sp>
      <p:sp>
        <p:nvSpPr>
          <p:cNvPr id="22" name="TextBox 21"/>
          <p:cNvSpPr txBox="1"/>
          <p:nvPr/>
        </p:nvSpPr>
        <p:spPr>
          <a:xfrm>
            <a:off x="868680" y="5669279"/>
            <a:ext cx="4846320" cy="320040"/>
          </a:xfrm>
          <a:prstGeom prst="rect">
            <a:avLst/>
          </a:prstGeom>
          <a:noFill/>
        </p:spPr>
        <p:txBody>
          <a:bodyPr wrap="square" lIns="0" rIns="0" tIns="0" bIns="0" anchor="t">
            <a:spAutoFit/>
          </a:bodyPr>
          <a:lstStyle/>
          <a:p>
            <a:pPr algn="l">
              <a:lnSpc>
                <a:spcPct val="125000"/>
              </a:lnSpc>
            </a:pPr>
            <a:r>
              <a:rPr sz="1100" b="0" i="1">
                <a:solidFill>
                  <a:srgbClr val="F96167"/>
                </a:solidFill>
                <a:latin typeface="Calibri"/>
              </a:rPr>
              <a:t>Consequence:  audit findings, failed migrations, unexplainable "why did we pick Vendor A."</a:t>
            </a:r>
          </a:p>
        </p:txBody>
      </p:sp>
      <p:sp>
        <p:nvSpPr>
          <p:cNvPr id="23" name="Rectangle 22"/>
          <p:cNvSpPr/>
          <p:nvPr/>
        </p:nvSpPr>
        <p:spPr>
          <a:xfrm>
            <a:off x="6172200" y="1874519"/>
            <a:ext cx="5486400" cy="420624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1874519"/>
            <a:ext cx="73152" cy="4206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0" y="2103119"/>
            <a:ext cx="3657600" cy="320040"/>
          </a:xfrm>
          <a:prstGeom prst="rect">
            <a:avLst/>
          </a:prstGeom>
          <a:noFill/>
        </p:spPr>
        <p:txBody>
          <a:bodyPr wrap="square" lIns="0" rIns="0" tIns="0" bIns="0" anchor="t">
            <a:spAutoFit/>
          </a:bodyPr>
          <a:lstStyle/>
          <a:p>
            <a:pPr algn="l">
              <a:lnSpc>
                <a:spcPct val="115000"/>
              </a:lnSpc>
            </a:pPr>
            <a:r>
              <a:rPr sz="1000" b="1" i="0">
                <a:solidFill>
                  <a:srgbClr val="7C3AED"/>
                </a:solidFill>
                <a:latin typeface="Calibri"/>
              </a:rPr>
              <a:t>SELLERS</a:t>
            </a:r>
          </a:p>
        </p:txBody>
      </p:sp>
      <p:sp>
        <p:nvSpPr>
          <p:cNvPr id="26" name="TextBox 25"/>
          <p:cNvSpPr txBox="1"/>
          <p:nvPr/>
        </p:nvSpPr>
        <p:spPr>
          <a:xfrm>
            <a:off x="6492240" y="2331719"/>
            <a:ext cx="5029200" cy="457200"/>
          </a:xfrm>
          <a:prstGeom prst="rect">
            <a:avLst/>
          </a:prstGeom>
          <a:noFill/>
        </p:spPr>
        <p:txBody>
          <a:bodyPr wrap="square" lIns="0" rIns="0" tIns="0" bIns="0" anchor="t">
            <a:spAutoFit/>
          </a:bodyPr>
          <a:lstStyle/>
          <a:p>
            <a:pPr algn="l">
              <a:lnSpc>
                <a:spcPct val="115000"/>
              </a:lnSpc>
            </a:pPr>
            <a:r>
              <a:rPr sz="2200" b="1" i="0">
                <a:solidFill>
                  <a:srgbClr val="0F172E"/>
                </a:solidFill>
                <a:latin typeface="Calibri"/>
              </a:rPr>
              <a:t>Copy-paste. Late. Invisible.</a:t>
            </a:r>
          </a:p>
        </p:txBody>
      </p:sp>
      <p:sp>
        <p:nvSpPr>
          <p:cNvPr id="27" name="TextBox 26"/>
          <p:cNvSpPr txBox="1"/>
          <p:nvPr/>
        </p:nvSpPr>
        <p:spPr>
          <a:xfrm>
            <a:off x="6492240" y="2926079"/>
            <a:ext cx="2743200" cy="365760"/>
          </a:xfrm>
          <a:prstGeom prst="rect">
            <a:avLst/>
          </a:prstGeom>
          <a:noFill/>
        </p:spPr>
        <p:txBody>
          <a:bodyPr wrap="square" lIns="0" rIns="0" tIns="0" bIns="0" anchor="t">
            <a:spAutoFit/>
          </a:bodyPr>
          <a:lstStyle/>
          <a:p>
            <a:pPr algn="l">
              <a:lnSpc>
                <a:spcPct val="115000"/>
              </a:lnSpc>
            </a:pPr>
            <a:r>
              <a:rPr sz="3800" b="1" i="0">
                <a:solidFill>
                  <a:srgbClr val="F4B400"/>
                </a:solidFill>
                <a:latin typeface="Calibri"/>
              </a:rPr>
              <a:t>30–150</a:t>
            </a:r>
          </a:p>
        </p:txBody>
      </p:sp>
      <p:sp>
        <p:nvSpPr>
          <p:cNvPr id="28" name="TextBox 27"/>
          <p:cNvSpPr txBox="1"/>
          <p:nvPr/>
        </p:nvSpPr>
        <p:spPr>
          <a:xfrm>
            <a:off x="8138160" y="3200399"/>
            <a:ext cx="3383280" cy="320040"/>
          </a:xfrm>
          <a:prstGeom prst="rect">
            <a:avLst/>
          </a:prstGeom>
          <a:noFill/>
        </p:spPr>
        <p:txBody>
          <a:bodyPr wrap="square" lIns="0" rIns="0" tIns="0" bIns="0" anchor="t">
            <a:spAutoFit/>
          </a:bodyPr>
          <a:lstStyle/>
          <a:p>
            <a:pPr algn="l">
              <a:lnSpc>
                <a:spcPct val="115000"/>
              </a:lnSpc>
            </a:pPr>
            <a:r>
              <a:rPr sz="1200" b="0" i="0">
                <a:solidFill>
                  <a:srgbClr val="4A5573"/>
                </a:solidFill>
                <a:latin typeface="Calibri"/>
              </a:rPr>
              <a:t>RFPs per year with no dedicated team</a:t>
            </a:r>
          </a:p>
        </p:txBody>
      </p:sp>
      <p:sp>
        <p:nvSpPr>
          <p:cNvPr id="29" name="TextBox 28"/>
          <p:cNvSpPr txBox="1"/>
          <p:nvPr/>
        </p:nvSpPr>
        <p:spPr>
          <a:xfrm>
            <a:off x="6492240" y="3657599"/>
            <a:ext cx="2743200" cy="365760"/>
          </a:xfrm>
          <a:prstGeom prst="rect">
            <a:avLst/>
          </a:prstGeom>
          <a:noFill/>
        </p:spPr>
        <p:txBody>
          <a:bodyPr wrap="square" lIns="0" rIns="0" tIns="0" bIns="0" anchor="t">
            <a:spAutoFit/>
          </a:bodyPr>
          <a:lstStyle/>
          <a:p>
            <a:pPr algn="l">
              <a:lnSpc>
                <a:spcPct val="115000"/>
              </a:lnSpc>
            </a:pPr>
            <a:r>
              <a:rPr sz="2600" b="1" i="0">
                <a:solidFill>
                  <a:srgbClr val="F4B400"/>
                </a:solidFill>
                <a:latin typeface="Calibri"/>
              </a:rPr>
              <a:t>7–14</a:t>
            </a:r>
          </a:p>
        </p:txBody>
      </p:sp>
      <p:sp>
        <p:nvSpPr>
          <p:cNvPr id="30" name="TextBox 29"/>
          <p:cNvSpPr txBox="1"/>
          <p:nvPr/>
        </p:nvSpPr>
        <p:spPr>
          <a:xfrm>
            <a:off x="7543800" y="3794759"/>
            <a:ext cx="3931920" cy="320040"/>
          </a:xfrm>
          <a:prstGeom prst="rect">
            <a:avLst/>
          </a:prstGeom>
          <a:noFill/>
        </p:spPr>
        <p:txBody>
          <a:bodyPr wrap="square" lIns="0" rIns="0" tIns="0" bIns="0" anchor="t">
            <a:spAutoFit/>
          </a:bodyPr>
          <a:lstStyle/>
          <a:p>
            <a:pPr algn="l">
              <a:lnSpc>
                <a:spcPct val="115000"/>
              </a:lnSpc>
            </a:pPr>
            <a:r>
              <a:rPr sz="1100" b="0" i="0">
                <a:solidFill>
                  <a:srgbClr val="4A5573"/>
                </a:solidFill>
                <a:latin typeface="Calibri"/>
              </a:rPr>
              <a:t>days to first-pass response</a:t>
            </a:r>
          </a:p>
          <a:p>
            <a:pPr algn="l">
              <a:lnSpc>
                <a:spcPct val="115000"/>
              </a:lnSpc>
            </a:pPr>
            <a:r>
              <a:rPr sz="1100" b="0" i="0">
                <a:solidFill>
                  <a:srgbClr val="4A5573"/>
                </a:solidFill>
                <a:latin typeface="Calibri"/>
              </a:rPr>
              <a:t>(buyers expect 2–5)</a:t>
            </a:r>
          </a:p>
        </p:txBody>
      </p:sp>
      <p:sp>
        <p:nvSpPr>
          <p:cNvPr id="31" name="TextBox 30"/>
          <p:cNvSpPr txBox="1"/>
          <p:nvPr/>
        </p:nvSpPr>
        <p:spPr>
          <a:xfrm>
            <a:off x="6492240" y="4526279"/>
            <a:ext cx="5029200" cy="274320"/>
          </a:xfrm>
          <a:prstGeom prst="rect">
            <a:avLst/>
          </a:prstGeom>
          <a:noFill/>
        </p:spPr>
        <p:txBody>
          <a:bodyPr wrap="square" lIns="0" rIns="0" tIns="0" bIns="0" anchor="t">
            <a:spAutoFit/>
          </a:bodyPr>
          <a:lstStyle/>
          <a:p>
            <a:pPr algn="l">
              <a:lnSpc>
                <a:spcPct val="115000"/>
              </a:lnSpc>
            </a:pPr>
            <a:r>
              <a:rPr sz="1100" b="1" i="0">
                <a:solidFill>
                  <a:srgbClr val="0F172E"/>
                </a:solidFill>
                <a:latin typeface="Calibri"/>
              </a:rPr>
              <a:t>Structural pain:</a:t>
            </a:r>
          </a:p>
        </p:txBody>
      </p:sp>
      <p:sp>
        <p:nvSpPr>
          <p:cNvPr id="32" name="Rectangle 31"/>
          <p:cNvSpPr/>
          <p:nvPr/>
        </p:nvSpPr>
        <p:spPr>
          <a:xfrm>
            <a:off x="6492240" y="4878323"/>
            <a:ext cx="82296"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93408" y="4800599"/>
            <a:ext cx="4645152" cy="292608"/>
          </a:xfrm>
          <a:prstGeom prst="rect">
            <a:avLst/>
          </a:prstGeom>
          <a:noFill/>
        </p:spPr>
        <p:txBody>
          <a:bodyPr wrap="square" lIns="0" rIns="0" tIns="0" bIns="0">
            <a:spAutoFit/>
          </a:bodyPr>
          <a:lstStyle/>
          <a:p>
            <a:pPr>
              <a:lnSpc>
                <a:spcPct val="115000"/>
              </a:lnSpc>
            </a:pPr>
            <a:r>
              <a:rPr sz="1100">
                <a:solidFill>
                  <a:srgbClr val="4A5573"/>
                </a:solidFill>
                <a:latin typeface="Calibri"/>
              </a:rPr>
              <a:t>Same SOC 2 / DPA clauses copy-pasted into every bid</a:t>
            </a:r>
          </a:p>
        </p:txBody>
      </p:sp>
      <p:sp>
        <p:nvSpPr>
          <p:cNvPr id="34" name="Rectangle 33"/>
          <p:cNvSpPr/>
          <p:nvPr/>
        </p:nvSpPr>
        <p:spPr>
          <a:xfrm>
            <a:off x="6492240" y="5170931"/>
            <a:ext cx="82296"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93408" y="5093207"/>
            <a:ext cx="4645152" cy="292608"/>
          </a:xfrm>
          <a:prstGeom prst="rect">
            <a:avLst/>
          </a:prstGeom>
          <a:noFill/>
        </p:spPr>
        <p:txBody>
          <a:bodyPr wrap="square" lIns="0" rIns="0" tIns="0" bIns="0">
            <a:spAutoFit/>
          </a:bodyPr>
          <a:lstStyle/>
          <a:p>
            <a:pPr>
              <a:lnSpc>
                <a:spcPct val="115000"/>
              </a:lnSpc>
            </a:pPr>
            <a:r>
              <a:rPr sz="1100">
                <a:solidFill>
                  <a:srgbClr val="4A5573"/>
                </a:solidFill>
                <a:latin typeface="Calibri"/>
              </a:rPr>
              <a:t>Qualified RFPs never reach them — discovery is personal networks</a:t>
            </a:r>
          </a:p>
        </p:txBody>
      </p:sp>
      <p:sp>
        <p:nvSpPr>
          <p:cNvPr id="36" name="Rectangle 35"/>
          <p:cNvSpPr/>
          <p:nvPr/>
        </p:nvSpPr>
        <p:spPr>
          <a:xfrm>
            <a:off x="6492240" y="5463539"/>
            <a:ext cx="82296"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93408" y="5385815"/>
            <a:ext cx="4645152" cy="292608"/>
          </a:xfrm>
          <a:prstGeom prst="rect">
            <a:avLst/>
          </a:prstGeom>
          <a:noFill/>
        </p:spPr>
        <p:txBody>
          <a:bodyPr wrap="square" lIns="0" rIns="0" tIns="0" bIns="0">
            <a:spAutoFit/>
          </a:bodyPr>
          <a:lstStyle/>
          <a:p>
            <a:pPr>
              <a:lnSpc>
                <a:spcPct val="115000"/>
              </a:lnSpc>
            </a:pPr>
            <a:r>
              <a:rPr sz="1100">
                <a:solidFill>
                  <a:srgbClr val="4A5573"/>
                </a:solidFill>
                <a:latin typeface="Calibri"/>
              </a:rPr>
              <a:t>KB lives in one person's head; attrition wipes it</a:t>
            </a:r>
          </a:p>
        </p:txBody>
      </p:sp>
      <p:sp>
        <p:nvSpPr>
          <p:cNvPr id="38" name="TextBox 37"/>
          <p:cNvSpPr txBox="1"/>
          <p:nvPr/>
        </p:nvSpPr>
        <p:spPr>
          <a:xfrm>
            <a:off x="6492240" y="5669279"/>
            <a:ext cx="4846320" cy="320040"/>
          </a:xfrm>
          <a:prstGeom prst="rect">
            <a:avLst/>
          </a:prstGeom>
          <a:noFill/>
        </p:spPr>
        <p:txBody>
          <a:bodyPr wrap="square" lIns="0" rIns="0" tIns="0" bIns="0" anchor="t">
            <a:spAutoFit/>
          </a:bodyPr>
          <a:lstStyle/>
          <a:p>
            <a:pPr algn="l">
              <a:lnSpc>
                <a:spcPct val="125000"/>
              </a:lnSpc>
            </a:pPr>
            <a:r>
              <a:rPr sz="1100" b="0" i="1">
                <a:solidFill>
                  <a:srgbClr val="F96167"/>
                </a:solidFill>
                <a:latin typeface="Calibri"/>
              </a:rPr>
              <a:t>Consequence:  deals lost on latency; SE team trapped in RFPs instead of demos.</a:t>
            </a:r>
          </a:p>
        </p:txBody>
      </p:sp>
      <p:cxnSp>
        <p:nvCxnSpPr>
          <p:cNvPr id="39" name="Connector 38"/>
          <p:cNvCxnSpPr/>
          <p:nvPr/>
        </p:nvCxnSpPr>
        <p:spPr>
          <a:xfrm>
            <a:off x="548640" y="6355080"/>
            <a:ext cx="11094415" cy="0"/>
          </a:xfrm>
          <a:prstGeom prst="line">
            <a:avLst/>
          </a:prstGeom>
          <a:ln w="9525">
            <a:solidFill>
              <a:srgbClr val="D8DFEE"/>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48640" y="6437376"/>
            <a:ext cx="3657600" cy="274320"/>
          </a:xfrm>
          <a:prstGeom prst="rect">
            <a:avLst/>
          </a:prstGeom>
          <a:noFill/>
        </p:spPr>
        <p:txBody>
          <a:bodyPr wrap="square" lIns="0" rIns="0" tIns="0" bIns="0" anchor="t">
            <a:spAutoFit/>
          </a:bodyPr>
          <a:lstStyle/>
          <a:p>
            <a:pPr algn="l">
              <a:lnSpc>
                <a:spcPct val="115000"/>
              </a:lnSpc>
            </a:pPr>
            <a:r>
              <a:rPr sz="900" b="1" i="0">
                <a:solidFill>
                  <a:srgbClr val="4A5573"/>
                </a:solidFill>
                <a:latin typeface="Calibri"/>
              </a:rPr>
              <a:t>SOURCERA  ·  THE PROBLEM</a:t>
            </a:r>
          </a:p>
        </p:txBody>
      </p:sp>
      <p:sp>
        <p:nvSpPr>
          <p:cNvPr id="41" name="TextBox 40"/>
          <p:cNvSpPr txBox="1"/>
          <p:nvPr/>
        </p:nvSpPr>
        <p:spPr>
          <a:xfrm>
            <a:off x="10362895" y="6437376"/>
            <a:ext cx="1280160" cy="274320"/>
          </a:xfrm>
          <a:prstGeom prst="rect">
            <a:avLst/>
          </a:prstGeom>
          <a:noFill/>
        </p:spPr>
        <p:txBody>
          <a:bodyPr wrap="square" lIns="0" rIns="0" tIns="0" bIns="0" anchor="t">
            <a:spAutoFit/>
          </a:bodyPr>
          <a:lstStyle/>
          <a:p>
            <a:pPr algn="r">
              <a:lnSpc>
                <a:spcPct val="115000"/>
              </a:lnSpc>
            </a:pPr>
            <a:r>
              <a:rPr sz="900" b="0" i="0">
                <a:solidFill>
                  <a:srgbClr val="4A5573"/>
                </a:solidFill>
                <a:latin typeface="Calibri"/>
              </a:rPr>
              <a:t>02 / 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21792"/>
            <a:ext cx="365760" cy="73152"/>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548640"/>
            <a:ext cx="9144000" cy="274320"/>
          </a:xfrm>
          <a:prstGeom prst="rect">
            <a:avLst/>
          </a:prstGeom>
          <a:noFill/>
        </p:spPr>
        <p:txBody>
          <a:bodyPr wrap="square" lIns="0" rIns="0" tIns="0" bIns="0" anchor="t">
            <a:spAutoFit/>
          </a:bodyPr>
          <a:lstStyle/>
          <a:p>
            <a:pPr algn="l">
              <a:lnSpc>
                <a:spcPct val="115000"/>
              </a:lnSpc>
            </a:pPr>
            <a:r>
              <a:rPr sz="1000" b="1" i="0">
                <a:solidFill>
                  <a:srgbClr val="4A7BFF"/>
                </a:solidFill>
                <a:latin typeface="Calibri"/>
              </a:rPr>
              <a:t>WHY NOW</a:t>
            </a:r>
          </a:p>
        </p:txBody>
      </p:sp>
      <p:sp>
        <p:nvSpPr>
          <p:cNvPr id="5" name="TextBox 4"/>
          <p:cNvSpPr txBox="1"/>
          <p:nvPr/>
        </p:nvSpPr>
        <p:spPr>
          <a:xfrm>
            <a:off x="548640" y="822960"/>
            <a:ext cx="10972800" cy="822960"/>
          </a:xfrm>
          <a:prstGeom prst="rect">
            <a:avLst/>
          </a:prstGeom>
          <a:noFill/>
        </p:spPr>
        <p:txBody>
          <a:bodyPr wrap="square" lIns="0" rIns="0" tIns="0" bIns="0" anchor="t">
            <a:spAutoFit/>
          </a:bodyPr>
          <a:lstStyle/>
          <a:p>
            <a:pPr algn="l">
              <a:lnSpc>
                <a:spcPct val="105000"/>
              </a:lnSpc>
            </a:pPr>
            <a:r>
              <a:rPr sz="3600" b="1" i="0">
                <a:solidFill>
                  <a:srgbClr val="0F172E"/>
                </a:solidFill>
                <a:latin typeface="Calibri"/>
              </a:rPr>
              <a:t>Five forces converging in 2026.</a:t>
            </a:r>
          </a:p>
        </p:txBody>
      </p:sp>
      <p:sp>
        <p:nvSpPr>
          <p:cNvPr id="6" name="TextBox 5"/>
          <p:cNvSpPr txBox="1"/>
          <p:nvPr/>
        </p:nvSpPr>
        <p:spPr>
          <a:xfrm>
            <a:off x="548640" y="1508760"/>
            <a:ext cx="10972800" cy="457200"/>
          </a:xfrm>
          <a:prstGeom prst="rect">
            <a:avLst/>
          </a:prstGeom>
          <a:noFill/>
        </p:spPr>
        <p:txBody>
          <a:bodyPr wrap="square" lIns="0" rIns="0" tIns="0" bIns="0" anchor="t">
            <a:spAutoFit/>
          </a:bodyPr>
          <a:lstStyle/>
          <a:p>
            <a:pPr algn="l">
              <a:lnSpc>
                <a:spcPct val="125000"/>
              </a:lnSpc>
            </a:pPr>
            <a:r>
              <a:rPr sz="1500" b="0" i="0">
                <a:solidFill>
                  <a:srgbClr val="4A5573"/>
                </a:solidFill>
                <a:latin typeface="Calibri"/>
              </a:rPr>
              <a:t>The category is only viable because these five conditions are simultaneously true — for the first time.</a:t>
            </a:r>
          </a:p>
        </p:txBody>
      </p:sp>
      <p:sp>
        <p:nvSpPr>
          <p:cNvPr id="7" name="Rectangle 6"/>
          <p:cNvSpPr/>
          <p:nvPr/>
        </p:nvSpPr>
        <p:spPr>
          <a:xfrm>
            <a:off x="548640" y="1828800"/>
            <a:ext cx="2240280" cy="388620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828800"/>
            <a:ext cx="2240280" cy="73152"/>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103120"/>
            <a:ext cx="1691640" cy="457200"/>
          </a:xfrm>
          <a:prstGeom prst="rect">
            <a:avLst/>
          </a:prstGeom>
          <a:noFill/>
        </p:spPr>
        <p:txBody>
          <a:bodyPr wrap="square" lIns="0" rIns="0" tIns="0" bIns="0" anchor="t">
            <a:spAutoFit/>
          </a:bodyPr>
          <a:lstStyle/>
          <a:p>
            <a:pPr algn="l">
              <a:lnSpc>
                <a:spcPct val="115000"/>
              </a:lnSpc>
            </a:pPr>
            <a:r>
              <a:rPr sz="2800" b="1" i="0">
                <a:solidFill>
                  <a:srgbClr val="4A7BFF"/>
                </a:solidFill>
                <a:latin typeface="Calibri"/>
              </a:rPr>
              <a:t>01</a:t>
            </a:r>
          </a:p>
        </p:txBody>
      </p:sp>
      <p:sp>
        <p:nvSpPr>
          <p:cNvPr id="10" name="TextBox 9"/>
          <p:cNvSpPr txBox="1"/>
          <p:nvPr/>
        </p:nvSpPr>
        <p:spPr>
          <a:xfrm>
            <a:off x="822960" y="2697480"/>
            <a:ext cx="1874520" cy="822960"/>
          </a:xfrm>
          <a:prstGeom prst="rect">
            <a:avLst/>
          </a:prstGeom>
          <a:noFill/>
        </p:spPr>
        <p:txBody>
          <a:bodyPr wrap="square" lIns="0" rIns="0" tIns="0" bIns="0" anchor="t">
            <a:spAutoFit/>
          </a:bodyPr>
          <a:lstStyle/>
          <a:p>
            <a:pPr algn="l">
              <a:lnSpc>
                <a:spcPct val="110000"/>
              </a:lnSpc>
            </a:pPr>
            <a:r>
              <a:rPr sz="1600" b="1" i="0">
                <a:solidFill>
                  <a:srgbClr val="0F172E"/>
                </a:solidFill>
                <a:latin typeface="Calibri"/>
              </a:rPr>
              <a:t>AI maturation</a:t>
            </a:r>
          </a:p>
        </p:txBody>
      </p:sp>
      <p:sp>
        <p:nvSpPr>
          <p:cNvPr id="11" name="TextBox 10"/>
          <p:cNvSpPr txBox="1"/>
          <p:nvPr/>
        </p:nvSpPr>
        <p:spPr>
          <a:xfrm>
            <a:off x="822960" y="3520440"/>
            <a:ext cx="1691640" cy="2057400"/>
          </a:xfrm>
          <a:prstGeom prst="rect">
            <a:avLst/>
          </a:prstGeom>
          <a:noFill/>
        </p:spPr>
        <p:txBody>
          <a:bodyPr wrap="square" lIns="0" rIns="0" tIns="0" bIns="0" anchor="t">
            <a:spAutoFit/>
          </a:bodyPr>
          <a:lstStyle/>
          <a:p>
            <a:pPr algn="l">
              <a:lnSpc>
                <a:spcPct val="130000"/>
              </a:lnSpc>
            </a:pPr>
            <a:r>
              <a:rPr sz="1100" b="0" i="0">
                <a:solidFill>
                  <a:srgbClr val="4A5573"/>
                </a:solidFill>
                <a:latin typeface="Calibri"/>
              </a:rPr>
              <a:t>Grounded drafting, evidence extraction, and policy parsing are production-grade. Confidence-scored, citation-anchored — usable in an audit.</a:t>
            </a:r>
          </a:p>
        </p:txBody>
      </p:sp>
      <p:sp>
        <p:nvSpPr>
          <p:cNvPr id="12" name="Rectangle 11"/>
          <p:cNvSpPr/>
          <p:nvPr/>
        </p:nvSpPr>
        <p:spPr>
          <a:xfrm>
            <a:off x="2898648" y="1828800"/>
            <a:ext cx="2240280" cy="388620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98648" y="1828800"/>
            <a:ext cx="2240280" cy="73152"/>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72968" y="2103120"/>
            <a:ext cx="1691640" cy="457200"/>
          </a:xfrm>
          <a:prstGeom prst="rect">
            <a:avLst/>
          </a:prstGeom>
          <a:noFill/>
        </p:spPr>
        <p:txBody>
          <a:bodyPr wrap="square" lIns="0" rIns="0" tIns="0" bIns="0" anchor="t">
            <a:spAutoFit/>
          </a:bodyPr>
          <a:lstStyle/>
          <a:p>
            <a:pPr algn="l">
              <a:lnSpc>
                <a:spcPct val="115000"/>
              </a:lnSpc>
            </a:pPr>
            <a:r>
              <a:rPr sz="2800" b="1" i="0">
                <a:solidFill>
                  <a:srgbClr val="4A7BFF"/>
                </a:solidFill>
                <a:latin typeface="Calibri"/>
              </a:rPr>
              <a:t>02</a:t>
            </a:r>
          </a:p>
        </p:txBody>
      </p:sp>
      <p:sp>
        <p:nvSpPr>
          <p:cNvPr id="15" name="TextBox 14"/>
          <p:cNvSpPr txBox="1"/>
          <p:nvPr/>
        </p:nvSpPr>
        <p:spPr>
          <a:xfrm>
            <a:off x="3172968" y="2697480"/>
            <a:ext cx="1874520" cy="822960"/>
          </a:xfrm>
          <a:prstGeom prst="rect">
            <a:avLst/>
          </a:prstGeom>
          <a:noFill/>
        </p:spPr>
        <p:txBody>
          <a:bodyPr wrap="square" lIns="0" rIns="0" tIns="0" bIns="0" anchor="t">
            <a:spAutoFit/>
          </a:bodyPr>
          <a:lstStyle/>
          <a:p>
            <a:pPr algn="l">
              <a:lnSpc>
                <a:spcPct val="110000"/>
              </a:lnSpc>
            </a:pPr>
            <a:r>
              <a:rPr sz="1600" b="1" i="0">
                <a:solidFill>
                  <a:srgbClr val="0F172E"/>
                </a:solidFill>
                <a:latin typeface="Calibri"/>
              </a:rPr>
              <a:t>Compliance pressure</a:t>
            </a:r>
          </a:p>
        </p:txBody>
      </p:sp>
      <p:sp>
        <p:nvSpPr>
          <p:cNvPr id="16" name="TextBox 15"/>
          <p:cNvSpPr txBox="1"/>
          <p:nvPr/>
        </p:nvSpPr>
        <p:spPr>
          <a:xfrm>
            <a:off x="3172968" y="3520440"/>
            <a:ext cx="1691640" cy="2057400"/>
          </a:xfrm>
          <a:prstGeom prst="rect">
            <a:avLst/>
          </a:prstGeom>
          <a:noFill/>
        </p:spPr>
        <p:txBody>
          <a:bodyPr wrap="square" lIns="0" rIns="0" tIns="0" bIns="0" anchor="t">
            <a:spAutoFit/>
          </a:bodyPr>
          <a:lstStyle/>
          <a:p>
            <a:pPr algn="l">
              <a:lnSpc>
                <a:spcPct val="130000"/>
              </a:lnSpc>
            </a:pPr>
            <a:r>
              <a:rPr sz="1100" b="0" i="0">
                <a:solidFill>
                  <a:srgbClr val="4A5573"/>
                </a:solidFill>
                <a:latin typeface="Calibri"/>
              </a:rPr>
              <a:t>SOC 2 Type II, ISO 27001, HIPAA, NYDFS 500, DORA, PCI-DSS 4.0. Documented vendor-risk procedures are no longer optional.</a:t>
            </a:r>
          </a:p>
        </p:txBody>
      </p:sp>
      <p:sp>
        <p:nvSpPr>
          <p:cNvPr id="17" name="Rectangle 16"/>
          <p:cNvSpPr/>
          <p:nvPr/>
        </p:nvSpPr>
        <p:spPr>
          <a:xfrm>
            <a:off x="5248656" y="1828800"/>
            <a:ext cx="2240280" cy="388620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248656" y="1828800"/>
            <a:ext cx="2240280" cy="73152"/>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522976" y="2103120"/>
            <a:ext cx="1691640" cy="457200"/>
          </a:xfrm>
          <a:prstGeom prst="rect">
            <a:avLst/>
          </a:prstGeom>
          <a:noFill/>
        </p:spPr>
        <p:txBody>
          <a:bodyPr wrap="square" lIns="0" rIns="0" tIns="0" bIns="0" anchor="t">
            <a:spAutoFit/>
          </a:bodyPr>
          <a:lstStyle/>
          <a:p>
            <a:pPr algn="l">
              <a:lnSpc>
                <a:spcPct val="115000"/>
              </a:lnSpc>
            </a:pPr>
            <a:r>
              <a:rPr sz="2800" b="1" i="0">
                <a:solidFill>
                  <a:srgbClr val="4A7BFF"/>
                </a:solidFill>
                <a:latin typeface="Calibri"/>
              </a:rPr>
              <a:t>03</a:t>
            </a:r>
          </a:p>
        </p:txBody>
      </p:sp>
      <p:sp>
        <p:nvSpPr>
          <p:cNvPr id="20" name="TextBox 19"/>
          <p:cNvSpPr txBox="1"/>
          <p:nvPr/>
        </p:nvSpPr>
        <p:spPr>
          <a:xfrm>
            <a:off x="5522976" y="2697480"/>
            <a:ext cx="1874520" cy="822960"/>
          </a:xfrm>
          <a:prstGeom prst="rect">
            <a:avLst/>
          </a:prstGeom>
          <a:noFill/>
        </p:spPr>
        <p:txBody>
          <a:bodyPr wrap="square" lIns="0" rIns="0" tIns="0" bIns="0" anchor="t">
            <a:spAutoFit/>
          </a:bodyPr>
          <a:lstStyle/>
          <a:p>
            <a:pPr algn="l">
              <a:lnSpc>
                <a:spcPct val="110000"/>
              </a:lnSpc>
            </a:pPr>
            <a:r>
              <a:rPr sz="1600" b="1" i="0">
                <a:solidFill>
                  <a:srgbClr val="0F172E"/>
                </a:solidFill>
                <a:latin typeface="Calibri"/>
              </a:rPr>
              <a:t>Distributed procurement</a:t>
            </a:r>
          </a:p>
        </p:txBody>
      </p:sp>
      <p:sp>
        <p:nvSpPr>
          <p:cNvPr id="21" name="TextBox 20"/>
          <p:cNvSpPr txBox="1"/>
          <p:nvPr/>
        </p:nvSpPr>
        <p:spPr>
          <a:xfrm>
            <a:off x="5522976" y="3520440"/>
            <a:ext cx="1691640" cy="2057400"/>
          </a:xfrm>
          <a:prstGeom prst="rect">
            <a:avLst/>
          </a:prstGeom>
          <a:noFill/>
        </p:spPr>
        <p:txBody>
          <a:bodyPr wrap="square" lIns="0" rIns="0" tIns="0" bIns="0" anchor="t">
            <a:spAutoFit/>
          </a:bodyPr>
          <a:lstStyle/>
          <a:p>
            <a:pPr algn="l">
              <a:lnSpc>
                <a:spcPct val="130000"/>
              </a:lnSpc>
            </a:pPr>
            <a:r>
              <a:rPr sz="1100" b="0" i="0">
                <a:solidFill>
                  <a:srgbClr val="4A5573"/>
                </a:solidFill>
                <a:latin typeface="Calibri"/>
              </a:rPr>
              <a:t>Cross-functional buying teams of 5–9 roles across 3–6 functions. Remote + async makes per-seat tooling economically hostile.</a:t>
            </a:r>
          </a:p>
        </p:txBody>
      </p:sp>
      <p:sp>
        <p:nvSpPr>
          <p:cNvPr id="22" name="Rectangle 21"/>
          <p:cNvSpPr/>
          <p:nvPr/>
        </p:nvSpPr>
        <p:spPr>
          <a:xfrm>
            <a:off x="7598664" y="1828800"/>
            <a:ext cx="2240280" cy="388620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598664" y="1828800"/>
            <a:ext cx="2240280" cy="73152"/>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72984" y="2103120"/>
            <a:ext cx="1691640" cy="457200"/>
          </a:xfrm>
          <a:prstGeom prst="rect">
            <a:avLst/>
          </a:prstGeom>
          <a:noFill/>
        </p:spPr>
        <p:txBody>
          <a:bodyPr wrap="square" lIns="0" rIns="0" tIns="0" bIns="0" anchor="t">
            <a:spAutoFit/>
          </a:bodyPr>
          <a:lstStyle/>
          <a:p>
            <a:pPr algn="l">
              <a:lnSpc>
                <a:spcPct val="115000"/>
              </a:lnSpc>
            </a:pPr>
            <a:r>
              <a:rPr sz="2800" b="1" i="0">
                <a:solidFill>
                  <a:srgbClr val="4A7BFF"/>
                </a:solidFill>
                <a:latin typeface="Calibri"/>
              </a:rPr>
              <a:t>04</a:t>
            </a:r>
          </a:p>
        </p:txBody>
      </p:sp>
      <p:sp>
        <p:nvSpPr>
          <p:cNvPr id="25" name="TextBox 24"/>
          <p:cNvSpPr txBox="1"/>
          <p:nvPr/>
        </p:nvSpPr>
        <p:spPr>
          <a:xfrm>
            <a:off x="7872984" y="2697480"/>
            <a:ext cx="1874520" cy="822960"/>
          </a:xfrm>
          <a:prstGeom prst="rect">
            <a:avLst/>
          </a:prstGeom>
          <a:noFill/>
        </p:spPr>
        <p:txBody>
          <a:bodyPr wrap="square" lIns="0" rIns="0" tIns="0" bIns="0" anchor="t">
            <a:spAutoFit/>
          </a:bodyPr>
          <a:lstStyle/>
          <a:p>
            <a:pPr algn="l">
              <a:lnSpc>
                <a:spcPct val="110000"/>
              </a:lnSpc>
            </a:pPr>
            <a:r>
              <a:rPr sz="1600" b="1" i="0">
                <a:solidFill>
                  <a:srgbClr val="0F172E"/>
                </a:solidFill>
                <a:latin typeface="Calibri"/>
              </a:rPr>
              <a:t>RFP fatigue</a:t>
            </a:r>
          </a:p>
        </p:txBody>
      </p:sp>
      <p:sp>
        <p:nvSpPr>
          <p:cNvPr id="26" name="TextBox 25"/>
          <p:cNvSpPr txBox="1"/>
          <p:nvPr/>
        </p:nvSpPr>
        <p:spPr>
          <a:xfrm>
            <a:off x="7872984" y="3520440"/>
            <a:ext cx="1691640" cy="2057400"/>
          </a:xfrm>
          <a:prstGeom prst="rect">
            <a:avLst/>
          </a:prstGeom>
          <a:noFill/>
        </p:spPr>
        <p:txBody>
          <a:bodyPr wrap="square" lIns="0" rIns="0" tIns="0" bIns="0" anchor="t">
            <a:spAutoFit/>
          </a:bodyPr>
          <a:lstStyle/>
          <a:p>
            <a:pPr algn="l">
              <a:lnSpc>
                <a:spcPct val="130000"/>
              </a:lnSpc>
            </a:pPr>
            <a:r>
              <a:rPr sz="1100" b="0" i="0">
                <a:solidFill>
                  <a:srgbClr val="4A5573"/>
                </a:solidFill>
                <a:latin typeface="Calibri"/>
              </a:rPr>
              <a:t>Vendor response volume outpaces team size. Solo-RFP-manager burnout forces a 60–90 day tooling decision when the seat turns over.</a:t>
            </a:r>
          </a:p>
        </p:txBody>
      </p:sp>
      <p:sp>
        <p:nvSpPr>
          <p:cNvPr id="27" name="Rectangle 26"/>
          <p:cNvSpPr/>
          <p:nvPr/>
        </p:nvSpPr>
        <p:spPr>
          <a:xfrm>
            <a:off x="9948672" y="1828800"/>
            <a:ext cx="2240280" cy="388620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948672" y="1828800"/>
            <a:ext cx="2240280" cy="73152"/>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22992" y="2103120"/>
            <a:ext cx="1691640" cy="457200"/>
          </a:xfrm>
          <a:prstGeom prst="rect">
            <a:avLst/>
          </a:prstGeom>
          <a:noFill/>
        </p:spPr>
        <p:txBody>
          <a:bodyPr wrap="square" lIns="0" rIns="0" tIns="0" bIns="0" anchor="t">
            <a:spAutoFit/>
          </a:bodyPr>
          <a:lstStyle/>
          <a:p>
            <a:pPr algn="l">
              <a:lnSpc>
                <a:spcPct val="115000"/>
              </a:lnSpc>
            </a:pPr>
            <a:r>
              <a:rPr sz="2800" b="1" i="0">
                <a:solidFill>
                  <a:srgbClr val="4A7BFF"/>
                </a:solidFill>
                <a:latin typeface="Calibri"/>
              </a:rPr>
              <a:t>05</a:t>
            </a:r>
          </a:p>
        </p:txBody>
      </p:sp>
      <p:sp>
        <p:nvSpPr>
          <p:cNvPr id="30" name="TextBox 29"/>
          <p:cNvSpPr txBox="1"/>
          <p:nvPr/>
        </p:nvSpPr>
        <p:spPr>
          <a:xfrm>
            <a:off x="10222992" y="2697480"/>
            <a:ext cx="1874520" cy="822960"/>
          </a:xfrm>
          <a:prstGeom prst="rect">
            <a:avLst/>
          </a:prstGeom>
          <a:noFill/>
        </p:spPr>
        <p:txBody>
          <a:bodyPr wrap="square" lIns="0" rIns="0" tIns="0" bIns="0" anchor="t">
            <a:spAutoFit/>
          </a:bodyPr>
          <a:lstStyle/>
          <a:p>
            <a:pPr algn="l">
              <a:lnSpc>
                <a:spcPct val="110000"/>
              </a:lnSpc>
            </a:pPr>
            <a:r>
              <a:rPr sz="1600" b="1" i="0">
                <a:solidFill>
                  <a:srgbClr val="0F172E"/>
                </a:solidFill>
                <a:latin typeface="Calibri"/>
              </a:rPr>
              <a:t>Procurement is understaffed</a:t>
            </a:r>
          </a:p>
        </p:txBody>
      </p:sp>
      <p:sp>
        <p:nvSpPr>
          <p:cNvPr id="31" name="TextBox 30"/>
          <p:cNvSpPr txBox="1"/>
          <p:nvPr/>
        </p:nvSpPr>
        <p:spPr>
          <a:xfrm>
            <a:off x="10222992" y="3520440"/>
            <a:ext cx="1691640" cy="2057400"/>
          </a:xfrm>
          <a:prstGeom prst="rect">
            <a:avLst/>
          </a:prstGeom>
          <a:noFill/>
        </p:spPr>
        <p:txBody>
          <a:bodyPr wrap="square" lIns="0" rIns="0" tIns="0" bIns="0" anchor="t">
            <a:spAutoFit/>
          </a:bodyPr>
          <a:lstStyle/>
          <a:p>
            <a:pPr algn="l">
              <a:lnSpc>
                <a:spcPct val="130000"/>
              </a:lnSpc>
            </a:pPr>
            <a:r>
              <a:rPr sz="1100" b="0" i="0">
                <a:solidFill>
                  <a:srgbClr val="4A5573"/>
                </a:solidFill>
                <a:latin typeface="Calibri"/>
              </a:rPr>
              <a:t>Software spend is compounding; procurement headcount isn't. The only lever left is leverage per person — which means AI.</a:t>
            </a:r>
          </a:p>
        </p:txBody>
      </p:sp>
      <p:sp>
        <p:nvSpPr>
          <p:cNvPr id="32" name="TextBox 31"/>
          <p:cNvSpPr txBox="1"/>
          <p:nvPr/>
        </p:nvSpPr>
        <p:spPr>
          <a:xfrm>
            <a:off x="548640" y="5943600"/>
            <a:ext cx="11094415" cy="365760"/>
          </a:xfrm>
          <a:prstGeom prst="rect">
            <a:avLst/>
          </a:prstGeom>
          <a:noFill/>
        </p:spPr>
        <p:txBody>
          <a:bodyPr wrap="square" lIns="0" rIns="0" tIns="0" bIns="0" anchor="t">
            <a:spAutoFit/>
          </a:bodyPr>
          <a:lstStyle/>
          <a:p>
            <a:pPr algn="ctr">
              <a:lnSpc>
                <a:spcPct val="115000"/>
              </a:lnSpc>
            </a:pPr>
            <a:r>
              <a:rPr sz="1400" b="0" i="1">
                <a:solidFill>
                  <a:srgbClr val="2E55D9"/>
                </a:solidFill>
                <a:latin typeface="Calibri"/>
              </a:rPr>
              <a:t>Any one of these would justify a new tool. All five simultaneously justify a new category.</a:t>
            </a:r>
          </a:p>
        </p:txBody>
      </p:sp>
      <p:cxnSp>
        <p:nvCxnSpPr>
          <p:cNvPr id="33" name="Connector 32"/>
          <p:cNvCxnSpPr/>
          <p:nvPr/>
        </p:nvCxnSpPr>
        <p:spPr>
          <a:xfrm>
            <a:off x="548640" y="6355080"/>
            <a:ext cx="11094415" cy="0"/>
          </a:xfrm>
          <a:prstGeom prst="line">
            <a:avLst/>
          </a:prstGeom>
          <a:ln w="9525">
            <a:solidFill>
              <a:srgbClr val="D8DFEE"/>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48640" y="6437376"/>
            <a:ext cx="3657600" cy="274320"/>
          </a:xfrm>
          <a:prstGeom prst="rect">
            <a:avLst/>
          </a:prstGeom>
          <a:noFill/>
        </p:spPr>
        <p:txBody>
          <a:bodyPr wrap="square" lIns="0" rIns="0" tIns="0" bIns="0" anchor="t">
            <a:spAutoFit/>
          </a:bodyPr>
          <a:lstStyle/>
          <a:p>
            <a:pPr algn="l">
              <a:lnSpc>
                <a:spcPct val="115000"/>
              </a:lnSpc>
            </a:pPr>
            <a:r>
              <a:rPr sz="900" b="1" i="0">
                <a:solidFill>
                  <a:srgbClr val="4A5573"/>
                </a:solidFill>
                <a:latin typeface="Calibri"/>
              </a:rPr>
              <a:t>SOURCERA  ·  WHY NOW</a:t>
            </a:r>
          </a:p>
        </p:txBody>
      </p:sp>
      <p:sp>
        <p:nvSpPr>
          <p:cNvPr id="35" name="TextBox 34"/>
          <p:cNvSpPr txBox="1"/>
          <p:nvPr/>
        </p:nvSpPr>
        <p:spPr>
          <a:xfrm>
            <a:off x="10362895" y="6437376"/>
            <a:ext cx="1280160" cy="274320"/>
          </a:xfrm>
          <a:prstGeom prst="rect">
            <a:avLst/>
          </a:prstGeom>
          <a:noFill/>
        </p:spPr>
        <p:txBody>
          <a:bodyPr wrap="square" lIns="0" rIns="0" tIns="0" bIns="0" anchor="t">
            <a:spAutoFit/>
          </a:bodyPr>
          <a:lstStyle/>
          <a:p>
            <a:pPr algn="r">
              <a:lnSpc>
                <a:spcPct val="115000"/>
              </a:lnSpc>
            </a:pPr>
            <a:r>
              <a:rPr sz="900" b="0" i="0">
                <a:solidFill>
                  <a:srgbClr val="4A5573"/>
                </a:solidFill>
                <a:latin typeface="Calibri"/>
              </a:rPr>
              <a:t>03 / 19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21792"/>
            <a:ext cx="365760" cy="73152"/>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548640"/>
            <a:ext cx="9144000" cy="274320"/>
          </a:xfrm>
          <a:prstGeom prst="rect">
            <a:avLst/>
          </a:prstGeom>
          <a:noFill/>
        </p:spPr>
        <p:txBody>
          <a:bodyPr wrap="square" lIns="0" rIns="0" tIns="0" bIns="0" anchor="t">
            <a:spAutoFit/>
          </a:bodyPr>
          <a:lstStyle/>
          <a:p>
            <a:pPr algn="l">
              <a:lnSpc>
                <a:spcPct val="115000"/>
              </a:lnSpc>
            </a:pPr>
            <a:r>
              <a:rPr sz="1000" b="1" i="0">
                <a:solidFill>
                  <a:srgbClr val="4A7BFF"/>
                </a:solidFill>
                <a:latin typeface="Calibri"/>
              </a:rPr>
              <a:t>THE SOLUTION</a:t>
            </a:r>
          </a:p>
        </p:txBody>
      </p:sp>
      <p:sp>
        <p:nvSpPr>
          <p:cNvPr id="5" name="TextBox 4"/>
          <p:cNvSpPr txBox="1"/>
          <p:nvPr/>
        </p:nvSpPr>
        <p:spPr>
          <a:xfrm>
            <a:off x="548640" y="822960"/>
            <a:ext cx="10972800" cy="822960"/>
          </a:xfrm>
          <a:prstGeom prst="rect">
            <a:avLst/>
          </a:prstGeom>
          <a:noFill/>
        </p:spPr>
        <p:txBody>
          <a:bodyPr wrap="square" lIns="0" rIns="0" tIns="0" bIns="0" anchor="t">
            <a:spAutoFit/>
          </a:bodyPr>
          <a:lstStyle/>
          <a:p>
            <a:pPr algn="l">
              <a:lnSpc>
                <a:spcPct val="105000"/>
              </a:lnSpc>
            </a:pPr>
            <a:r>
              <a:rPr sz="3600" b="1" i="0">
                <a:solidFill>
                  <a:srgbClr val="0F172E"/>
                </a:solidFill>
                <a:latin typeface="Calibri"/>
              </a:rPr>
              <a:t>Three pillars. One platform.</a:t>
            </a:r>
          </a:p>
        </p:txBody>
      </p:sp>
      <p:sp>
        <p:nvSpPr>
          <p:cNvPr id="6" name="TextBox 5"/>
          <p:cNvSpPr txBox="1"/>
          <p:nvPr/>
        </p:nvSpPr>
        <p:spPr>
          <a:xfrm>
            <a:off x="548640" y="1508760"/>
            <a:ext cx="10972800" cy="457200"/>
          </a:xfrm>
          <a:prstGeom prst="rect">
            <a:avLst/>
          </a:prstGeom>
          <a:noFill/>
        </p:spPr>
        <p:txBody>
          <a:bodyPr wrap="square" lIns="0" rIns="0" tIns="0" bIns="0" anchor="t">
            <a:spAutoFit/>
          </a:bodyPr>
          <a:lstStyle/>
          <a:p>
            <a:pPr algn="l">
              <a:lnSpc>
                <a:spcPct val="125000"/>
              </a:lnSpc>
            </a:pPr>
            <a:r>
              <a:rPr sz="1500" b="0" i="0">
                <a:solidFill>
                  <a:srgbClr val="4A5573"/>
                </a:solidFill>
                <a:latin typeface="Calibri"/>
              </a:rPr>
              <a:t>Structured evaluation, AI intelligence, and vendor discovery — integrated, not bundled.</a:t>
            </a:r>
          </a:p>
        </p:txBody>
      </p:sp>
      <p:sp>
        <p:nvSpPr>
          <p:cNvPr id="7" name="Rectangle 6"/>
          <p:cNvSpPr/>
          <p:nvPr/>
        </p:nvSpPr>
        <p:spPr>
          <a:xfrm>
            <a:off x="548640" y="1874519"/>
            <a:ext cx="3767328" cy="429768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874519"/>
            <a:ext cx="3767328" cy="502920"/>
          </a:xfrm>
          <a:prstGeom prst="rect">
            <a:avLst/>
          </a:prstGeom>
          <a:solidFill>
            <a:srgbClr val="2E5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993391"/>
            <a:ext cx="3127248" cy="320040"/>
          </a:xfrm>
          <a:prstGeom prst="rect">
            <a:avLst/>
          </a:prstGeom>
          <a:noFill/>
        </p:spPr>
        <p:txBody>
          <a:bodyPr wrap="square" lIns="0" rIns="0" tIns="0" bIns="0" anchor="t">
            <a:spAutoFit/>
          </a:bodyPr>
          <a:lstStyle/>
          <a:p>
            <a:pPr algn="l">
              <a:lnSpc>
                <a:spcPct val="115000"/>
              </a:lnSpc>
            </a:pPr>
            <a:r>
              <a:rPr sz="1100" b="1" i="0">
                <a:solidFill>
                  <a:srgbClr val="FFFFFF"/>
                </a:solidFill>
                <a:latin typeface="Calibri"/>
              </a:rPr>
              <a:t>STRUCTURED EVALUATION</a:t>
            </a:r>
          </a:p>
        </p:txBody>
      </p:sp>
      <p:sp>
        <p:nvSpPr>
          <p:cNvPr id="10" name="TextBox 9"/>
          <p:cNvSpPr txBox="1"/>
          <p:nvPr/>
        </p:nvSpPr>
        <p:spPr>
          <a:xfrm>
            <a:off x="868680" y="2606039"/>
            <a:ext cx="3127248" cy="594360"/>
          </a:xfrm>
          <a:prstGeom prst="rect">
            <a:avLst/>
          </a:prstGeom>
          <a:noFill/>
        </p:spPr>
        <p:txBody>
          <a:bodyPr wrap="square" lIns="0" rIns="0" tIns="0" bIns="0" anchor="t">
            <a:spAutoFit/>
          </a:bodyPr>
          <a:lstStyle/>
          <a:p>
            <a:pPr algn="l">
              <a:lnSpc>
                <a:spcPct val="105000"/>
              </a:lnSpc>
            </a:pPr>
            <a:r>
              <a:rPr sz="2200" b="1" i="0">
                <a:solidFill>
                  <a:srgbClr val="0F172E"/>
                </a:solidFill>
                <a:latin typeface="Calibri"/>
              </a:rPr>
              <a:t>The spine.</a:t>
            </a:r>
          </a:p>
        </p:txBody>
      </p:sp>
      <p:cxnSp>
        <p:nvCxnSpPr>
          <p:cNvPr id="11" name="Connector 10"/>
          <p:cNvCxnSpPr/>
          <p:nvPr/>
        </p:nvCxnSpPr>
        <p:spPr>
          <a:xfrm>
            <a:off x="868680" y="3319271"/>
            <a:ext cx="3127248" cy="0"/>
          </a:xfrm>
          <a:prstGeom prst="line">
            <a:avLst/>
          </a:prstGeom>
          <a:ln w="9525">
            <a:solidFill>
              <a:srgbClr val="D8DFEE"/>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868680" y="3598163"/>
            <a:ext cx="82296" cy="82296"/>
          </a:xfrm>
          <a:prstGeom prst="rect">
            <a:avLst/>
          </a:prstGeom>
          <a:solidFill>
            <a:srgbClr val="2E5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9848" y="3520439"/>
            <a:ext cx="2926080" cy="475488"/>
          </a:xfrm>
          <a:prstGeom prst="rect">
            <a:avLst/>
          </a:prstGeom>
          <a:noFill/>
        </p:spPr>
        <p:txBody>
          <a:bodyPr wrap="square" lIns="0" rIns="0" tIns="0" bIns="0">
            <a:spAutoFit/>
          </a:bodyPr>
          <a:lstStyle/>
          <a:p>
            <a:pPr>
              <a:lnSpc>
                <a:spcPct val="115000"/>
              </a:lnSpc>
            </a:pPr>
            <a:r>
              <a:rPr sz="1150">
                <a:solidFill>
                  <a:srgbClr val="4A5573"/>
                </a:solidFill>
                <a:latin typeface="Calibri"/>
              </a:rPr>
              <a:t>Fixed 13-phase pipeline — gate-validated, no skipping</a:t>
            </a:r>
          </a:p>
        </p:txBody>
      </p:sp>
      <p:sp>
        <p:nvSpPr>
          <p:cNvPr id="14" name="Rectangle 13"/>
          <p:cNvSpPr/>
          <p:nvPr/>
        </p:nvSpPr>
        <p:spPr>
          <a:xfrm>
            <a:off x="868680" y="4073651"/>
            <a:ext cx="82296" cy="82296"/>
          </a:xfrm>
          <a:prstGeom prst="rect">
            <a:avLst/>
          </a:prstGeom>
          <a:solidFill>
            <a:srgbClr val="2E5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9848" y="3995927"/>
            <a:ext cx="2926080" cy="475488"/>
          </a:xfrm>
          <a:prstGeom prst="rect">
            <a:avLst/>
          </a:prstGeom>
          <a:noFill/>
        </p:spPr>
        <p:txBody>
          <a:bodyPr wrap="square" lIns="0" rIns="0" tIns="0" bIns="0">
            <a:spAutoFit/>
          </a:bodyPr>
          <a:lstStyle/>
          <a:p>
            <a:pPr>
              <a:lnSpc>
                <a:spcPct val="115000"/>
              </a:lnSpc>
            </a:pPr>
            <a:r>
              <a:rPr sz="1150">
                <a:solidFill>
                  <a:srgbClr val="4A5573"/>
                </a:solidFill>
                <a:latin typeface="Calibri"/>
              </a:rPr>
              <a:t>Weight × grade scoring engine (FM / PM / EJ models)</a:t>
            </a:r>
          </a:p>
        </p:txBody>
      </p:sp>
      <p:sp>
        <p:nvSpPr>
          <p:cNvPr id="16" name="Rectangle 15"/>
          <p:cNvSpPr/>
          <p:nvPr/>
        </p:nvSpPr>
        <p:spPr>
          <a:xfrm>
            <a:off x="868680" y="4549139"/>
            <a:ext cx="82296" cy="82296"/>
          </a:xfrm>
          <a:prstGeom prst="rect">
            <a:avLst/>
          </a:prstGeom>
          <a:solidFill>
            <a:srgbClr val="2E5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9848" y="4471415"/>
            <a:ext cx="2926080" cy="475488"/>
          </a:xfrm>
          <a:prstGeom prst="rect">
            <a:avLst/>
          </a:prstGeom>
          <a:noFill/>
        </p:spPr>
        <p:txBody>
          <a:bodyPr wrap="square" lIns="0" rIns="0" tIns="0" bIns="0">
            <a:spAutoFit/>
          </a:bodyPr>
          <a:lstStyle/>
          <a:p>
            <a:pPr>
              <a:lnSpc>
                <a:spcPct val="115000"/>
              </a:lnSpc>
            </a:pPr>
            <a:r>
              <a:rPr sz="1150">
                <a:solidFill>
                  <a:srgbClr val="4A5573"/>
                </a:solidFill>
                <a:latin typeface="Calibri"/>
              </a:rPr>
              <a:t>Append-only grade history, per-phase immutability</a:t>
            </a:r>
          </a:p>
        </p:txBody>
      </p:sp>
      <p:sp>
        <p:nvSpPr>
          <p:cNvPr id="18" name="Rectangle 17"/>
          <p:cNvSpPr/>
          <p:nvPr/>
        </p:nvSpPr>
        <p:spPr>
          <a:xfrm>
            <a:off x="868680" y="5024627"/>
            <a:ext cx="82296" cy="82296"/>
          </a:xfrm>
          <a:prstGeom prst="rect">
            <a:avLst/>
          </a:prstGeom>
          <a:solidFill>
            <a:srgbClr val="2E5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9848" y="4946903"/>
            <a:ext cx="2926080" cy="475488"/>
          </a:xfrm>
          <a:prstGeom prst="rect">
            <a:avLst/>
          </a:prstGeom>
          <a:noFill/>
        </p:spPr>
        <p:txBody>
          <a:bodyPr wrap="square" lIns="0" rIns="0" tIns="0" bIns="0">
            <a:spAutoFit/>
          </a:bodyPr>
          <a:lstStyle/>
          <a:p>
            <a:pPr>
              <a:lnSpc>
                <a:spcPct val="115000"/>
              </a:lnSpc>
            </a:pPr>
            <a:r>
              <a:rPr sz="1150">
                <a:solidFill>
                  <a:srgbClr val="4A5573"/>
                </a:solidFill>
                <a:latin typeface="Calibri"/>
              </a:rPr>
              <a:t>SHA-256-hashed Selection Record at Phase 13 close</a:t>
            </a:r>
          </a:p>
        </p:txBody>
      </p:sp>
      <p:sp>
        <p:nvSpPr>
          <p:cNvPr id="20" name="Rectangle 19"/>
          <p:cNvSpPr/>
          <p:nvPr/>
        </p:nvSpPr>
        <p:spPr>
          <a:xfrm>
            <a:off x="868680" y="5500115"/>
            <a:ext cx="82296" cy="82296"/>
          </a:xfrm>
          <a:prstGeom prst="rect">
            <a:avLst/>
          </a:prstGeom>
          <a:solidFill>
            <a:srgbClr val="2E5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69848" y="5422391"/>
            <a:ext cx="2926080" cy="475488"/>
          </a:xfrm>
          <a:prstGeom prst="rect">
            <a:avLst/>
          </a:prstGeom>
          <a:noFill/>
        </p:spPr>
        <p:txBody>
          <a:bodyPr wrap="square" lIns="0" rIns="0" tIns="0" bIns="0">
            <a:spAutoFit/>
          </a:bodyPr>
          <a:lstStyle/>
          <a:p>
            <a:pPr>
              <a:lnSpc>
                <a:spcPct val="115000"/>
              </a:lnSpc>
            </a:pPr>
            <a:r>
              <a:rPr sz="1150">
                <a:solidFill>
                  <a:srgbClr val="4A5573"/>
                </a:solidFill>
                <a:latin typeface="Calibri"/>
              </a:rPr>
              <a:t>Templates, TCO modeling, scenario overlays</a:t>
            </a:r>
          </a:p>
        </p:txBody>
      </p:sp>
      <p:sp>
        <p:nvSpPr>
          <p:cNvPr id="22" name="Rectangle 21"/>
          <p:cNvSpPr/>
          <p:nvPr/>
        </p:nvSpPr>
        <p:spPr>
          <a:xfrm>
            <a:off x="4425696" y="1874519"/>
            <a:ext cx="3767328" cy="429768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25696" y="1874519"/>
            <a:ext cx="3767328" cy="502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45736" y="1993391"/>
            <a:ext cx="3127248" cy="320040"/>
          </a:xfrm>
          <a:prstGeom prst="rect">
            <a:avLst/>
          </a:prstGeom>
          <a:noFill/>
        </p:spPr>
        <p:txBody>
          <a:bodyPr wrap="square" lIns="0" rIns="0" tIns="0" bIns="0" anchor="t">
            <a:spAutoFit/>
          </a:bodyPr>
          <a:lstStyle/>
          <a:p>
            <a:pPr algn="l">
              <a:lnSpc>
                <a:spcPct val="115000"/>
              </a:lnSpc>
            </a:pPr>
            <a:r>
              <a:rPr sz="1100" b="1" i="0">
                <a:solidFill>
                  <a:srgbClr val="FFFFFF"/>
                </a:solidFill>
                <a:latin typeface="Calibri"/>
              </a:rPr>
              <a:t>AI INTELLIGENCE</a:t>
            </a:r>
          </a:p>
        </p:txBody>
      </p:sp>
      <p:sp>
        <p:nvSpPr>
          <p:cNvPr id="25" name="TextBox 24"/>
          <p:cNvSpPr txBox="1"/>
          <p:nvPr/>
        </p:nvSpPr>
        <p:spPr>
          <a:xfrm>
            <a:off x="4745736" y="2606039"/>
            <a:ext cx="3127248" cy="594360"/>
          </a:xfrm>
          <a:prstGeom prst="rect">
            <a:avLst/>
          </a:prstGeom>
          <a:noFill/>
        </p:spPr>
        <p:txBody>
          <a:bodyPr wrap="square" lIns="0" rIns="0" tIns="0" bIns="0" anchor="t">
            <a:spAutoFit/>
          </a:bodyPr>
          <a:lstStyle/>
          <a:p>
            <a:pPr algn="l">
              <a:lnSpc>
                <a:spcPct val="105000"/>
              </a:lnSpc>
            </a:pPr>
            <a:r>
              <a:rPr sz="2200" b="1" i="0">
                <a:solidFill>
                  <a:srgbClr val="0F172E"/>
                </a:solidFill>
                <a:latin typeface="Calibri"/>
              </a:rPr>
              <a:t>The Agent as infrastructure.</a:t>
            </a:r>
          </a:p>
        </p:txBody>
      </p:sp>
      <p:cxnSp>
        <p:nvCxnSpPr>
          <p:cNvPr id="26" name="Connector 25"/>
          <p:cNvCxnSpPr/>
          <p:nvPr/>
        </p:nvCxnSpPr>
        <p:spPr>
          <a:xfrm>
            <a:off x="4745736" y="3319271"/>
            <a:ext cx="3127248" cy="0"/>
          </a:xfrm>
          <a:prstGeom prst="line">
            <a:avLst/>
          </a:prstGeom>
          <a:ln w="9525">
            <a:solidFill>
              <a:srgbClr val="D8DFEE"/>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4745736" y="3598163"/>
            <a:ext cx="82296"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946904" y="3520439"/>
            <a:ext cx="2926080" cy="475488"/>
          </a:xfrm>
          <a:prstGeom prst="rect">
            <a:avLst/>
          </a:prstGeom>
          <a:noFill/>
        </p:spPr>
        <p:txBody>
          <a:bodyPr wrap="square" lIns="0" rIns="0" tIns="0" bIns="0">
            <a:spAutoFit/>
          </a:bodyPr>
          <a:lstStyle/>
          <a:p>
            <a:pPr>
              <a:lnSpc>
                <a:spcPct val="115000"/>
              </a:lnSpc>
            </a:pPr>
            <a:r>
              <a:rPr sz="1150">
                <a:solidFill>
                  <a:srgbClr val="4A5573"/>
                </a:solidFill>
                <a:latin typeface="Calibri"/>
              </a:rPr>
              <a:t>21+ cataloged capabilities across Opus / Sonnet / Haiku</a:t>
            </a:r>
          </a:p>
        </p:txBody>
      </p:sp>
      <p:sp>
        <p:nvSpPr>
          <p:cNvPr id="29" name="Rectangle 28"/>
          <p:cNvSpPr/>
          <p:nvPr/>
        </p:nvSpPr>
        <p:spPr>
          <a:xfrm>
            <a:off x="4745736" y="4073651"/>
            <a:ext cx="82296"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46904" y="3995927"/>
            <a:ext cx="2926080" cy="475488"/>
          </a:xfrm>
          <a:prstGeom prst="rect">
            <a:avLst/>
          </a:prstGeom>
          <a:noFill/>
        </p:spPr>
        <p:txBody>
          <a:bodyPr wrap="square" lIns="0" rIns="0" tIns="0" bIns="0">
            <a:spAutoFit/>
          </a:bodyPr>
          <a:lstStyle/>
          <a:p>
            <a:pPr>
              <a:lnSpc>
                <a:spcPct val="115000"/>
              </a:lnSpc>
            </a:pPr>
            <a:r>
              <a:rPr sz="1150">
                <a:solidFill>
                  <a:srgbClr val="4A5573"/>
                </a:solidFill>
                <a:latin typeface="Calibri"/>
              </a:rPr>
              <a:t>Grounded outputs — cite-before-state, confidence-scored</a:t>
            </a:r>
          </a:p>
        </p:txBody>
      </p:sp>
      <p:sp>
        <p:nvSpPr>
          <p:cNvPr id="31" name="Rectangle 30"/>
          <p:cNvSpPr/>
          <p:nvPr/>
        </p:nvSpPr>
        <p:spPr>
          <a:xfrm>
            <a:off x="4745736" y="4549139"/>
            <a:ext cx="82296"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946904" y="4471415"/>
            <a:ext cx="2926080" cy="475488"/>
          </a:xfrm>
          <a:prstGeom prst="rect">
            <a:avLst/>
          </a:prstGeom>
          <a:noFill/>
        </p:spPr>
        <p:txBody>
          <a:bodyPr wrap="square" lIns="0" rIns="0" tIns="0" bIns="0">
            <a:spAutoFit/>
          </a:bodyPr>
          <a:lstStyle/>
          <a:p>
            <a:pPr>
              <a:lnSpc>
                <a:spcPct val="115000"/>
              </a:lnSpc>
            </a:pPr>
            <a:r>
              <a:rPr sz="1150">
                <a:solidFill>
                  <a:srgbClr val="4A5573"/>
                </a:solidFill>
                <a:latin typeface="Calibri"/>
              </a:rPr>
              <a:t>Pre-scoring, policy parsing, KB bootstrap, first-pass drafting</a:t>
            </a:r>
          </a:p>
        </p:txBody>
      </p:sp>
      <p:sp>
        <p:nvSpPr>
          <p:cNvPr id="33" name="Rectangle 32"/>
          <p:cNvSpPr/>
          <p:nvPr/>
        </p:nvSpPr>
        <p:spPr>
          <a:xfrm>
            <a:off x="4745736" y="5024627"/>
            <a:ext cx="82296"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946904" y="4946903"/>
            <a:ext cx="2926080" cy="475488"/>
          </a:xfrm>
          <a:prstGeom prst="rect">
            <a:avLst/>
          </a:prstGeom>
          <a:noFill/>
        </p:spPr>
        <p:txBody>
          <a:bodyPr wrap="square" lIns="0" rIns="0" tIns="0" bIns="0">
            <a:spAutoFit/>
          </a:bodyPr>
          <a:lstStyle/>
          <a:p>
            <a:pPr>
              <a:lnSpc>
                <a:spcPct val="115000"/>
              </a:lnSpc>
            </a:pPr>
            <a:r>
              <a:rPr sz="1150">
                <a:solidFill>
                  <a:srgbClr val="4A5573"/>
                </a:solidFill>
                <a:latin typeface="Calibri"/>
              </a:rPr>
              <a:t>Outcome-accounted: accepted 10× cost · rejected 1.05× cost</a:t>
            </a:r>
          </a:p>
        </p:txBody>
      </p:sp>
      <p:sp>
        <p:nvSpPr>
          <p:cNvPr id="35" name="Rectangle 34"/>
          <p:cNvSpPr/>
          <p:nvPr/>
        </p:nvSpPr>
        <p:spPr>
          <a:xfrm>
            <a:off x="4745736" y="5500115"/>
            <a:ext cx="82296"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946904" y="5422391"/>
            <a:ext cx="2926080" cy="475488"/>
          </a:xfrm>
          <a:prstGeom prst="rect">
            <a:avLst/>
          </a:prstGeom>
          <a:noFill/>
        </p:spPr>
        <p:txBody>
          <a:bodyPr wrap="square" lIns="0" rIns="0" tIns="0" bIns="0">
            <a:spAutoFit/>
          </a:bodyPr>
          <a:lstStyle/>
          <a:p>
            <a:pPr>
              <a:lnSpc>
                <a:spcPct val="115000"/>
              </a:lnSpc>
            </a:pPr>
            <a:r>
              <a:rPr sz="1150">
                <a:solidFill>
                  <a:srgbClr val="4A5573"/>
                </a:solidFill>
                <a:latin typeface="Calibri"/>
              </a:rPr>
              <a:t>Aligned incentive on quality at the pricing layer itself</a:t>
            </a:r>
          </a:p>
        </p:txBody>
      </p:sp>
      <p:sp>
        <p:nvSpPr>
          <p:cNvPr id="37" name="Rectangle 36"/>
          <p:cNvSpPr/>
          <p:nvPr/>
        </p:nvSpPr>
        <p:spPr>
          <a:xfrm>
            <a:off x="8302752" y="1874519"/>
            <a:ext cx="3767328" cy="429768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302752" y="1874519"/>
            <a:ext cx="3767328" cy="5029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622792" y="1993391"/>
            <a:ext cx="3127248" cy="320040"/>
          </a:xfrm>
          <a:prstGeom prst="rect">
            <a:avLst/>
          </a:prstGeom>
          <a:noFill/>
        </p:spPr>
        <p:txBody>
          <a:bodyPr wrap="square" lIns="0" rIns="0" tIns="0" bIns="0" anchor="t">
            <a:spAutoFit/>
          </a:bodyPr>
          <a:lstStyle/>
          <a:p>
            <a:pPr algn="l">
              <a:lnSpc>
                <a:spcPct val="115000"/>
              </a:lnSpc>
            </a:pPr>
            <a:r>
              <a:rPr sz="1100" b="1" i="0">
                <a:solidFill>
                  <a:srgbClr val="FFFFFF"/>
                </a:solidFill>
                <a:latin typeface="Calibri"/>
              </a:rPr>
              <a:t>VENDOR DISCOVERY MARKETPLACE</a:t>
            </a:r>
          </a:p>
        </p:txBody>
      </p:sp>
      <p:sp>
        <p:nvSpPr>
          <p:cNvPr id="40" name="TextBox 39"/>
          <p:cNvSpPr txBox="1"/>
          <p:nvPr/>
        </p:nvSpPr>
        <p:spPr>
          <a:xfrm>
            <a:off x="8622792" y="2606039"/>
            <a:ext cx="3127248" cy="594360"/>
          </a:xfrm>
          <a:prstGeom prst="rect">
            <a:avLst/>
          </a:prstGeom>
          <a:noFill/>
        </p:spPr>
        <p:txBody>
          <a:bodyPr wrap="square" lIns="0" rIns="0" tIns="0" bIns="0" anchor="t">
            <a:spAutoFit/>
          </a:bodyPr>
          <a:lstStyle/>
          <a:p>
            <a:pPr algn="l">
              <a:lnSpc>
                <a:spcPct val="105000"/>
              </a:lnSpc>
            </a:pPr>
            <a:r>
              <a:rPr sz="2200" b="1" i="0">
                <a:solidFill>
                  <a:srgbClr val="0F172E"/>
                </a:solidFill>
                <a:latin typeface="Calibri"/>
              </a:rPr>
              <a:t>The third domain.</a:t>
            </a:r>
          </a:p>
        </p:txBody>
      </p:sp>
      <p:cxnSp>
        <p:nvCxnSpPr>
          <p:cNvPr id="41" name="Connector 40"/>
          <p:cNvCxnSpPr/>
          <p:nvPr/>
        </p:nvCxnSpPr>
        <p:spPr>
          <a:xfrm>
            <a:off x="8622792" y="3319271"/>
            <a:ext cx="3127248" cy="0"/>
          </a:xfrm>
          <a:prstGeom prst="line">
            <a:avLst/>
          </a:prstGeom>
          <a:ln w="9525">
            <a:solidFill>
              <a:srgbClr val="D8DFEE"/>
            </a:solidFill>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8622792" y="3598163"/>
            <a:ext cx="82296" cy="82296"/>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823960" y="3520439"/>
            <a:ext cx="2926080" cy="475488"/>
          </a:xfrm>
          <a:prstGeom prst="rect">
            <a:avLst/>
          </a:prstGeom>
          <a:noFill/>
        </p:spPr>
        <p:txBody>
          <a:bodyPr wrap="square" lIns="0" rIns="0" tIns="0" bIns="0">
            <a:spAutoFit/>
          </a:bodyPr>
          <a:lstStyle/>
          <a:p>
            <a:pPr>
              <a:lnSpc>
                <a:spcPct val="115000"/>
              </a:lnSpc>
            </a:pPr>
            <a:r>
              <a:rPr sz="1150">
                <a:solidFill>
                  <a:srgbClr val="4A5573"/>
                </a:solidFill>
                <a:latin typeface="Calibri"/>
              </a:rPr>
              <a:t>Published Seller Profiles free from day one (Schema.org SEO)</a:t>
            </a:r>
          </a:p>
        </p:txBody>
      </p:sp>
      <p:sp>
        <p:nvSpPr>
          <p:cNvPr id="44" name="Rectangle 43"/>
          <p:cNvSpPr/>
          <p:nvPr/>
        </p:nvSpPr>
        <p:spPr>
          <a:xfrm>
            <a:off x="8622792" y="4073651"/>
            <a:ext cx="82296" cy="82296"/>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823960" y="3995927"/>
            <a:ext cx="2926080" cy="475488"/>
          </a:xfrm>
          <a:prstGeom prst="rect">
            <a:avLst/>
          </a:prstGeom>
          <a:noFill/>
        </p:spPr>
        <p:txBody>
          <a:bodyPr wrap="square" lIns="0" rIns="0" tIns="0" bIns="0">
            <a:spAutoFit/>
          </a:bodyPr>
          <a:lstStyle/>
          <a:p>
            <a:pPr>
              <a:lnSpc>
                <a:spcPct val="115000"/>
              </a:lnSpc>
            </a:pPr>
            <a:r>
              <a:rPr sz="1150">
                <a:solidFill>
                  <a:srgbClr val="4A5573"/>
                </a:solidFill>
                <a:latin typeface="Calibri"/>
              </a:rPr>
              <a:t>Capability Declarations — machine-searchable positioning</a:t>
            </a:r>
          </a:p>
        </p:txBody>
      </p:sp>
      <p:sp>
        <p:nvSpPr>
          <p:cNvPr id="46" name="Rectangle 45"/>
          <p:cNvSpPr/>
          <p:nvPr/>
        </p:nvSpPr>
        <p:spPr>
          <a:xfrm>
            <a:off x="8622792" y="4549139"/>
            <a:ext cx="82296" cy="82296"/>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823960" y="4471415"/>
            <a:ext cx="2926080" cy="475488"/>
          </a:xfrm>
          <a:prstGeom prst="rect">
            <a:avLst/>
          </a:prstGeom>
          <a:noFill/>
        </p:spPr>
        <p:txBody>
          <a:bodyPr wrap="square" lIns="0" rIns="0" tIns="0" bIns="0">
            <a:spAutoFit/>
          </a:bodyPr>
          <a:lstStyle/>
          <a:p>
            <a:pPr>
              <a:lnSpc>
                <a:spcPct val="115000"/>
              </a:lnSpc>
            </a:pPr>
            <a:r>
              <a:rPr sz="1150">
                <a:solidFill>
                  <a:srgbClr val="4A5573"/>
                </a:solidFill>
                <a:latin typeface="Calibri"/>
              </a:rPr>
              <a:t>Buyer summary listings → Seller EOI → enter evaluation</a:t>
            </a:r>
          </a:p>
        </p:txBody>
      </p:sp>
      <p:sp>
        <p:nvSpPr>
          <p:cNvPr id="48" name="Rectangle 47"/>
          <p:cNvSpPr/>
          <p:nvPr/>
        </p:nvSpPr>
        <p:spPr>
          <a:xfrm>
            <a:off x="8622792" y="5024627"/>
            <a:ext cx="82296" cy="82296"/>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823960" y="4946903"/>
            <a:ext cx="2926080" cy="475488"/>
          </a:xfrm>
          <a:prstGeom prst="rect">
            <a:avLst/>
          </a:prstGeom>
          <a:noFill/>
        </p:spPr>
        <p:txBody>
          <a:bodyPr wrap="square" lIns="0" rIns="0" tIns="0" bIns="0">
            <a:spAutoFit/>
          </a:bodyPr>
          <a:lstStyle/>
          <a:p>
            <a:pPr>
              <a:lnSpc>
                <a:spcPct val="115000"/>
              </a:lnSpc>
            </a:pPr>
            <a:r>
              <a:rPr sz="1150">
                <a:solidFill>
                  <a:srgbClr val="4A5573"/>
                </a:solidFill>
                <a:latin typeface="Calibri"/>
              </a:rPr>
              <a:t>Verification tiers (Basic / Verified / Certified)</a:t>
            </a:r>
          </a:p>
        </p:txBody>
      </p:sp>
      <p:sp>
        <p:nvSpPr>
          <p:cNvPr id="50" name="Rectangle 49"/>
          <p:cNvSpPr/>
          <p:nvPr/>
        </p:nvSpPr>
        <p:spPr>
          <a:xfrm>
            <a:off x="8622792" y="5500115"/>
            <a:ext cx="82296" cy="82296"/>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823960" y="5422391"/>
            <a:ext cx="2926080" cy="475488"/>
          </a:xfrm>
          <a:prstGeom prst="rect">
            <a:avLst/>
          </a:prstGeom>
          <a:noFill/>
        </p:spPr>
        <p:txBody>
          <a:bodyPr wrap="square" lIns="0" rIns="0" tIns="0" bIns="0">
            <a:spAutoFit/>
          </a:bodyPr>
          <a:lstStyle/>
          <a:p>
            <a:pPr>
              <a:lnSpc>
                <a:spcPct val="115000"/>
              </a:lnSpc>
            </a:pPr>
            <a:r>
              <a:rPr sz="1150">
                <a:solidFill>
                  <a:srgbClr val="4A5573"/>
                </a:solidFill>
                <a:latin typeface="Calibri"/>
              </a:rPr>
              <a:t>Per-category organic-search moat via M9/M11/M12 surfaces</a:t>
            </a:r>
          </a:p>
        </p:txBody>
      </p:sp>
      <p:cxnSp>
        <p:nvCxnSpPr>
          <p:cNvPr id="52" name="Connector 51"/>
          <p:cNvCxnSpPr/>
          <p:nvPr/>
        </p:nvCxnSpPr>
        <p:spPr>
          <a:xfrm>
            <a:off x="548640" y="6355080"/>
            <a:ext cx="11094415" cy="0"/>
          </a:xfrm>
          <a:prstGeom prst="line">
            <a:avLst/>
          </a:prstGeom>
          <a:ln w="9525">
            <a:solidFill>
              <a:srgbClr val="D8DFEE"/>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548640" y="6437376"/>
            <a:ext cx="3657600" cy="274320"/>
          </a:xfrm>
          <a:prstGeom prst="rect">
            <a:avLst/>
          </a:prstGeom>
          <a:noFill/>
        </p:spPr>
        <p:txBody>
          <a:bodyPr wrap="square" lIns="0" rIns="0" tIns="0" bIns="0" anchor="t">
            <a:spAutoFit/>
          </a:bodyPr>
          <a:lstStyle/>
          <a:p>
            <a:pPr algn="l">
              <a:lnSpc>
                <a:spcPct val="115000"/>
              </a:lnSpc>
            </a:pPr>
            <a:r>
              <a:rPr sz="900" b="1" i="0">
                <a:solidFill>
                  <a:srgbClr val="4A5573"/>
                </a:solidFill>
                <a:latin typeface="Calibri"/>
              </a:rPr>
              <a:t>SOURCERA  ·  THE SOLUTION</a:t>
            </a:r>
          </a:p>
        </p:txBody>
      </p:sp>
      <p:sp>
        <p:nvSpPr>
          <p:cNvPr id="54" name="TextBox 53"/>
          <p:cNvSpPr txBox="1"/>
          <p:nvPr/>
        </p:nvSpPr>
        <p:spPr>
          <a:xfrm>
            <a:off x="10362895" y="6437376"/>
            <a:ext cx="1280160" cy="274320"/>
          </a:xfrm>
          <a:prstGeom prst="rect">
            <a:avLst/>
          </a:prstGeom>
          <a:noFill/>
        </p:spPr>
        <p:txBody>
          <a:bodyPr wrap="square" lIns="0" rIns="0" tIns="0" bIns="0" anchor="t">
            <a:spAutoFit/>
          </a:bodyPr>
          <a:lstStyle/>
          <a:p>
            <a:pPr algn="r">
              <a:lnSpc>
                <a:spcPct val="115000"/>
              </a:lnSpc>
            </a:pPr>
            <a:r>
              <a:rPr sz="900" b="0" i="0">
                <a:solidFill>
                  <a:srgbClr val="4A5573"/>
                </a:solidFill>
                <a:latin typeface="Calibri"/>
              </a:rPr>
              <a:t>04 / 19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4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21792"/>
            <a:ext cx="365760" cy="73152"/>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548640"/>
            <a:ext cx="9144000" cy="274320"/>
          </a:xfrm>
          <a:prstGeom prst="rect">
            <a:avLst/>
          </a:prstGeom>
          <a:noFill/>
        </p:spPr>
        <p:txBody>
          <a:bodyPr wrap="square" lIns="0" rIns="0" tIns="0" bIns="0" anchor="t">
            <a:spAutoFit/>
          </a:bodyPr>
          <a:lstStyle/>
          <a:p>
            <a:pPr algn="l">
              <a:lnSpc>
                <a:spcPct val="115000"/>
              </a:lnSpc>
            </a:pPr>
            <a:r>
              <a:rPr sz="1000" b="1" i="0">
                <a:solidFill>
                  <a:srgbClr val="4A7BFF"/>
                </a:solidFill>
                <a:latin typeface="Calibri"/>
              </a:rPr>
              <a:t>ARCHITECTURE</a:t>
            </a:r>
          </a:p>
        </p:txBody>
      </p:sp>
      <p:sp>
        <p:nvSpPr>
          <p:cNvPr id="5" name="TextBox 4"/>
          <p:cNvSpPr txBox="1"/>
          <p:nvPr/>
        </p:nvSpPr>
        <p:spPr>
          <a:xfrm>
            <a:off x="548640" y="822960"/>
            <a:ext cx="10972800" cy="822960"/>
          </a:xfrm>
          <a:prstGeom prst="rect">
            <a:avLst/>
          </a:prstGeom>
          <a:noFill/>
        </p:spPr>
        <p:txBody>
          <a:bodyPr wrap="square" lIns="0" rIns="0" tIns="0" bIns="0" anchor="t">
            <a:spAutoFit/>
          </a:bodyPr>
          <a:lstStyle/>
          <a:p>
            <a:pPr algn="l">
              <a:lnSpc>
                <a:spcPct val="105000"/>
              </a:lnSpc>
            </a:pPr>
            <a:r>
              <a:rPr sz="3600" b="1" i="0">
                <a:solidFill>
                  <a:srgbClr val="E8EDF7"/>
                </a:solidFill>
                <a:latin typeface="Calibri"/>
              </a:rPr>
              <a:t>One platform. Two consoles. A firewall at the query layer.</a:t>
            </a:r>
          </a:p>
        </p:txBody>
      </p:sp>
      <p:sp>
        <p:nvSpPr>
          <p:cNvPr id="6" name="TextBox 5"/>
          <p:cNvSpPr txBox="1"/>
          <p:nvPr/>
        </p:nvSpPr>
        <p:spPr>
          <a:xfrm>
            <a:off x="548640" y="1508760"/>
            <a:ext cx="10972800" cy="457200"/>
          </a:xfrm>
          <a:prstGeom prst="rect">
            <a:avLst/>
          </a:prstGeom>
          <a:noFill/>
        </p:spPr>
        <p:txBody>
          <a:bodyPr wrap="square" lIns="0" rIns="0" tIns="0" bIns="0" anchor="t">
            <a:spAutoFit/>
          </a:bodyPr>
          <a:lstStyle/>
          <a:p>
            <a:pPr algn="l">
              <a:lnSpc>
                <a:spcPct val="125000"/>
              </a:lnSpc>
            </a:pPr>
            <a:r>
              <a:rPr sz="1500" b="0" i="0">
                <a:solidFill>
                  <a:srgbClr val="A8B2CC"/>
                </a:solidFill>
                <a:latin typeface="Calibri"/>
              </a:rPr>
              <a:t>Buyers and sellers inside the same organization — without ever leaking internal data across the wall.</a:t>
            </a:r>
          </a:p>
        </p:txBody>
      </p:sp>
      <p:sp>
        <p:nvSpPr>
          <p:cNvPr id="7" name="Rectangle 6"/>
          <p:cNvSpPr/>
          <p:nvPr/>
        </p:nvSpPr>
        <p:spPr>
          <a:xfrm>
            <a:off x="548640" y="2194560"/>
            <a:ext cx="4937760" cy="3108960"/>
          </a:xfrm>
          <a:prstGeom prst="rect">
            <a:avLst/>
          </a:prstGeom>
          <a:solidFill>
            <a:srgbClr val="121E4A"/>
          </a:solidFill>
          <a:ln>
            <a:solidFill>
              <a:srgbClr val="2E55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468880"/>
            <a:ext cx="3657600" cy="320040"/>
          </a:xfrm>
          <a:prstGeom prst="rect">
            <a:avLst/>
          </a:prstGeom>
          <a:noFill/>
        </p:spPr>
        <p:txBody>
          <a:bodyPr wrap="square" lIns="0" rIns="0" tIns="0" bIns="0" anchor="t">
            <a:spAutoFit/>
          </a:bodyPr>
          <a:lstStyle/>
          <a:p>
            <a:pPr algn="l">
              <a:lnSpc>
                <a:spcPct val="115000"/>
              </a:lnSpc>
            </a:pPr>
            <a:r>
              <a:rPr sz="1100" b="1" i="0">
                <a:solidFill>
                  <a:srgbClr val="4A7BFF"/>
                </a:solidFill>
                <a:latin typeface="Calibri"/>
              </a:rPr>
              <a:t>BUYER CONSOLE</a:t>
            </a:r>
          </a:p>
        </p:txBody>
      </p:sp>
      <p:sp>
        <p:nvSpPr>
          <p:cNvPr id="9" name="TextBox 8"/>
          <p:cNvSpPr txBox="1"/>
          <p:nvPr/>
        </p:nvSpPr>
        <p:spPr>
          <a:xfrm>
            <a:off x="914400" y="2743200"/>
            <a:ext cx="4114800" cy="502920"/>
          </a:xfrm>
          <a:prstGeom prst="rect">
            <a:avLst/>
          </a:prstGeom>
          <a:noFill/>
        </p:spPr>
        <p:txBody>
          <a:bodyPr wrap="square" lIns="0" rIns="0" tIns="0" bIns="0" anchor="t">
            <a:spAutoFit/>
          </a:bodyPr>
          <a:lstStyle/>
          <a:p>
            <a:pPr algn="l">
              <a:lnSpc>
                <a:spcPct val="115000"/>
              </a:lnSpc>
            </a:pPr>
            <a:r>
              <a:rPr sz="2200" b="1" i="0">
                <a:solidFill>
                  <a:srgbClr val="FFFFFF"/>
                </a:solidFill>
                <a:latin typeface="Calibri"/>
              </a:rPr>
              <a:t>Run evaluations.</a:t>
            </a:r>
          </a:p>
        </p:txBody>
      </p:sp>
      <p:sp>
        <p:nvSpPr>
          <p:cNvPr id="10" name="Rectangle 9"/>
          <p:cNvSpPr/>
          <p:nvPr/>
        </p:nvSpPr>
        <p:spPr>
          <a:xfrm>
            <a:off x="914400" y="3506724"/>
            <a:ext cx="82296" cy="82296"/>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15568" y="3429000"/>
            <a:ext cx="4005072" cy="310896"/>
          </a:xfrm>
          <a:prstGeom prst="rect">
            <a:avLst/>
          </a:prstGeom>
          <a:noFill/>
        </p:spPr>
        <p:txBody>
          <a:bodyPr wrap="square" lIns="0" rIns="0" tIns="0" bIns="0">
            <a:spAutoFit/>
          </a:bodyPr>
          <a:lstStyle/>
          <a:p>
            <a:pPr>
              <a:lnSpc>
                <a:spcPct val="115000"/>
              </a:lnSpc>
            </a:pPr>
            <a:r>
              <a:rPr sz="1100">
                <a:solidFill>
                  <a:srgbClr val="E8EDF7"/>
                </a:solidFill>
                <a:latin typeface="Calibri"/>
              </a:rPr>
              <a:t>Workspaces, Use Cases, Requirements (global IDs)</a:t>
            </a:r>
          </a:p>
        </p:txBody>
      </p:sp>
      <p:sp>
        <p:nvSpPr>
          <p:cNvPr id="12" name="Rectangle 11"/>
          <p:cNvSpPr/>
          <p:nvPr/>
        </p:nvSpPr>
        <p:spPr>
          <a:xfrm>
            <a:off x="914400" y="3817620"/>
            <a:ext cx="82296" cy="82296"/>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5568" y="3739896"/>
            <a:ext cx="4005072" cy="310896"/>
          </a:xfrm>
          <a:prstGeom prst="rect">
            <a:avLst/>
          </a:prstGeom>
          <a:noFill/>
        </p:spPr>
        <p:txBody>
          <a:bodyPr wrap="square" lIns="0" rIns="0" tIns="0" bIns="0">
            <a:spAutoFit/>
          </a:bodyPr>
          <a:lstStyle/>
          <a:p>
            <a:pPr>
              <a:lnSpc>
                <a:spcPct val="115000"/>
              </a:lnSpc>
            </a:pPr>
            <a:r>
              <a:rPr sz="1100">
                <a:solidFill>
                  <a:srgbClr val="E8EDF7"/>
                </a:solidFill>
                <a:latin typeface="Calibri"/>
              </a:rPr>
              <a:t>Horizontal Teams (Legal · InfoSec · IT · Finance)</a:t>
            </a:r>
          </a:p>
        </p:txBody>
      </p:sp>
      <p:sp>
        <p:nvSpPr>
          <p:cNvPr id="14" name="Rectangle 13"/>
          <p:cNvSpPr/>
          <p:nvPr/>
        </p:nvSpPr>
        <p:spPr>
          <a:xfrm>
            <a:off x="914400" y="4128516"/>
            <a:ext cx="82296" cy="82296"/>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15568" y="4050792"/>
            <a:ext cx="4005072" cy="310896"/>
          </a:xfrm>
          <a:prstGeom prst="rect">
            <a:avLst/>
          </a:prstGeom>
          <a:noFill/>
        </p:spPr>
        <p:txBody>
          <a:bodyPr wrap="square" lIns="0" rIns="0" tIns="0" bIns="0">
            <a:spAutoFit/>
          </a:bodyPr>
          <a:lstStyle/>
          <a:p>
            <a:pPr>
              <a:lnSpc>
                <a:spcPct val="115000"/>
              </a:lnSpc>
            </a:pPr>
            <a:r>
              <a:rPr sz="1100">
                <a:solidFill>
                  <a:srgbClr val="E8EDF7"/>
                </a:solidFill>
                <a:latin typeface="Calibri"/>
              </a:rPr>
              <a:t>Policy-powered requirements · TCO · scenario modeling</a:t>
            </a:r>
          </a:p>
        </p:txBody>
      </p:sp>
      <p:sp>
        <p:nvSpPr>
          <p:cNvPr id="16" name="Rectangle 15"/>
          <p:cNvSpPr/>
          <p:nvPr/>
        </p:nvSpPr>
        <p:spPr>
          <a:xfrm>
            <a:off x="914400" y="4439412"/>
            <a:ext cx="82296" cy="82296"/>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15568" y="4361688"/>
            <a:ext cx="4005072" cy="310896"/>
          </a:xfrm>
          <a:prstGeom prst="rect">
            <a:avLst/>
          </a:prstGeom>
          <a:noFill/>
        </p:spPr>
        <p:txBody>
          <a:bodyPr wrap="square" lIns="0" rIns="0" tIns="0" bIns="0">
            <a:spAutoFit/>
          </a:bodyPr>
          <a:lstStyle/>
          <a:p>
            <a:pPr>
              <a:lnSpc>
                <a:spcPct val="115000"/>
              </a:lnSpc>
            </a:pPr>
            <a:r>
              <a:rPr sz="1100">
                <a:solidFill>
                  <a:srgbClr val="E8EDF7"/>
                </a:solidFill>
                <a:latin typeface="Calibri"/>
              </a:rPr>
              <a:t>Pulse Health Score · Selection Report · audit log</a:t>
            </a:r>
          </a:p>
        </p:txBody>
      </p:sp>
      <p:sp>
        <p:nvSpPr>
          <p:cNvPr id="18" name="Rectangle 17"/>
          <p:cNvSpPr/>
          <p:nvPr/>
        </p:nvSpPr>
        <p:spPr>
          <a:xfrm>
            <a:off x="914400" y="4750308"/>
            <a:ext cx="82296" cy="82296"/>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15568" y="4672584"/>
            <a:ext cx="4005072" cy="310896"/>
          </a:xfrm>
          <a:prstGeom prst="rect">
            <a:avLst/>
          </a:prstGeom>
          <a:noFill/>
        </p:spPr>
        <p:txBody>
          <a:bodyPr wrap="square" lIns="0" rIns="0" tIns="0" bIns="0">
            <a:spAutoFit/>
          </a:bodyPr>
          <a:lstStyle/>
          <a:p>
            <a:pPr>
              <a:lnSpc>
                <a:spcPct val="115000"/>
              </a:lnSpc>
            </a:pPr>
            <a:r>
              <a:rPr sz="1100">
                <a:solidFill>
                  <a:srgbClr val="E8EDF7"/>
                </a:solidFill>
                <a:latin typeface="Calibri"/>
              </a:rPr>
              <a:t>Own Agent, own KB, own vendors — no seller visibility</a:t>
            </a:r>
          </a:p>
        </p:txBody>
      </p:sp>
      <p:sp>
        <p:nvSpPr>
          <p:cNvPr id="20" name="Rectangle 19"/>
          <p:cNvSpPr/>
          <p:nvPr/>
        </p:nvSpPr>
        <p:spPr>
          <a:xfrm>
            <a:off x="5760720" y="2194560"/>
            <a:ext cx="640080" cy="3337560"/>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rot="16200000">
            <a:off x="4411980" y="3543300"/>
            <a:ext cx="3337560" cy="640080"/>
          </a:xfrm>
          <a:prstGeom prst="rect">
            <a:avLst/>
          </a:prstGeom>
          <a:noFill/>
        </p:spPr>
        <p:txBody>
          <a:bodyPr wrap="none" lIns="0" rIns="0" tIns="0" bIns="0" anchor="ctr">
            <a:spAutoFit/>
          </a:bodyPr>
          <a:lstStyle/>
          <a:p>
            <a:pPr algn="ctr"/>
            <a:r>
              <a:rPr sz="1200" b="1">
                <a:solidFill>
                  <a:srgbClr val="0A1432"/>
                </a:solidFill>
                <a:latin typeface="Calibri"/>
              </a:rPr>
              <a:t>DB-LEVEL ISOLATION  ·  FIREWALL</a:t>
            </a:r>
          </a:p>
        </p:txBody>
      </p:sp>
      <p:sp>
        <p:nvSpPr>
          <p:cNvPr id="22" name="Rectangle 21"/>
          <p:cNvSpPr/>
          <p:nvPr/>
        </p:nvSpPr>
        <p:spPr>
          <a:xfrm>
            <a:off x="6675120" y="2194560"/>
            <a:ext cx="4937760" cy="3108960"/>
          </a:xfrm>
          <a:prstGeom prst="rect">
            <a:avLst/>
          </a:prstGeom>
          <a:solidFill>
            <a:srgbClr val="121E4A"/>
          </a:solidFill>
          <a:ln>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0" y="2468880"/>
            <a:ext cx="3657600" cy="320040"/>
          </a:xfrm>
          <a:prstGeom prst="rect">
            <a:avLst/>
          </a:prstGeom>
          <a:noFill/>
        </p:spPr>
        <p:txBody>
          <a:bodyPr wrap="square" lIns="0" rIns="0" tIns="0" bIns="0" anchor="t">
            <a:spAutoFit/>
          </a:bodyPr>
          <a:lstStyle/>
          <a:p>
            <a:pPr algn="l">
              <a:lnSpc>
                <a:spcPct val="115000"/>
              </a:lnSpc>
            </a:pPr>
            <a:r>
              <a:rPr sz="1100" b="1" i="0">
                <a:solidFill>
                  <a:srgbClr val="7C3AED"/>
                </a:solidFill>
                <a:latin typeface="Calibri"/>
              </a:rPr>
              <a:t>SELLER CONSOLE</a:t>
            </a:r>
          </a:p>
        </p:txBody>
      </p:sp>
      <p:sp>
        <p:nvSpPr>
          <p:cNvPr id="24" name="TextBox 23"/>
          <p:cNvSpPr txBox="1"/>
          <p:nvPr/>
        </p:nvSpPr>
        <p:spPr>
          <a:xfrm>
            <a:off x="7040880" y="2743200"/>
            <a:ext cx="4114800" cy="502920"/>
          </a:xfrm>
          <a:prstGeom prst="rect">
            <a:avLst/>
          </a:prstGeom>
          <a:noFill/>
        </p:spPr>
        <p:txBody>
          <a:bodyPr wrap="square" lIns="0" rIns="0" tIns="0" bIns="0" anchor="t">
            <a:spAutoFit/>
          </a:bodyPr>
          <a:lstStyle/>
          <a:p>
            <a:pPr algn="l">
              <a:lnSpc>
                <a:spcPct val="115000"/>
              </a:lnSpc>
            </a:pPr>
            <a:r>
              <a:rPr sz="2200" b="1" i="0">
                <a:solidFill>
                  <a:srgbClr val="FFFFFF"/>
                </a:solidFill>
                <a:latin typeface="Calibri"/>
              </a:rPr>
              <a:t>Respond to evaluations.</a:t>
            </a:r>
          </a:p>
        </p:txBody>
      </p:sp>
      <p:sp>
        <p:nvSpPr>
          <p:cNvPr id="25" name="Rectangle 24"/>
          <p:cNvSpPr/>
          <p:nvPr/>
        </p:nvSpPr>
        <p:spPr>
          <a:xfrm>
            <a:off x="7040880" y="3506724"/>
            <a:ext cx="82296"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42048" y="3429000"/>
            <a:ext cx="4005072" cy="310896"/>
          </a:xfrm>
          <a:prstGeom prst="rect">
            <a:avLst/>
          </a:prstGeom>
          <a:noFill/>
        </p:spPr>
        <p:txBody>
          <a:bodyPr wrap="square" lIns="0" rIns="0" tIns="0" bIns="0">
            <a:spAutoFit/>
          </a:bodyPr>
          <a:lstStyle/>
          <a:p>
            <a:pPr>
              <a:lnSpc>
                <a:spcPct val="115000"/>
              </a:lnSpc>
            </a:pPr>
            <a:r>
              <a:rPr sz="1100">
                <a:solidFill>
                  <a:srgbClr val="E8EDF7"/>
                </a:solidFill>
                <a:latin typeface="Calibri"/>
              </a:rPr>
              <a:t>Bid Workspaces mirroring buyer structure</a:t>
            </a:r>
          </a:p>
        </p:txBody>
      </p:sp>
      <p:sp>
        <p:nvSpPr>
          <p:cNvPr id="27" name="Rectangle 26"/>
          <p:cNvSpPr/>
          <p:nvPr/>
        </p:nvSpPr>
        <p:spPr>
          <a:xfrm>
            <a:off x="7040880" y="3817620"/>
            <a:ext cx="82296"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42048" y="3739896"/>
            <a:ext cx="4005072" cy="310896"/>
          </a:xfrm>
          <a:prstGeom prst="rect">
            <a:avLst/>
          </a:prstGeom>
          <a:noFill/>
        </p:spPr>
        <p:txBody>
          <a:bodyPr wrap="square" lIns="0" rIns="0" tIns="0" bIns="0">
            <a:spAutoFit/>
          </a:bodyPr>
          <a:lstStyle/>
          <a:p>
            <a:pPr>
              <a:lnSpc>
                <a:spcPct val="115000"/>
              </a:lnSpc>
            </a:pPr>
            <a:r>
              <a:rPr sz="1100">
                <a:solidFill>
                  <a:srgbClr val="E8EDF7"/>
                </a:solidFill>
                <a:latin typeface="Calibri"/>
              </a:rPr>
              <a:t>Self-governing Knowledge Base + Firecrawl automation</a:t>
            </a:r>
          </a:p>
        </p:txBody>
      </p:sp>
      <p:sp>
        <p:nvSpPr>
          <p:cNvPr id="29" name="Rectangle 28"/>
          <p:cNvSpPr/>
          <p:nvPr/>
        </p:nvSpPr>
        <p:spPr>
          <a:xfrm>
            <a:off x="7040880" y="4128516"/>
            <a:ext cx="82296"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42048" y="4050792"/>
            <a:ext cx="4005072" cy="310896"/>
          </a:xfrm>
          <a:prstGeom prst="rect">
            <a:avLst/>
          </a:prstGeom>
          <a:noFill/>
        </p:spPr>
        <p:txBody>
          <a:bodyPr wrap="square" lIns="0" rIns="0" tIns="0" bIns="0">
            <a:spAutoFit/>
          </a:bodyPr>
          <a:lstStyle/>
          <a:p>
            <a:pPr>
              <a:lnSpc>
                <a:spcPct val="115000"/>
              </a:lnSpc>
            </a:pPr>
            <a:r>
              <a:rPr sz="1100">
                <a:solidFill>
                  <a:srgbClr val="E8EDF7"/>
                </a:solidFill>
                <a:latin typeface="Calibri"/>
              </a:rPr>
              <a:t>First-Pass RFP Draft · Q&amp;A Suggestion · KB-gap detect</a:t>
            </a:r>
          </a:p>
        </p:txBody>
      </p:sp>
      <p:sp>
        <p:nvSpPr>
          <p:cNvPr id="31" name="Rectangle 30"/>
          <p:cNvSpPr/>
          <p:nvPr/>
        </p:nvSpPr>
        <p:spPr>
          <a:xfrm>
            <a:off x="7040880" y="4439412"/>
            <a:ext cx="82296"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42048" y="4361688"/>
            <a:ext cx="4005072" cy="310896"/>
          </a:xfrm>
          <a:prstGeom prst="rect">
            <a:avLst/>
          </a:prstGeom>
          <a:noFill/>
        </p:spPr>
        <p:txBody>
          <a:bodyPr wrap="square" lIns="0" rIns="0" tIns="0" bIns="0">
            <a:spAutoFit/>
          </a:bodyPr>
          <a:lstStyle/>
          <a:p>
            <a:pPr>
              <a:lnSpc>
                <a:spcPct val="115000"/>
              </a:lnSpc>
            </a:pPr>
            <a:r>
              <a:rPr sz="1100">
                <a:solidFill>
                  <a:srgbClr val="E8EDF7"/>
                </a:solidFill>
                <a:latin typeface="Calibri"/>
              </a:rPr>
              <a:t>CRM Sync (Salesforce · HubSpot · Dynamics · Pipedrive)</a:t>
            </a:r>
          </a:p>
        </p:txBody>
      </p:sp>
      <p:sp>
        <p:nvSpPr>
          <p:cNvPr id="33" name="Rectangle 32"/>
          <p:cNvSpPr/>
          <p:nvPr/>
        </p:nvSpPr>
        <p:spPr>
          <a:xfrm>
            <a:off x="7040880" y="4750308"/>
            <a:ext cx="82296"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42048" y="4672584"/>
            <a:ext cx="4005072" cy="310896"/>
          </a:xfrm>
          <a:prstGeom prst="rect">
            <a:avLst/>
          </a:prstGeom>
          <a:noFill/>
        </p:spPr>
        <p:txBody>
          <a:bodyPr wrap="square" lIns="0" rIns="0" tIns="0" bIns="0">
            <a:spAutoFit/>
          </a:bodyPr>
          <a:lstStyle/>
          <a:p>
            <a:pPr>
              <a:lnSpc>
                <a:spcPct val="115000"/>
              </a:lnSpc>
            </a:pPr>
            <a:r>
              <a:rPr sz="1100">
                <a:solidFill>
                  <a:srgbClr val="E8EDF7"/>
                </a:solidFill>
                <a:latin typeface="Calibri"/>
              </a:rPr>
              <a:t>Own Agent, own KB — no buyer visibility</a:t>
            </a:r>
          </a:p>
        </p:txBody>
      </p:sp>
      <p:sp>
        <p:nvSpPr>
          <p:cNvPr id="35" name="Rectangle 34"/>
          <p:cNvSpPr/>
          <p:nvPr/>
        </p:nvSpPr>
        <p:spPr>
          <a:xfrm>
            <a:off x="548640" y="5532120"/>
            <a:ext cx="11094415" cy="640080"/>
          </a:xfrm>
          <a:prstGeom prst="rect">
            <a:avLst/>
          </a:prstGeom>
          <a:solidFill>
            <a:srgbClr val="1E2B5C"/>
          </a:solidFill>
          <a:ln>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2960" y="5623560"/>
            <a:ext cx="3657600" cy="274320"/>
          </a:xfrm>
          <a:prstGeom prst="rect">
            <a:avLst/>
          </a:prstGeom>
          <a:noFill/>
        </p:spPr>
        <p:txBody>
          <a:bodyPr wrap="square" lIns="0" rIns="0" tIns="0" bIns="0" anchor="t">
            <a:spAutoFit/>
          </a:bodyPr>
          <a:lstStyle/>
          <a:p>
            <a:pPr algn="l">
              <a:lnSpc>
                <a:spcPct val="115000"/>
              </a:lnSpc>
            </a:pPr>
            <a:r>
              <a:rPr sz="1000" b="1" i="0">
                <a:solidFill>
                  <a:srgbClr val="14B8A6"/>
                </a:solidFill>
                <a:latin typeface="Calibri"/>
              </a:rPr>
              <a:t>MARKETPLACE DOMAIN</a:t>
            </a:r>
          </a:p>
        </p:txBody>
      </p:sp>
      <p:sp>
        <p:nvSpPr>
          <p:cNvPr id="37" name="TextBox 36"/>
          <p:cNvSpPr txBox="1"/>
          <p:nvPr/>
        </p:nvSpPr>
        <p:spPr>
          <a:xfrm>
            <a:off x="822960" y="5852160"/>
            <a:ext cx="10545775" cy="274320"/>
          </a:xfrm>
          <a:prstGeom prst="rect">
            <a:avLst/>
          </a:prstGeom>
          <a:noFill/>
        </p:spPr>
        <p:txBody>
          <a:bodyPr wrap="square" lIns="0" rIns="0" tIns="0" bIns="0" anchor="t">
            <a:spAutoFit/>
          </a:bodyPr>
          <a:lstStyle/>
          <a:p>
            <a:pPr algn="l">
              <a:lnSpc>
                <a:spcPct val="115000"/>
              </a:lnSpc>
            </a:pPr>
            <a:r>
              <a:rPr sz="1200" b="0" i="0">
                <a:solidFill>
                  <a:srgbClr val="E8EDF7"/>
                </a:solidFill>
                <a:latin typeface="Calibri"/>
              </a:rPr>
              <a:t>Third domain, separate access rules — where buyer listings meet seller Capability Declarations.</a:t>
            </a:r>
          </a:p>
        </p:txBody>
      </p:sp>
      <p:sp>
        <p:nvSpPr>
          <p:cNvPr id="38" name="TextBox 37"/>
          <p:cNvSpPr txBox="1"/>
          <p:nvPr/>
        </p:nvSpPr>
        <p:spPr>
          <a:xfrm>
            <a:off x="548640" y="1874519"/>
            <a:ext cx="11094415" cy="274320"/>
          </a:xfrm>
          <a:prstGeom prst="rect">
            <a:avLst/>
          </a:prstGeom>
          <a:noFill/>
        </p:spPr>
        <p:txBody>
          <a:bodyPr wrap="square" lIns="0" rIns="0" tIns="0" bIns="0" anchor="t">
            <a:spAutoFit/>
          </a:bodyPr>
          <a:lstStyle/>
          <a:p>
            <a:pPr algn="l">
              <a:lnSpc>
                <a:spcPct val="115000"/>
              </a:lnSpc>
            </a:pPr>
            <a:r>
              <a:rPr sz="1100" b="0" i="1">
                <a:solidFill>
                  <a:srgbClr val="A8B2CC"/>
                </a:solidFill>
                <a:latin typeface="Calibri"/>
              </a:rPr>
              <a:t>Enforced at the database query level — not just UI. Console-scoped queries require both org_id and console parameters.</a:t>
            </a:r>
          </a:p>
        </p:txBody>
      </p:sp>
      <p:cxnSp>
        <p:nvCxnSpPr>
          <p:cNvPr id="39" name="Connector 38"/>
          <p:cNvCxnSpPr/>
          <p:nvPr/>
        </p:nvCxnSpPr>
        <p:spPr>
          <a:xfrm>
            <a:off x="548640" y="6355080"/>
            <a:ext cx="11094415" cy="0"/>
          </a:xfrm>
          <a:prstGeom prst="line">
            <a:avLst/>
          </a:prstGeom>
          <a:ln w="9525">
            <a:solidFill>
              <a:srgbClr val="1E2B5C"/>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48640" y="6437376"/>
            <a:ext cx="3657600" cy="274320"/>
          </a:xfrm>
          <a:prstGeom prst="rect">
            <a:avLst/>
          </a:prstGeom>
          <a:noFill/>
        </p:spPr>
        <p:txBody>
          <a:bodyPr wrap="square" lIns="0" rIns="0" tIns="0" bIns="0" anchor="t">
            <a:spAutoFit/>
          </a:bodyPr>
          <a:lstStyle/>
          <a:p>
            <a:pPr algn="l">
              <a:lnSpc>
                <a:spcPct val="115000"/>
              </a:lnSpc>
            </a:pPr>
            <a:r>
              <a:rPr sz="900" b="1" i="0">
                <a:solidFill>
                  <a:srgbClr val="A8B2CC"/>
                </a:solidFill>
                <a:latin typeface="Calibri"/>
              </a:rPr>
              <a:t>SOURCERA  ·  ARCHITECTURE</a:t>
            </a:r>
          </a:p>
        </p:txBody>
      </p:sp>
      <p:sp>
        <p:nvSpPr>
          <p:cNvPr id="41" name="TextBox 40"/>
          <p:cNvSpPr txBox="1"/>
          <p:nvPr/>
        </p:nvSpPr>
        <p:spPr>
          <a:xfrm>
            <a:off x="10362895" y="6437376"/>
            <a:ext cx="1280160" cy="274320"/>
          </a:xfrm>
          <a:prstGeom prst="rect">
            <a:avLst/>
          </a:prstGeom>
          <a:noFill/>
        </p:spPr>
        <p:txBody>
          <a:bodyPr wrap="square" lIns="0" rIns="0" tIns="0" bIns="0" anchor="t">
            <a:spAutoFit/>
          </a:bodyPr>
          <a:lstStyle/>
          <a:p>
            <a:pPr algn="r">
              <a:lnSpc>
                <a:spcPct val="115000"/>
              </a:lnSpc>
            </a:pPr>
            <a:r>
              <a:rPr sz="900" b="0" i="0">
                <a:solidFill>
                  <a:srgbClr val="A8B2CC"/>
                </a:solidFill>
                <a:latin typeface="Calibri"/>
              </a:rPr>
              <a:t>05 / 19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21792"/>
            <a:ext cx="365760" cy="73152"/>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548640"/>
            <a:ext cx="9144000" cy="274320"/>
          </a:xfrm>
          <a:prstGeom prst="rect">
            <a:avLst/>
          </a:prstGeom>
          <a:noFill/>
        </p:spPr>
        <p:txBody>
          <a:bodyPr wrap="square" lIns="0" rIns="0" tIns="0" bIns="0" anchor="t">
            <a:spAutoFit/>
          </a:bodyPr>
          <a:lstStyle/>
          <a:p>
            <a:pPr algn="l">
              <a:lnSpc>
                <a:spcPct val="115000"/>
              </a:lnSpc>
            </a:pPr>
            <a:r>
              <a:rPr sz="1000" b="1" i="0">
                <a:solidFill>
                  <a:srgbClr val="4A7BFF"/>
                </a:solidFill>
                <a:latin typeface="Calibri"/>
              </a:rPr>
              <a:t>HOW IT WORKS</a:t>
            </a:r>
          </a:p>
        </p:txBody>
      </p:sp>
      <p:sp>
        <p:nvSpPr>
          <p:cNvPr id="5" name="TextBox 4"/>
          <p:cNvSpPr txBox="1"/>
          <p:nvPr/>
        </p:nvSpPr>
        <p:spPr>
          <a:xfrm>
            <a:off x="548640" y="822960"/>
            <a:ext cx="10972800" cy="822960"/>
          </a:xfrm>
          <a:prstGeom prst="rect">
            <a:avLst/>
          </a:prstGeom>
          <a:noFill/>
        </p:spPr>
        <p:txBody>
          <a:bodyPr wrap="square" lIns="0" rIns="0" tIns="0" bIns="0" anchor="t">
            <a:spAutoFit/>
          </a:bodyPr>
          <a:lstStyle/>
          <a:p>
            <a:pPr algn="l">
              <a:lnSpc>
                <a:spcPct val="105000"/>
              </a:lnSpc>
            </a:pPr>
            <a:r>
              <a:rPr sz="3600" b="1" i="0">
                <a:solidFill>
                  <a:srgbClr val="0F172E"/>
                </a:solidFill>
                <a:latin typeface="Calibri"/>
              </a:rPr>
              <a:t>A fixed 13-phase evaluation pipeline.</a:t>
            </a:r>
          </a:p>
        </p:txBody>
      </p:sp>
      <p:sp>
        <p:nvSpPr>
          <p:cNvPr id="6" name="TextBox 5"/>
          <p:cNvSpPr txBox="1"/>
          <p:nvPr/>
        </p:nvSpPr>
        <p:spPr>
          <a:xfrm>
            <a:off x="548640" y="1508760"/>
            <a:ext cx="10972800" cy="457200"/>
          </a:xfrm>
          <a:prstGeom prst="rect">
            <a:avLst/>
          </a:prstGeom>
          <a:noFill/>
        </p:spPr>
        <p:txBody>
          <a:bodyPr wrap="square" lIns="0" rIns="0" tIns="0" bIns="0" anchor="t">
            <a:spAutoFit/>
          </a:bodyPr>
          <a:lstStyle/>
          <a:p>
            <a:pPr algn="l">
              <a:lnSpc>
                <a:spcPct val="125000"/>
              </a:lnSpc>
            </a:pPr>
            <a:r>
              <a:rPr sz="1500" b="0" i="0">
                <a:solidFill>
                  <a:srgbClr val="4A5573"/>
                </a:solidFill>
                <a:latin typeface="Calibri"/>
              </a:rPr>
              <a:t>Gate-validated, phase-aware, audit-by-construction. No phase skipped, no scoring without weights, no response without immutability.</a:t>
            </a:r>
          </a:p>
        </p:txBody>
      </p:sp>
      <p:sp>
        <p:nvSpPr>
          <p:cNvPr id="7" name="Rectangle 6"/>
          <p:cNvSpPr/>
          <p:nvPr/>
        </p:nvSpPr>
        <p:spPr>
          <a:xfrm>
            <a:off x="457200" y="2011680"/>
            <a:ext cx="841248" cy="256032"/>
          </a:xfrm>
          <a:prstGeom prst="rect">
            <a:avLst/>
          </a:prstGeom>
          <a:solidFill>
            <a:srgbClr val="2E5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029968"/>
            <a:ext cx="841248" cy="219456"/>
          </a:xfrm>
          <a:prstGeom prst="rect">
            <a:avLst/>
          </a:prstGeom>
          <a:noFill/>
        </p:spPr>
        <p:txBody>
          <a:bodyPr wrap="square" lIns="0" rIns="0" tIns="0" bIns="0" anchor="t">
            <a:spAutoFit/>
          </a:bodyPr>
          <a:lstStyle/>
          <a:p>
            <a:pPr algn="ctr">
              <a:lnSpc>
                <a:spcPct val="115000"/>
              </a:lnSpc>
            </a:pPr>
            <a:r>
              <a:rPr sz="900" b="1" i="0">
                <a:solidFill>
                  <a:srgbClr val="FFFFFF"/>
                </a:solidFill>
                <a:latin typeface="Calibri"/>
              </a:rPr>
              <a:t>PLAN</a:t>
            </a:r>
          </a:p>
        </p:txBody>
      </p:sp>
      <p:sp>
        <p:nvSpPr>
          <p:cNvPr id="9" name="Rectangle 8"/>
          <p:cNvSpPr/>
          <p:nvPr/>
        </p:nvSpPr>
        <p:spPr>
          <a:xfrm>
            <a:off x="1344168" y="2011680"/>
            <a:ext cx="1728216" cy="256032"/>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4168" y="2029968"/>
            <a:ext cx="1728216" cy="219456"/>
          </a:xfrm>
          <a:prstGeom prst="rect">
            <a:avLst/>
          </a:prstGeom>
          <a:noFill/>
        </p:spPr>
        <p:txBody>
          <a:bodyPr wrap="square" lIns="0" rIns="0" tIns="0" bIns="0" anchor="t">
            <a:spAutoFit/>
          </a:bodyPr>
          <a:lstStyle/>
          <a:p>
            <a:pPr algn="ctr">
              <a:lnSpc>
                <a:spcPct val="115000"/>
              </a:lnSpc>
            </a:pPr>
            <a:r>
              <a:rPr sz="900" b="1" i="0">
                <a:solidFill>
                  <a:srgbClr val="FFFFFF"/>
                </a:solidFill>
                <a:latin typeface="Calibri"/>
              </a:rPr>
              <a:t>DEFINE</a:t>
            </a:r>
          </a:p>
        </p:txBody>
      </p:sp>
      <p:sp>
        <p:nvSpPr>
          <p:cNvPr id="11" name="Rectangle 10"/>
          <p:cNvSpPr/>
          <p:nvPr/>
        </p:nvSpPr>
        <p:spPr>
          <a:xfrm>
            <a:off x="3118104" y="2011680"/>
            <a:ext cx="1728216" cy="256032"/>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118104" y="2029968"/>
            <a:ext cx="1728216" cy="219456"/>
          </a:xfrm>
          <a:prstGeom prst="rect">
            <a:avLst/>
          </a:prstGeom>
          <a:noFill/>
        </p:spPr>
        <p:txBody>
          <a:bodyPr wrap="square" lIns="0" rIns="0" tIns="0" bIns="0" anchor="t">
            <a:spAutoFit/>
          </a:bodyPr>
          <a:lstStyle/>
          <a:p>
            <a:pPr algn="ctr">
              <a:lnSpc>
                <a:spcPct val="115000"/>
              </a:lnSpc>
            </a:pPr>
            <a:r>
              <a:rPr sz="900" b="1" i="0">
                <a:solidFill>
                  <a:srgbClr val="FFFFFF"/>
                </a:solidFill>
                <a:latin typeface="Calibri"/>
              </a:rPr>
              <a:t>DISCOVER</a:t>
            </a:r>
          </a:p>
        </p:txBody>
      </p:sp>
      <p:sp>
        <p:nvSpPr>
          <p:cNvPr id="13" name="Rectangle 12"/>
          <p:cNvSpPr/>
          <p:nvPr/>
        </p:nvSpPr>
        <p:spPr>
          <a:xfrm>
            <a:off x="4892040" y="2011680"/>
            <a:ext cx="3502152" cy="2560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92040" y="2029968"/>
            <a:ext cx="3502152" cy="219456"/>
          </a:xfrm>
          <a:prstGeom prst="rect">
            <a:avLst/>
          </a:prstGeom>
          <a:noFill/>
        </p:spPr>
        <p:txBody>
          <a:bodyPr wrap="square" lIns="0" rIns="0" tIns="0" bIns="0" anchor="t">
            <a:spAutoFit/>
          </a:bodyPr>
          <a:lstStyle/>
          <a:p>
            <a:pPr algn="ctr">
              <a:lnSpc>
                <a:spcPct val="115000"/>
              </a:lnSpc>
            </a:pPr>
            <a:r>
              <a:rPr sz="900" b="1" i="0">
                <a:solidFill>
                  <a:srgbClr val="FFFFFF"/>
                </a:solidFill>
                <a:latin typeface="Calibri"/>
              </a:rPr>
              <a:t>BID</a:t>
            </a:r>
          </a:p>
        </p:txBody>
      </p:sp>
      <p:sp>
        <p:nvSpPr>
          <p:cNvPr id="15" name="Rectangle 14"/>
          <p:cNvSpPr/>
          <p:nvPr/>
        </p:nvSpPr>
        <p:spPr>
          <a:xfrm>
            <a:off x="8439912" y="2011680"/>
            <a:ext cx="1728216" cy="256032"/>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39912" y="2029968"/>
            <a:ext cx="1728216" cy="219456"/>
          </a:xfrm>
          <a:prstGeom prst="rect">
            <a:avLst/>
          </a:prstGeom>
          <a:noFill/>
        </p:spPr>
        <p:txBody>
          <a:bodyPr wrap="square" lIns="0" rIns="0" tIns="0" bIns="0" anchor="t">
            <a:spAutoFit/>
          </a:bodyPr>
          <a:lstStyle/>
          <a:p>
            <a:pPr algn="ctr">
              <a:lnSpc>
                <a:spcPct val="115000"/>
              </a:lnSpc>
            </a:pPr>
            <a:r>
              <a:rPr sz="900" b="1" i="0">
                <a:solidFill>
                  <a:srgbClr val="FFFFFF"/>
                </a:solidFill>
                <a:latin typeface="Calibri"/>
              </a:rPr>
              <a:t>SCORE</a:t>
            </a:r>
          </a:p>
        </p:txBody>
      </p:sp>
      <p:sp>
        <p:nvSpPr>
          <p:cNvPr id="17" name="Rectangle 16"/>
          <p:cNvSpPr/>
          <p:nvPr/>
        </p:nvSpPr>
        <p:spPr>
          <a:xfrm>
            <a:off x="10213848" y="2011680"/>
            <a:ext cx="1728216" cy="256032"/>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13848" y="2029968"/>
            <a:ext cx="1728216" cy="219456"/>
          </a:xfrm>
          <a:prstGeom prst="rect">
            <a:avLst/>
          </a:prstGeom>
          <a:noFill/>
        </p:spPr>
        <p:txBody>
          <a:bodyPr wrap="square" lIns="0" rIns="0" tIns="0" bIns="0" anchor="t">
            <a:spAutoFit/>
          </a:bodyPr>
          <a:lstStyle/>
          <a:p>
            <a:pPr algn="ctr">
              <a:lnSpc>
                <a:spcPct val="115000"/>
              </a:lnSpc>
            </a:pPr>
            <a:r>
              <a:rPr sz="900" b="1" i="0">
                <a:solidFill>
                  <a:srgbClr val="FFFFFF"/>
                </a:solidFill>
                <a:latin typeface="Calibri"/>
              </a:rPr>
              <a:t>SELECT</a:t>
            </a:r>
          </a:p>
        </p:txBody>
      </p:sp>
      <p:sp>
        <p:nvSpPr>
          <p:cNvPr id="19" name="Rectangle 18"/>
          <p:cNvSpPr/>
          <p:nvPr/>
        </p:nvSpPr>
        <p:spPr>
          <a:xfrm>
            <a:off x="457200" y="2331720"/>
            <a:ext cx="841248" cy="91440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2331720"/>
            <a:ext cx="841248" cy="54864"/>
          </a:xfrm>
          <a:prstGeom prst="rect">
            <a:avLst/>
          </a:prstGeom>
          <a:solidFill>
            <a:srgbClr val="2E5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423160"/>
            <a:ext cx="841248" cy="365760"/>
          </a:xfrm>
          <a:prstGeom prst="rect">
            <a:avLst/>
          </a:prstGeom>
          <a:noFill/>
        </p:spPr>
        <p:txBody>
          <a:bodyPr wrap="square" lIns="0" rIns="0" tIns="0" bIns="0" anchor="t">
            <a:spAutoFit/>
          </a:bodyPr>
          <a:lstStyle/>
          <a:p>
            <a:pPr algn="ctr">
              <a:lnSpc>
                <a:spcPct val="115000"/>
              </a:lnSpc>
            </a:pPr>
            <a:r>
              <a:rPr sz="2200" b="1" i="0">
                <a:solidFill>
                  <a:srgbClr val="2E55D9"/>
                </a:solidFill>
                <a:latin typeface="Calibri"/>
              </a:rPr>
              <a:t>1</a:t>
            </a:r>
          </a:p>
        </p:txBody>
      </p:sp>
      <p:sp>
        <p:nvSpPr>
          <p:cNvPr id="22" name="TextBox 21"/>
          <p:cNvSpPr txBox="1"/>
          <p:nvPr/>
        </p:nvSpPr>
        <p:spPr>
          <a:xfrm>
            <a:off x="502920" y="2761488"/>
            <a:ext cx="749808" cy="548640"/>
          </a:xfrm>
          <a:prstGeom prst="rect">
            <a:avLst/>
          </a:prstGeom>
          <a:noFill/>
        </p:spPr>
        <p:txBody>
          <a:bodyPr wrap="square" lIns="0" rIns="0" tIns="0" bIns="0" anchor="t">
            <a:spAutoFit/>
          </a:bodyPr>
          <a:lstStyle/>
          <a:p>
            <a:pPr algn="ctr">
              <a:lnSpc>
                <a:spcPct val="110000"/>
              </a:lnSpc>
            </a:pPr>
            <a:r>
              <a:rPr sz="800" b="0" i="0">
                <a:solidFill>
                  <a:srgbClr val="0F172E"/>
                </a:solidFill>
                <a:latin typeface="Calibri"/>
              </a:rPr>
              <a:t>Stakeholder</a:t>
            </a:r>
          </a:p>
          <a:p>
            <a:pPr algn="ctr">
              <a:lnSpc>
                <a:spcPct val="110000"/>
              </a:lnSpc>
            </a:pPr>
            <a:r>
              <a:rPr sz="800" b="0" i="0">
                <a:solidFill>
                  <a:srgbClr val="0F172E"/>
                </a:solidFill>
                <a:latin typeface="Calibri"/>
              </a:rPr>
              <a:t>Alignment</a:t>
            </a:r>
          </a:p>
        </p:txBody>
      </p:sp>
      <p:sp>
        <p:nvSpPr>
          <p:cNvPr id="23" name="Rectangle 22"/>
          <p:cNvSpPr/>
          <p:nvPr/>
        </p:nvSpPr>
        <p:spPr>
          <a:xfrm>
            <a:off x="1344168" y="2331720"/>
            <a:ext cx="841248" cy="91440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344168" y="2331720"/>
            <a:ext cx="841248" cy="54864"/>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44168" y="2423160"/>
            <a:ext cx="841248" cy="365760"/>
          </a:xfrm>
          <a:prstGeom prst="rect">
            <a:avLst/>
          </a:prstGeom>
          <a:noFill/>
        </p:spPr>
        <p:txBody>
          <a:bodyPr wrap="square" lIns="0" rIns="0" tIns="0" bIns="0" anchor="t">
            <a:spAutoFit/>
          </a:bodyPr>
          <a:lstStyle/>
          <a:p>
            <a:pPr algn="ctr">
              <a:lnSpc>
                <a:spcPct val="115000"/>
              </a:lnSpc>
            </a:pPr>
            <a:r>
              <a:rPr sz="2200" b="1" i="0">
                <a:solidFill>
                  <a:srgbClr val="4A7BFF"/>
                </a:solidFill>
                <a:latin typeface="Calibri"/>
              </a:rPr>
              <a:t>2</a:t>
            </a:r>
          </a:p>
        </p:txBody>
      </p:sp>
      <p:sp>
        <p:nvSpPr>
          <p:cNvPr id="26" name="TextBox 25"/>
          <p:cNvSpPr txBox="1"/>
          <p:nvPr/>
        </p:nvSpPr>
        <p:spPr>
          <a:xfrm>
            <a:off x="1389888" y="2761488"/>
            <a:ext cx="749808" cy="548640"/>
          </a:xfrm>
          <a:prstGeom prst="rect">
            <a:avLst/>
          </a:prstGeom>
          <a:noFill/>
        </p:spPr>
        <p:txBody>
          <a:bodyPr wrap="square" lIns="0" rIns="0" tIns="0" bIns="0" anchor="t">
            <a:spAutoFit/>
          </a:bodyPr>
          <a:lstStyle/>
          <a:p>
            <a:pPr algn="ctr">
              <a:lnSpc>
                <a:spcPct val="110000"/>
              </a:lnSpc>
            </a:pPr>
            <a:r>
              <a:rPr sz="800" b="0" i="0">
                <a:solidFill>
                  <a:srgbClr val="0F172E"/>
                </a:solidFill>
                <a:latin typeface="Calibri"/>
              </a:rPr>
              <a:t>Requirement</a:t>
            </a:r>
          </a:p>
          <a:p>
            <a:pPr algn="ctr">
              <a:lnSpc>
                <a:spcPct val="110000"/>
              </a:lnSpc>
            </a:pPr>
            <a:r>
              <a:rPr sz="800" b="0" i="0">
                <a:solidFill>
                  <a:srgbClr val="0F172E"/>
                </a:solidFill>
                <a:latin typeface="Calibri"/>
              </a:rPr>
              <a:t>Definition</a:t>
            </a:r>
          </a:p>
        </p:txBody>
      </p:sp>
      <p:sp>
        <p:nvSpPr>
          <p:cNvPr id="27" name="Rectangle 26"/>
          <p:cNvSpPr/>
          <p:nvPr/>
        </p:nvSpPr>
        <p:spPr>
          <a:xfrm>
            <a:off x="2231136" y="2331720"/>
            <a:ext cx="841248" cy="91440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231136" y="2331720"/>
            <a:ext cx="841248" cy="54864"/>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231136" y="2423160"/>
            <a:ext cx="841248" cy="365760"/>
          </a:xfrm>
          <a:prstGeom prst="rect">
            <a:avLst/>
          </a:prstGeom>
          <a:noFill/>
        </p:spPr>
        <p:txBody>
          <a:bodyPr wrap="square" lIns="0" rIns="0" tIns="0" bIns="0" anchor="t">
            <a:spAutoFit/>
          </a:bodyPr>
          <a:lstStyle/>
          <a:p>
            <a:pPr algn="ctr">
              <a:lnSpc>
                <a:spcPct val="115000"/>
              </a:lnSpc>
            </a:pPr>
            <a:r>
              <a:rPr sz="2200" b="1" i="0">
                <a:solidFill>
                  <a:srgbClr val="4A7BFF"/>
                </a:solidFill>
                <a:latin typeface="Calibri"/>
              </a:rPr>
              <a:t>3</a:t>
            </a:r>
          </a:p>
        </p:txBody>
      </p:sp>
      <p:sp>
        <p:nvSpPr>
          <p:cNvPr id="30" name="TextBox 29"/>
          <p:cNvSpPr txBox="1"/>
          <p:nvPr/>
        </p:nvSpPr>
        <p:spPr>
          <a:xfrm>
            <a:off x="2276856" y="2761488"/>
            <a:ext cx="749808" cy="548640"/>
          </a:xfrm>
          <a:prstGeom prst="rect">
            <a:avLst/>
          </a:prstGeom>
          <a:noFill/>
        </p:spPr>
        <p:txBody>
          <a:bodyPr wrap="square" lIns="0" rIns="0" tIns="0" bIns="0" anchor="t">
            <a:spAutoFit/>
          </a:bodyPr>
          <a:lstStyle/>
          <a:p>
            <a:pPr algn="ctr">
              <a:lnSpc>
                <a:spcPct val="110000"/>
              </a:lnSpc>
            </a:pPr>
            <a:r>
              <a:rPr sz="800" b="0" i="0">
                <a:solidFill>
                  <a:srgbClr val="0F172E"/>
                </a:solidFill>
                <a:latin typeface="Calibri"/>
              </a:rPr>
              <a:t>Use Case</a:t>
            </a:r>
          </a:p>
          <a:p>
            <a:pPr algn="ctr">
              <a:lnSpc>
                <a:spcPct val="110000"/>
              </a:lnSpc>
            </a:pPr>
            <a:r>
              <a:rPr sz="800" b="0" i="0">
                <a:solidFill>
                  <a:srgbClr val="0F172E"/>
                </a:solidFill>
                <a:latin typeface="Calibri"/>
              </a:rPr>
              <a:t>Definition</a:t>
            </a:r>
          </a:p>
        </p:txBody>
      </p:sp>
      <p:sp>
        <p:nvSpPr>
          <p:cNvPr id="31" name="Rectangle 30"/>
          <p:cNvSpPr/>
          <p:nvPr/>
        </p:nvSpPr>
        <p:spPr>
          <a:xfrm>
            <a:off x="3118104" y="2331720"/>
            <a:ext cx="841248" cy="91440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18104" y="2331720"/>
            <a:ext cx="841248" cy="54864"/>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118104" y="2423160"/>
            <a:ext cx="841248" cy="365760"/>
          </a:xfrm>
          <a:prstGeom prst="rect">
            <a:avLst/>
          </a:prstGeom>
          <a:noFill/>
        </p:spPr>
        <p:txBody>
          <a:bodyPr wrap="square" lIns="0" rIns="0" tIns="0" bIns="0" anchor="t">
            <a:spAutoFit/>
          </a:bodyPr>
          <a:lstStyle/>
          <a:p>
            <a:pPr algn="ctr">
              <a:lnSpc>
                <a:spcPct val="115000"/>
              </a:lnSpc>
            </a:pPr>
            <a:r>
              <a:rPr sz="2200" b="1" i="0">
                <a:solidFill>
                  <a:srgbClr val="14B8A6"/>
                </a:solidFill>
                <a:latin typeface="Calibri"/>
              </a:rPr>
              <a:t>4</a:t>
            </a:r>
          </a:p>
        </p:txBody>
      </p:sp>
      <p:sp>
        <p:nvSpPr>
          <p:cNvPr id="34" name="TextBox 33"/>
          <p:cNvSpPr txBox="1"/>
          <p:nvPr/>
        </p:nvSpPr>
        <p:spPr>
          <a:xfrm>
            <a:off x="3163824" y="2761488"/>
            <a:ext cx="749808" cy="548640"/>
          </a:xfrm>
          <a:prstGeom prst="rect">
            <a:avLst/>
          </a:prstGeom>
          <a:noFill/>
        </p:spPr>
        <p:txBody>
          <a:bodyPr wrap="square" lIns="0" rIns="0" tIns="0" bIns="0" anchor="t">
            <a:spAutoFit/>
          </a:bodyPr>
          <a:lstStyle/>
          <a:p>
            <a:pPr algn="ctr">
              <a:lnSpc>
                <a:spcPct val="110000"/>
              </a:lnSpc>
            </a:pPr>
            <a:r>
              <a:rPr sz="800" b="0" i="0">
                <a:solidFill>
                  <a:srgbClr val="0F172E"/>
                </a:solidFill>
                <a:latin typeface="Calibri"/>
              </a:rPr>
              <a:t>Vendor</a:t>
            </a:r>
          </a:p>
          <a:p>
            <a:pPr algn="ctr">
              <a:lnSpc>
                <a:spcPct val="110000"/>
              </a:lnSpc>
            </a:pPr>
            <a:r>
              <a:rPr sz="800" b="0" i="0">
                <a:solidFill>
                  <a:srgbClr val="0F172E"/>
                </a:solidFill>
                <a:latin typeface="Calibri"/>
              </a:rPr>
              <a:t>Discovery</a:t>
            </a:r>
          </a:p>
        </p:txBody>
      </p:sp>
      <p:sp>
        <p:nvSpPr>
          <p:cNvPr id="35" name="Rectangle 34"/>
          <p:cNvSpPr/>
          <p:nvPr/>
        </p:nvSpPr>
        <p:spPr>
          <a:xfrm>
            <a:off x="4005072" y="2331720"/>
            <a:ext cx="841248" cy="91440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005072" y="2331720"/>
            <a:ext cx="841248" cy="54864"/>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005072" y="2423160"/>
            <a:ext cx="841248" cy="365760"/>
          </a:xfrm>
          <a:prstGeom prst="rect">
            <a:avLst/>
          </a:prstGeom>
          <a:noFill/>
        </p:spPr>
        <p:txBody>
          <a:bodyPr wrap="square" lIns="0" rIns="0" tIns="0" bIns="0" anchor="t">
            <a:spAutoFit/>
          </a:bodyPr>
          <a:lstStyle/>
          <a:p>
            <a:pPr algn="ctr">
              <a:lnSpc>
                <a:spcPct val="115000"/>
              </a:lnSpc>
            </a:pPr>
            <a:r>
              <a:rPr sz="2200" b="1" i="0">
                <a:solidFill>
                  <a:srgbClr val="14B8A6"/>
                </a:solidFill>
                <a:latin typeface="Calibri"/>
              </a:rPr>
              <a:t>5</a:t>
            </a:r>
          </a:p>
        </p:txBody>
      </p:sp>
      <p:sp>
        <p:nvSpPr>
          <p:cNvPr id="38" name="TextBox 37"/>
          <p:cNvSpPr txBox="1"/>
          <p:nvPr/>
        </p:nvSpPr>
        <p:spPr>
          <a:xfrm>
            <a:off x="4050792" y="2761488"/>
            <a:ext cx="749808" cy="548640"/>
          </a:xfrm>
          <a:prstGeom prst="rect">
            <a:avLst/>
          </a:prstGeom>
          <a:noFill/>
        </p:spPr>
        <p:txBody>
          <a:bodyPr wrap="square" lIns="0" rIns="0" tIns="0" bIns="0" anchor="t">
            <a:spAutoFit/>
          </a:bodyPr>
          <a:lstStyle/>
          <a:p>
            <a:pPr algn="ctr">
              <a:lnSpc>
                <a:spcPct val="110000"/>
              </a:lnSpc>
            </a:pPr>
            <a:r>
              <a:rPr sz="800" b="0" i="0">
                <a:solidFill>
                  <a:srgbClr val="0F172E"/>
                </a:solidFill>
                <a:latin typeface="Calibri"/>
              </a:rPr>
              <a:t>Vendor</a:t>
            </a:r>
          </a:p>
          <a:p>
            <a:pPr algn="ctr">
              <a:lnSpc>
                <a:spcPct val="110000"/>
              </a:lnSpc>
            </a:pPr>
            <a:r>
              <a:rPr sz="800" b="0" i="0">
                <a:solidFill>
                  <a:srgbClr val="0F172E"/>
                </a:solidFill>
                <a:latin typeface="Calibri"/>
              </a:rPr>
              <a:t>Outreach</a:t>
            </a:r>
          </a:p>
        </p:txBody>
      </p:sp>
      <p:sp>
        <p:nvSpPr>
          <p:cNvPr id="39" name="Rectangle 38"/>
          <p:cNvSpPr/>
          <p:nvPr/>
        </p:nvSpPr>
        <p:spPr>
          <a:xfrm>
            <a:off x="4892040" y="2331720"/>
            <a:ext cx="841248" cy="91440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892040" y="2331720"/>
            <a:ext cx="841248" cy="548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892040" y="2423160"/>
            <a:ext cx="841248" cy="365760"/>
          </a:xfrm>
          <a:prstGeom prst="rect">
            <a:avLst/>
          </a:prstGeom>
          <a:noFill/>
        </p:spPr>
        <p:txBody>
          <a:bodyPr wrap="square" lIns="0" rIns="0" tIns="0" bIns="0" anchor="t">
            <a:spAutoFit/>
          </a:bodyPr>
          <a:lstStyle/>
          <a:p>
            <a:pPr algn="ctr">
              <a:lnSpc>
                <a:spcPct val="115000"/>
              </a:lnSpc>
            </a:pPr>
            <a:r>
              <a:rPr sz="2200" b="1" i="0">
                <a:solidFill>
                  <a:srgbClr val="7C3AED"/>
                </a:solidFill>
                <a:latin typeface="Calibri"/>
              </a:rPr>
              <a:t>6</a:t>
            </a:r>
          </a:p>
        </p:txBody>
      </p:sp>
      <p:sp>
        <p:nvSpPr>
          <p:cNvPr id="42" name="TextBox 41"/>
          <p:cNvSpPr txBox="1"/>
          <p:nvPr/>
        </p:nvSpPr>
        <p:spPr>
          <a:xfrm>
            <a:off x="4937760" y="2761488"/>
            <a:ext cx="749808" cy="548640"/>
          </a:xfrm>
          <a:prstGeom prst="rect">
            <a:avLst/>
          </a:prstGeom>
          <a:noFill/>
        </p:spPr>
        <p:txBody>
          <a:bodyPr wrap="square" lIns="0" rIns="0" tIns="0" bIns="0" anchor="t">
            <a:spAutoFit/>
          </a:bodyPr>
          <a:lstStyle/>
          <a:p>
            <a:pPr algn="ctr">
              <a:lnSpc>
                <a:spcPct val="110000"/>
              </a:lnSpc>
            </a:pPr>
            <a:r>
              <a:rPr sz="800" b="0" i="0">
                <a:solidFill>
                  <a:srgbClr val="0F172E"/>
                </a:solidFill>
                <a:latin typeface="Calibri"/>
              </a:rPr>
              <a:t>Bidding</a:t>
            </a:r>
          </a:p>
          <a:p>
            <a:pPr algn="ctr">
              <a:lnSpc>
                <a:spcPct val="110000"/>
              </a:lnSpc>
            </a:pPr>
            <a:r>
              <a:rPr sz="800" b="0" i="0">
                <a:solidFill>
                  <a:srgbClr val="0F172E"/>
                </a:solidFill>
                <a:latin typeface="Calibri"/>
              </a:rPr>
              <a:t>Opens</a:t>
            </a:r>
          </a:p>
        </p:txBody>
      </p:sp>
      <p:sp>
        <p:nvSpPr>
          <p:cNvPr id="43" name="Rectangle 42"/>
          <p:cNvSpPr/>
          <p:nvPr/>
        </p:nvSpPr>
        <p:spPr>
          <a:xfrm>
            <a:off x="5779008" y="2331720"/>
            <a:ext cx="841248" cy="91440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779008" y="2331720"/>
            <a:ext cx="841248" cy="548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779008" y="2423160"/>
            <a:ext cx="841248" cy="365760"/>
          </a:xfrm>
          <a:prstGeom prst="rect">
            <a:avLst/>
          </a:prstGeom>
          <a:noFill/>
        </p:spPr>
        <p:txBody>
          <a:bodyPr wrap="square" lIns="0" rIns="0" tIns="0" bIns="0" anchor="t">
            <a:spAutoFit/>
          </a:bodyPr>
          <a:lstStyle/>
          <a:p>
            <a:pPr algn="ctr">
              <a:lnSpc>
                <a:spcPct val="115000"/>
              </a:lnSpc>
            </a:pPr>
            <a:r>
              <a:rPr sz="2200" b="1" i="0">
                <a:solidFill>
                  <a:srgbClr val="7C3AED"/>
                </a:solidFill>
                <a:latin typeface="Calibri"/>
              </a:rPr>
              <a:t>7</a:t>
            </a:r>
          </a:p>
        </p:txBody>
      </p:sp>
      <p:sp>
        <p:nvSpPr>
          <p:cNvPr id="46" name="TextBox 45"/>
          <p:cNvSpPr txBox="1"/>
          <p:nvPr/>
        </p:nvSpPr>
        <p:spPr>
          <a:xfrm>
            <a:off x="5824728" y="2761488"/>
            <a:ext cx="749808" cy="548640"/>
          </a:xfrm>
          <a:prstGeom prst="rect">
            <a:avLst/>
          </a:prstGeom>
          <a:noFill/>
        </p:spPr>
        <p:txBody>
          <a:bodyPr wrap="square" lIns="0" rIns="0" tIns="0" bIns="0" anchor="t">
            <a:spAutoFit/>
          </a:bodyPr>
          <a:lstStyle/>
          <a:p>
            <a:pPr algn="ctr">
              <a:lnSpc>
                <a:spcPct val="110000"/>
              </a:lnSpc>
            </a:pPr>
            <a:r>
              <a:rPr sz="800" b="0" i="0">
                <a:solidFill>
                  <a:srgbClr val="0F172E"/>
                </a:solidFill>
                <a:latin typeface="Calibri"/>
              </a:rPr>
              <a:t>Response</a:t>
            </a:r>
          </a:p>
          <a:p>
            <a:pPr algn="ctr">
              <a:lnSpc>
                <a:spcPct val="110000"/>
              </a:lnSpc>
            </a:pPr>
            <a:r>
              <a:rPr sz="800" b="0" i="0">
                <a:solidFill>
                  <a:srgbClr val="0F172E"/>
                </a:solidFill>
                <a:latin typeface="Calibri"/>
              </a:rPr>
              <a:t>Refinement</a:t>
            </a:r>
          </a:p>
        </p:txBody>
      </p:sp>
      <p:sp>
        <p:nvSpPr>
          <p:cNvPr id="47" name="Rectangle 46"/>
          <p:cNvSpPr/>
          <p:nvPr/>
        </p:nvSpPr>
        <p:spPr>
          <a:xfrm>
            <a:off x="6665976" y="2331720"/>
            <a:ext cx="841248" cy="91440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665976" y="2331720"/>
            <a:ext cx="841248" cy="548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665976" y="2423160"/>
            <a:ext cx="841248" cy="365760"/>
          </a:xfrm>
          <a:prstGeom prst="rect">
            <a:avLst/>
          </a:prstGeom>
          <a:noFill/>
        </p:spPr>
        <p:txBody>
          <a:bodyPr wrap="square" lIns="0" rIns="0" tIns="0" bIns="0" anchor="t">
            <a:spAutoFit/>
          </a:bodyPr>
          <a:lstStyle/>
          <a:p>
            <a:pPr algn="ctr">
              <a:lnSpc>
                <a:spcPct val="115000"/>
              </a:lnSpc>
            </a:pPr>
            <a:r>
              <a:rPr sz="2200" b="1" i="0">
                <a:solidFill>
                  <a:srgbClr val="7C3AED"/>
                </a:solidFill>
                <a:latin typeface="Calibri"/>
              </a:rPr>
              <a:t>8</a:t>
            </a:r>
          </a:p>
        </p:txBody>
      </p:sp>
      <p:sp>
        <p:nvSpPr>
          <p:cNvPr id="50" name="TextBox 49"/>
          <p:cNvSpPr txBox="1"/>
          <p:nvPr/>
        </p:nvSpPr>
        <p:spPr>
          <a:xfrm>
            <a:off x="6711696" y="2761488"/>
            <a:ext cx="749808" cy="548640"/>
          </a:xfrm>
          <a:prstGeom prst="rect">
            <a:avLst/>
          </a:prstGeom>
          <a:noFill/>
        </p:spPr>
        <p:txBody>
          <a:bodyPr wrap="square" lIns="0" rIns="0" tIns="0" bIns="0" anchor="t">
            <a:spAutoFit/>
          </a:bodyPr>
          <a:lstStyle/>
          <a:p>
            <a:pPr algn="ctr">
              <a:lnSpc>
                <a:spcPct val="110000"/>
              </a:lnSpc>
            </a:pPr>
            <a:r>
              <a:rPr sz="800" b="0" i="0">
                <a:solidFill>
                  <a:srgbClr val="0F172E"/>
                </a:solidFill>
                <a:latin typeface="Calibri"/>
              </a:rPr>
              <a:t>Due Diligence</a:t>
            </a:r>
          </a:p>
          <a:p>
            <a:pPr algn="ctr">
              <a:lnSpc>
                <a:spcPct val="110000"/>
              </a:lnSpc>
            </a:pPr>
            <a:r>
              <a:rPr sz="800" b="0" i="0">
                <a:solidFill>
                  <a:srgbClr val="0F172E"/>
                </a:solidFill>
                <a:latin typeface="Calibri"/>
              </a:rPr>
              <a:t>&amp; Demos</a:t>
            </a:r>
          </a:p>
        </p:txBody>
      </p:sp>
      <p:sp>
        <p:nvSpPr>
          <p:cNvPr id="51" name="Rectangle 50"/>
          <p:cNvSpPr/>
          <p:nvPr/>
        </p:nvSpPr>
        <p:spPr>
          <a:xfrm>
            <a:off x="7552944" y="2331720"/>
            <a:ext cx="841248" cy="91440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552944" y="2331720"/>
            <a:ext cx="841248" cy="548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552944" y="2423160"/>
            <a:ext cx="841248" cy="365760"/>
          </a:xfrm>
          <a:prstGeom prst="rect">
            <a:avLst/>
          </a:prstGeom>
          <a:noFill/>
        </p:spPr>
        <p:txBody>
          <a:bodyPr wrap="square" lIns="0" rIns="0" tIns="0" bIns="0" anchor="t">
            <a:spAutoFit/>
          </a:bodyPr>
          <a:lstStyle/>
          <a:p>
            <a:pPr algn="ctr">
              <a:lnSpc>
                <a:spcPct val="115000"/>
              </a:lnSpc>
            </a:pPr>
            <a:r>
              <a:rPr sz="2200" b="1" i="0">
                <a:solidFill>
                  <a:srgbClr val="7C3AED"/>
                </a:solidFill>
                <a:latin typeface="Calibri"/>
              </a:rPr>
              <a:t>9</a:t>
            </a:r>
          </a:p>
        </p:txBody>
      </p:sp>
      <p:sp>
        <p:nvSpPr>
          <p:cNvPr id="54" name="TextBox 53"/>
          <p:cNvSpPr txBox="1"/>
          <p:nvPr/>
        </p:nvSpPr>
        <p:spPr>
          <a:xfrm>
            <a:off x="7598664" y="2761488"/>
            <a:ext cx="749808" cy="548640"/>
          </a:xfrm>
          <a:prstGeom prst="rect">
            <a:avLst/>
          </a:prstGeom>
          <a:noFill/>
        </p:spPr>
        <p:txBody>
          <a:bodyPr wrap="square" lIns="0" rIns="0" tIns="0" bIns="0" anchor="t">
            <a:spAutoFit/>
          </a:bodyPr>
          <a:lstStyle/>
          <a:p>
            <a:pPr algn="ctr">
              <a:lnSpc>
                <a:spcPct val="110000"/>
              </a:lnSpc>
            </a:pPr>
            <a:r>
              <a:rPr sz="800" b="0" i="0">
                <a:solidFill>
                  <a:srgbClr val="0F172E"/>
                </a:solidFill>
                <a:latin typeface="Calibri"/>
              </a:rPr>
              <a:t>Final</a:t>
            </a:r>
          </a:p>
          <a:p>
            <a:pPr algn="ctr">
              <a:lnSpc>
                <a:spcPct val="110000"/>
              </a:lnSpc>
            </a:pPr>
            <a:r>
              <a:rPr sz="800" b="0" i="0">
                <a:solidFill>
                  <a:srgbClr val="0F172E"/>
                </a:solidFill>
                <a:latin typeface="Calibri"/>
              </a:rPr>
              <a:t>Clarifications</a:t>
            </a:r>
          </a:p>
        </p:txBody>
      </p:sp>
      <p:sp>
        <p:nvSpPr>
          <p:cNvPr id="55" name="Rectangle 54"/>
          <p:cNvSpPr/>
          <p:nvPr/>
        </p:nvSpPr>
        <p:spPr>
          <a:xfrm>
            <a:off x="8439912" y="2331720"/>
            <a:ext cx="841248" cy="91440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8439912" y="2331720"/>
            <a:ext cx="841248" cy="54864"/>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39912" y="2423160"/>
            <a:ext cx="841248" cy="365760"/>
          </a:xfrm>
          <a:prstGeom prst="rect">
            <a:avLst/>
          </a:prstGeom>
          <a:noFill/>
        </p:spPr>
        <p:txBody>
          <a:bodyPr wrap="square" lIns="0" rIns="0" tIns="0" bIns="0" anchor="t">
            <a:spAutoFit/>
          </a:bodyPr>
          <a:lstStyle/>
          <a:p>
            <a:pPr algn="ctr">
              <a:lnSpc>
                <a:spcPct val="115000"/>
              </a:lnSpc>
            </a:pPr>
            <a:r>
              <a:rPr sz="2200" b="1" i="0">
                <a:solidFill>
                  <a:srgbClr val="F4B400"/>
                </a:solidFill>
                <a:latin typeface="Calibri"/>
              </a:rPr>
              <a:t>10</a:t>
            </a:r>
          </a:p>
        </p:txBody>
      </p:sp>
      <p:sp>
        <p:nvSpPr>
          <p:cNvPr id="58" name="TextBox 57"/>
          <p:cNvSpPr txBox="1"/>
          <p:nvPr/>
        </p:nvSpPr>
        <p:spPr>
          <a:xfrm>
            <a:off x="8485632" y="2761488"/>
            <a:ext cx="749808" cy="548640"/>
          </a:xfrm>
          <a:prstGeom prst="rect">
            <a:avLst/>
          </a:prstGeom>
          <a:noFill/>
        </p:spPr>
        <p:txBody>
          <a:bodyPr wrap="square" lIns="0" rIns="0" tIns="0" bIns="0" anchor="t">
            <a:spAutoFit/>
          </a:bodyPr>
          <a:lstStyle/>
          <a:p>
            <a:pPr algn="ctr">
              <a:lnSpc>
                <a:spcPct val="110000"/>
              </a:lnSpc>
            </a:pPr>
            <a:r>
              <a:rPr sz="800" b="0" i="0">
                <a:solidFill>
                  <a:srgbClr val="0F172E"/>
                </a:solidFill>
                <a:latin typeface="Calibri"/>
              </a:rPr>
              <a:t>Team</a:t>
            </a:r>
          </a:p>
          <a:p>
            <a:pPr algn="ctr">
              <a:lnSpc>
                <a:spcPct val="110000"/>
              </a:lnSpc>
            </a:pPr>
            <a:r>
              <a:rPr sz="800" b="0" i="0">
                <a:solidFill>
                  <a:srgbClr val="0F172E"/>
                </a:solidFill>
                <a:latin typeface="Calibri"/>
              </a:rPr>
              <a:t>Scoring</a:t>
            </a:r>
          </a:p>
        </p:txBody>
      </p:sp>
      <p:sp>
        <p:nvSpPr>
          <p:cNvPr id="59" name="Rectangle 58"/>
          <p:cNvSpPr/>
          <p:nvPr/>
        </p:nvSpPr>
        <p:spPr>
          <a:xfrm>
            <a:off x="9326880" y="2331720"/>
            <a:ext cx="841248" cy="91440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9326880" y="2331720"/>
            <a:ext cx="841248" cy="54864"/>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326880" y="2423160"/>
            <a:ext cx="841248" cy="365760"/>
          </a:xfrm>
          <a:prstGeom prst="rect">
            <a:avLst/>
          </a:prstGeom>
          <a:noFill/>
        </p:spPr>
        <p:txBody>
          <a:bodyPr wrap="square" lIns="0" rIns="0" tIns="0" bIns="0" anchor="t">
            <a:spAutoFit/>
          </a:bodyPr>
          <a:lstStyle/>
          <a:p>
            <a:pPr algn="ctr">
              <a:lnSpc>
                <a:spcPct val="115000"/>
              </a:lnSpc>
            </a:pPr>
            <a:r>
              <a:rPr sz="2200" b="1" i="0">
                <a:solidFill>
                  <a:srgbClr val="F4B400"/>
                </a:solidFill>
                <a:latin typeface="Calibri"/>
              </a:rPr>
              <a:t>11</a:t>
            </a:r>
          </a:p>
        </p:txBody>
      </p:sp>
      <p:sp>
        <p:nvSpPr>
          <p:cNvPr id="62" name="TextBox 61"/>
          <p:cNvSpPr txBox="1"/>
          <p:nvPr/>
        </p:nvSpPr>
        <p:spPr>
          <a:xfrm>
            <a:off x="9372600" y="2761488"/>
            <a:ext cx="749808" cy="548640"/>
          </a:xfrm>
          <a:prstGeom prst="rect">
            <a:avLst/>
          </a:prstGeom>
          <a:noFill/>
        </p:spPr>
        <p:txBody>
          <a:bodyPr wrap="square" lIns="0" rIns="0" tIns="0" bIns="0" anchor="t">
            <a:spAutoFit/>
          </a:bodyPr>
          <a:lstStyle/>
          <a:p>
            <a:pPr algn="ctr">
              <a:lnSpc>
                <a:spcPct val="110000"/>
              </a:lnSpc>
            </a:pPr>
            <a:r>
              <a:rPr sz="800" b="0" i="0">
                <a:solidFill>
                  <a:srgbClr val="0F172E"/>
                </a:solidFill>
                <a:latin typeface="Calibri"/>
              </a:rPr>
              <a:t>Score Review</a:t>
            </a:r>
          </a:p>
          <a:p>
            <a:pPr algn="ctr">
              <a:lnSpc>
                <a:spcPct val="110000"/>
              </a:lnSpc>
            </a:pPr>
            <a:r>
              <a:rPr sz="800" b="0" i="0">
                <a:solidFill>
                  <a:srgbClr val="0F172E"/>
                </a:solidFill>
                <a:latin typeface="Calibri"/>
              </a:rPr>
              <a:t>&amp; Consensus</a:t>
            </a:r>
          </a:p>
        </p:txBody>
      </p:sp>
      <p:sp>
        <p:nvSpPr>
          <p:cNvPr id="63" name="Rectangle 62"/>
          <p:cNvSpPr/>
          <p:nvPr/>
        </p:nvSpPr>
        <p:spPr>
          <a:xfrm>
            <a:off x="10213848" y="2331720"/>
            <a:ext cx="841248" cy="91440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0213848" y="2331720"/>
            <a:ext cx="841248" cy="54864"/>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213848" y="2423160"/>
            <a:ext cx="841248" cy="365760"/>
          </a:xfrm>
          <a:prstGeom prst="rect">
            <a:avLst/>
          </a:prstGeom>
          <a:noFill/>
        </p:spPr>
        <p:txBody>
          <a:bodyPr wrap="square" lIns="0" rIns="0" tIns="0" bIns="0" anchor="t">
            <a:spAutoFit/>
          </a:bodyPr>
          <a:lstStyle/>
          <a:p>
            <a:pPr algn="ctr">
              <a:lnSpc>
                <a:spcPct val="115000"/>
              </a:lnSpc>
            </a:pPr>
            <a:r>
              <a:rPr sz="2200" b="1" i="0">
                <a:solidFill>
                  <a:srgbClr val="059669"/>
                </a:solidFill>
                <a:latin typeface="Calibri"/>
              </a:rPr>
              <a:t>12</a:t>
            </a:r>
          </a:p>
        </p:txBody>
      </p:sp>
      <p:sp>
        <p:nvSpPr>
          <p:cNvPr id="66" name="TextBox 65"/>
          <p:cNvSpPr txBox="1"/>
          <p:nvPr/>
        </p:nvSpPr>
        <p:spPr>
          <a:xfrm>
            <a:off x="10259568" y="2761488"/>
            <a:ext cx="749808" cy="548640"/>
          </a:xfrm>
          <a:prstGeom prst="rect">
            <a:avLst/>
          </a:prstGeom>
          <a:noFill/>
        </p:spPr>
        <p:txBody>
          <a:bodyPr wrap="square" lIns="0" rIns="0" tIns="0" bIns="0" anchor="t">
            <a:spAutoFit/>
          </a:bodyPr>
          <a:lstStyle/>
          <a:p>
            <a:pPr algn="ctr">
              <a:lnSpc>
                <a:spcPct val="110000"/>
              </a:lnSpc>
            </a:pPr>
            <a:r>
              <a:rPr sz="800" b="0" i="0">
                <a:solidFill>
                  <a:srgbClr val="0F172E"/>
                </a:solidFill>
                <a:latin typeface="Calibri"/>
              </a:rPr>
              <a:t>Selection &amp;</a:t>
            </a:r>
          </a:p>
          <a:p>
            <a:pPr algn="ctr">
              <a:lnSpc>
                <a:spcPct val="110000"/>
              </a:lnSpc>
            </a:pPr>
            <a:r>
              <a:rPr sz="800" b="0" i="0">
                <a:solidFill>
                  <a:srgbClr val="0F172E"/>
                </a:solidFill>
                <a:latin typeface="Calibri"/>
              </a:rPr>
              <a:t>Recommendation</a:t>
            </a:r>
          </a:p>
        </p:txBody>
      </p:sp>
      <p:sp>
        <p:nvSpPr>
          <p:cNvPr id="67" name="Rectangle 66"/>
          <p:cNvSpPr/>
          <p:nvPr/>
        </p:nvSpPr>
        <p:spPr>
          <a:xfrm>
            <a:off x="11100816" y="2331720"/>
            <a:ext cx="841248" cy="91440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11100816" y="2331720"/>
            <a:ext cx="841248" cy="54864"/>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1100816" y="2423160"/>
            <a:ext cx="841248" cy="365760"/>
          </a:xfrm>
          <a:prstGeom prst="rect">
            <a:avLst/>
          </a:prstGeom>
          <a:noFill/>
        </p:spPr>
        <p:txBody>
          <a:bodyPr wrap="square" lIns="0" rIns="0" tIns="0" bIns="0" anchor="t">
            <a:spAutoFit/>
          </a:bodyPr>
          <a:lstStyle/>
          <a:p>
            <a:pPr algn="ctr">
              <a:lnSpc>
                <a:spcPct val="115000"/>
              </a:lnSpc>
            </a:pPr>
            <a:r>
              <a:rPr sz="2200" b="1" i="0">
                <a:solidFill>
                  <a:srgbClr val="059669"/>
                </a:solidFill>
                <a:latin typeface="Calibri"/>
              </a:rPr>
              <a:t>13</a:t>
            </a:r>
          </a:p>
        </p:txBody>
      </p:sp>
      <p:sp>
        <p:nvSpPr>
          <p:cNvPr id="70" name="TextBox 69"/>
          <p:cNvSpPr txBox="1"/>
          <p:nvPr/>
        </p:nvSpPr>
        <p:spPr>
          <a:xfrm>
            <a:off x="11146536" y="2761488"/>
            <a:ext cx="749808" cy="548640"/>
          </a:xfrm>
          <a:prstGeom prst="rect">
            <a:avLst/>
          </a:prstGeom>
          <a:noFill/>
        </p:spPr>
        <p:txBody>
          <a:bodyPr wrap="square" lIns="0" rIns="0" tIns="0" bIns="0" anchor="t">
            <a:spAutoFit/>
          </a:bodyPr>
          <a:lstStyle/>
          <a:p>
            <a:pPr algn="ctr">
              <a:lnSpc>
                <a:spcPct val="110000"/>
              </a:lnSpc>
            </a:pPr>
            <a:r>
              <a:rPr sz="800" b="0" i="0">
                <a:solidFill>
                  <a:srgbClr val="0F172E"/>
                </a:solidFill>
                <a:latin typeface="Calibri"/>
              </a:rPr>
              <a:t>Contract</a:t>
            </a:r>
          </a:p>
          <a:p>
            <a:pPr algn="ctr">
              <a:lnSpc>
                <a:spcPct val="110000"/>
              </a:lnSpc>
            </a:pPr>
            <a:r>
              <a:rPr sz="800" b="0" i="0">
                <a:solidFill>
                  <a:srgbClr val="0F172E"/>
                </a:solidFill>
                <a:latin typeface="Calibri"/>
              </a:rPr>
              <a:t>&amp; Closure</a:t>
            </a:r>
          </a:p>
        </p:txBody>
      </p:sp>
      <p:cxnSp>
        <p:nvCxnSpPr>
          <p:cNvPr id="71" name="Connector 70"/>
          <p:cNvCxnSpPr/>
          <p:nvPr/>
        </p:nvCxnSpPr>
        <p:spPr>
          <a:xfrm>
            <a:off x="457200" y="3429000"/>
            <a:ext cx="11277295" cy="0"/>
          </a:xfrm>
          <a:prstGeom prst="line">
            <a:avLst/>
          </a:prstGeom>
          <a:ln w="12700">
            <a:solidFill>
              <a:srgbClr val="D8DFEE"/>
            </a:solidFill>
          </a:ln>
        </p:spPr>
        <p:style>
          <a:lnRef idx="2">
            <a:schemeClr val="accent1"/>
          </a:lnRef>
          <a:fillRef idx="0">
            <a:schemeClr val="accent1"/>
          </a:fillRef>
          <a:effectRef idx="1">
            <a:schemeClr val="accent1"/>
          </a:effectRef>
          <a:fontRef idx="minor">
            <a:schemeClr val="tx1"/>
          </a:fontRef>
        </p:style>
      </p:cxnSp>
      <p:sp>
        <p:nvSpPr>
          <p:cNvPr id="72" name="Rectangle 71"/>
          <p:cNvSpPr/>
          <p:nvPr/>
        </p:nvSpPr>
        <p:spPr>
          <a:xfrm>
            <a:off x="457200" y="3840480"/>
            <a:ext cx="3703320" cy="228600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457200" y="3840480"/>
            <a:ext cx="73152" cy="2286000"/>
          </a:xfrm>
          <a:prstGeom prst="rect">
            <a:avLst/>
          </a:prstGeom>
          <a:solidFill>
            <a:srgbClr val="2E5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31520" y="4114800"/>
            <a:ext cx="3246120" cy="365760"/>
          </a:xfrm>
          <a:prstGeom prst="rect">
            <a:avLst/>
          </a:prstGeom>
          <a:noFill/>
        </p:spPr>
        <p:txBody>
          <a:bodyPr wrap="square" lIns="0" rIns="0" tIns="0" bIns="0" anchor="t">
            <a:spAutoFit/>
          </a:bodyPr>
          <a:lstStyle/>
          <a:p>
            <a:pPr algn="l">
              <a:lnSpc>
                <a:spcPct val="115000"/>
              </a:lnSpc>
            </a:pPr>
            <a:r>
              <a:rPr sz="1600" b="1" i="0">
                <a:solidFill>
                  <a:srgbClr val="0F172E"/>
                </a:solidFill>
                <a:latin typeface="Calibri"/>
              </a:rPr>
              <a:t>Gate validation</a:t>
            </a:r>
          </a:p>
        </p:txBody>
      </p:sp>
      <p:sp>
        <p:nvSpPr>
          <p:cNvPr id="75" name="TextBox 74"/>
          <p:cNvSpPr txBox="1"/>
          <p:nvPr/>
        </p:nvSpPr>
        <p:spPr>
          <a:xfrm>
            <a:off x="731520" y="4617720"/>
            <a:ext cx="3246120" cy="1371600"/>
          </a:xfrm>
          <a:prstGeom prst="rect">
            <a:avLst/>
          </a:prstGeom>
          <a:noFill/>
        </p:spPr>
        <p:txBody>
          <a:bodyPr wrap="square" lIns="0" rIns="0" tIns="0" bIns="0" anchor="t">
            <a:spAutoFit/>
          </a:bodyPr>
          <a:lstStyle/>
          <a:p>
            <a:pPr algn="l">
              <a:lnSpc>
                <a:spcPct val="135000"/>
              </a:lnSpc>
            </a:pPr>
            <a:r>
              <a:rPr sz="1100" b="0" i="0">
                <a:solidFill>
                  <a:srgbClr val="4A5573"/>
                </a:solidFill>
                <a:latin typeface="Calibri"/>
              </a:rPr>
              <a:t>Every phase transition is gate-validated. No requirement progresses without a weight. No response advances without buyer acknowledgement.</a:t>
            </a:r>
          </a:p>
        </p:txBody>
      </p:sp>
      <p:sp>
        <p:nvSpPr>
          <p:cNvPr id="76" name="Rectangle 75"/>
          <p:cNvSpPr/>
          <p:nvPr/>
        </p:nvSpPr>
        <p:spPr>
          <a:xfrm>
            <a:off x="4251960" y="3840480"/>
            <a:ext cx="3703320" cy="228600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4251960" y="3840480"/>
            <a:ext cx="73152" cy="2286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526280" y="4114800"/>
            <a:ext cx="3246120" cy="365760"/>
          </a:xfrm>
          <a:prstGeom prst="rect">
            <a:avLst/>
          </a:prstGeom>
          <a:noFill/>
        </p:spPr>
        <p:txBody>
          <a:bodyPr wrap="square" lIns="0" rIns="0" tIns="0" bIns="0" anchor="t">
            <a:spAutoFit/>
          </a:bodyPr>
          <a:lstStyle/>
          <a:p>
            <a:pPr algn="l">
              <a:lnSpc>
                <a:spcPct val="115000"/>
              </a:lnSpc>
            </a:pPr>
            <a:r>
              <a:rPr sz="1600" b="1" i="0">
                <a:solidFill>
                  <a:srgbClr val="0F172E"/>
                </a:solidFill>
                <a:latin typeface="Calibri"/>
              </a:rPr>
              <a:t>Immutability at Phase 9</a:t>
            </a:r>
          </a:p>
        </p:txBody>
      </p:sp>
      <p:sp>
        <p:nvSpPr>
          <p:cNvPr id="79" name="TextBox 78"/>
          <p:cNvSpPr txBox="1"/>
          <p:nvPr/>
        </p:nvSpPr>
        <p:spPr>
          <a:xfrm>
            <a:off x="4526280" y="4617720"/>
            <a:ext cx="3246120" cy="1371600"/>
          </a:xfrm>
          <a:prstGeom prst="rect">
            <a:avLst/>
          </a:prstGeom>
          <a:noFill/>
        </p:spPr>
        <p:txBody>
          <a:bodyPr wrap="square" lIns="0" rIns="0" tIns="0" bIns="0" anchor="t">
            <a:spAutoFit/>
          </a:bodyPr>
          <a:lstStyle/>
          <a:p>
            <a:pPr algn="l">
              <a:lnSpc>
                <a:spcPct val="135000"/>
              </a:lnSpc>
            </a:pPr>
            <a:r>
              <a:rPr sz="1100" b="0" i="0">
                <a:solidFill>
                  <a:srgbClr val="4A5573"/>
                </a:solidFill>
                <a:latin typeface="Calibri"/>
              </a:rPr>
              <a:t>Requirements and vendor responses are permanently locked at Phase 9 exit. Immutable snapshots created and hashed. No retroactive edits. Ever.</a:t>
            </a:r>
          </a:p>
        </p:txBody>
      </p:sp>
      <p:sp>
        <p:nvSpPr>
          <p:cNvPr id="80" name="Rectangle 79"/>
          <p:cNvSpPr/>
          <p:nvPr/>
        </p:nvSpPr>
        <p:spPr>
          <a:xfrm>
            <a:off x="8046720" y="3840480"/>
            <a:ext cx="3703320" cy="228600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8046720" y="3840480"/>
            <a:ext cx="73152" cy="22860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321040" y="4114800"/>
            <a:ext cx="3246120" cy="365760"/>
          </a:xfrm>
          <a:prstGeom prst="rect">
            <a:avLst/>
          </a:prstGeom>
          <a:noFill/>
        </p:spPr>
        <p:txBody>
          <a:bodyPr wrap="square" lIns="0" rIns="0" tIns="0" bIns="0" anchor="t">
            <a:spAutoFit/>
          </a:bodyPr>
          <a:lstStyle/>
          <a:p>
            <a:pPr algn="l">
              <a:lnSpc>
                <a:spcPct val="115000"/>
              </a:lnSpc>
            </a:pPr>
            <a:r>
              <a:rPr sz="1600" b="1" i="0">
                <a:solidFill>
                  <a:srgbClr val="0F172E"/>
                </a:solidFill>
                <a:latin typeface="Calibri"/>
              </a:rPr>
              <a:t>Audit by construction</a:t>
            </a:r>
          </a:p>
        </p:txBody>
      </p:sp>
      <p:sp>
        <p:nvSpPr>
          <p:cNvPr id="83" name="TextBox 82"/>
          <p:cNvSpPr txBox="1"/>
          <p:nvPr/>
        </p:nvSpPr>
        <p:spPr>
          <a:xfrm>
            <a:off x="8321040" y="4617720"/>
            <a:ext cx="3246120" cy="1371600"/>
          </a:xfrm>
          <a:prstGeom prst="rect">
            <a:avLst/>
          </a:prstGeom>
          <a:noFill/>
        </p:spPr>
        <p:txBody>
          <a:bodyPr wrap="square" lIns="0" rIns="0" tIns="0" bIns="0" anchor="t">
            <a:spAutoFit/>
          </a:bodyPr>
          <a:lstStyle/>
          <a:p>
            <a:pPr algn="l">
              <a:lnSpc>
                <a:spcPct val="135000"/>
              </a:lnSpc>
            </a:pPr>
            <a:r>
              <a:rPr sz="1100" b="0" i="0">
                <a:solidFill>
                  <a:srgbClr val="4A5573"/>
                </a:solidFill>
                <a:latin typeface="Calibri"/>
              </a:rPr>
              <a:t>Every mutation logged. Every grade attributed. Append-only history on override. SHA-256-hashed Selection Record generated at Phase 13 close.</a:t>
            </a:r>
          </a:p>
        </p:txBody>
      </p:sp>
      <p:cxnSp>
        <p:nvCxnSpPr>
          <p:cNvPr id="84" name="Connector 83"/>
          <p:cNvCxnSpPr/>
          <p:nvPr/>
        </p:nvCxnSpPr>
        <p:spPr>
          <a:xfrm>
            <a:off x="548640" y="6355080"/>
            <a:ext cx="11094415" cy="0"/>
          </a:xfrm>
          <a:prstGeom prst="line">
            <a:avLst/>
          </a:prstGeom>
          <a:ln w="9525">
            <a:solidFill>
              <a:srgbClr val="D8DFEE"/>
            </a:solidFill>
          </a:ln>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548640" y="6437376"/>
            <a:ext cx="3657600" cy="274320"/>
          </a:xfrm>
          <a:prstGeom prst="rect">
            <a:avLst/>
          </a:prstGeom>
          <a:noFill/>
        </p:spPr>
        <p:txBody>
          <a:bodyPr wrap="square" lIns="0" rIns="0" tIns="0" bIns="0" anchor="t">
            <a:spAutoFit/>
          </a:bodyPr>
          <a:lstStyle/>
          <a:p>
            <a:pPr algn="l">
              <a:lnSpc>
                <a:spcPct val="115000"/>
              </a:lnSpc>
            </a:pPr>
            <a:r>
              <a:rPr sz="900" b="1" i="0">
                <a:solidFill>
                  <a:srgbClr val="4A5573"/>
                </a:solidFill>
                <a:latin typeface="Calibri"/>
              </a:rPr>
              <a:t>SOURCERA  ·  HOW IT WORKS</a:t>
            </a:r>
          </a:p>
        </p:txBody>
      </p:sp>
      <p:sp>
        <p:nvSpPr>
          <p:cNvPr id="86" name="TextBox 85"/>
          <p:cNvSpPr txBox="1"/>
          <p:nvPr/>
        </p:nvSpPr>
        <p:spPr>
          <a:xfrm>
            <a:off x="10362895" y="6437376"/>
            <a:ext cx="1280160" cy="274320"/>
          </a:xfrm>
          <a:prstGeom prst="rect">
            <a:avLst/>
          </a:prstGeom>
          <a:noFill/>
        </p:spPr>
        <p:txBody>
          <a:bodyPr wrap="square" lIns="0" rIns="0" tIns="0" bIns="0" anchor="t">
            <a:spAutoFit/>
          </a:bodyPr>
          <a:lstStyle/>
          <a:p>
            <a:pPr algn="r">
              <a:lnSpc>
                <a:spcPct val="115000"/>
              </a:lnSpc>
            </a:pPr>
            <a:r>
              <a:rPr sz="900" b="0" i="0">
                <a:solidFill>
                  <a:srgbClr val="4A5573"/>
                </a:solidFill>
                <a:latin typeface="Calibri"/>
              </a:rPr>
              <a:t>06 / 19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21792"/>
            <a:ext cx="365760" cy="73152"/>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548640"/>
            <a:ext cx="9144000" cy="274320"/>
          </a:xfrm>
          <a:prstGeom prst="rect">
            <a:avLst/>
          </a:prstGeom>
          <a:noFill/>
        </p:spPr>
        <p:txBody>
          <a:bodyPr wrap="square" lIns="0" rIns="0" tIns="0" bIns="0" anchor="t">
            <a:spAutoFit/>
          </a:bodyPr>
          <a:lstStyle/>
          <a:p>
            <a:pPr algn="l">
              <a:lnSpc>
                <a:spcPct val="115000"/>
              </a:lnSpc>
            </a:pPr>
            <a:r>
              <a:rPr sz="1000" b="1" i="0">
                <a:solidFill>
                  <a:srgbClr val="4A7BFF"/>
                </a:solidFill>
                <a:latin typeface="Calibri"/>
              </a:rPr>
              <a:t>AI INTELLIGENCE</a:t>
            </a:r>
          </a:p>
        </p:txBody>
      </p:sp>
      <p:sp>
        <p:nvSpPr>
          <p:cNvPr id="5" name="TextBox 4"/>
          <p:cNvSpPr txBox="1"/>
          <p:nvPr/>
        </p:nvSpPr>
        <p:spPr>
          <a:xfrm>
            <a:off x="548640" y="822960"/>
            <a:ext cx="10972800" cy="822960"/>
          </a:xfrm>
          <a:prstGeom prst="rect">
            <a:avLst/>
          </a:prstGeom>
          <a:noFill/>
        </p:spPr>
        <p:txBody>
          <a:bodyPr wrap="square" lIns="0" rIns="0" tIns="0" bIns="0" anchor="t">
            <a:spAutoFit/>
          </a:bodyPr>
          <a:lstStyle/>
          <a:p>
            <a:pPr algn="l">
              <a:lnSpc>
                <a:spcPct val="105000"/>
              </a:lnSpc>
            </a:pPr>
            <a:r>
              <a:rPr sz="3600" b="1" i="0">
                <a:solidFill>
                  <a:srgbClr val="0F172E"/>
                </a:solidFill>
                <a:latin typeface="Calibri"/>
              </a:rPr>
              <a:t>The Agent is infrastructure — not a feature.</a:t>
            </a:r>
          </a:p>
        </p:txBody>
      </p:sp>
      <p:sp>
        <p:nvSpPr>
          <p:cNvPr id="6" name="TextBox 5"/>
          <p:cNvSpPr txBox="1"/>
          <p:nvPr/>
        </p:nvSpPr>
        <p:spPr>
          <a:xfrm>
            <a:off x="548640" y="1508760"/>
            <a:ext cx="10972800" cy="457200"/>
          </a:xfrm>
          <a:prstGeom prst="rect">
            <a:avLst/>
          </a:prstGeom>
          <a:noFill/>
        </p:spPr>
        <p:txBody>
          <a:bodyPr wrap="square" lIns="0" rIns="0" tIns="0" bIns="0" anchor="t">
            <a:spAutoFit/>
          </a:bodyPr>
          <a:lstStyle/>
          <a:p>
            <a:pPr algn="l">
              <a:lnSpc>
                <a:spcPct val="125000"/>
              </a:lnSpc>
            </a:pPr>
            <a:r>
              <a:rPr sz="1500" b="0" i="0">
                <a:solidFill>
                  <a:srgbClr val="4A5573"/>
                </a:solidFill>
                <a:latin typeface="Calibri"/>
              </a:rPr>
              <a:t>21+ cataloged capabilities. Grounded, confidence-scored, outcome-accounted.</a:t>
            </a:r>
          </a:p>
        </p:txBody>
      </p:sp>
      <p:sp>
        <p:nvSpPr>
          <p:cNvPr id="7" name="TextBox 6"/>
          <p:cNvSpPr txBox="1"/>
          <p:nvPr/>
        </p:nvSpPr>
        <p:spPr>
          <a:xfrm>
            <a:off x="548640" y="1874519"/>
            <a:ext cx="6675120" cy="320040"/>
          </a:xfrm>
          <a:prstGeom prst="rect">
            <a:avLst/>
          </a:prstGeom>
          <a:noFill/>
        </p:spPr>
        <p:txBody>
          <a:bodyPr wrap="square" lIns="0" rIns="0" tIns="0" bIns="0" anchor="t">
            <a:spAutoFit/>
          </a:bodyPr>
          <a:lstStyle/>
          <a:p>
            <a:pPr algn="l">
              <a:lnSpc>
                <a:spcPct val="115000"/>
              </a:lnSpc>
            </a:pPr>
            <a:r>
              <a:rPr sz="1100" b="1" i="0">
                <a:solidFill>
                  <a:srgbClr val="4A5573"/>
                </a:solidFill>
                <a:latin typeface="Calibri"/>
              </a:rPr>
              <a:t>Representative capabilities</a:t>
            </a:r>
          </a:p>
        </p:txBody>
      </p:sp>
      <p:sp>
        <p:nvSpPr>
          <p:cNvPr id="8" name="Rectangle 7"/>
          <p:cNvSpPr/>
          <p:nvPr/>
        </p:nvSpPr>
        <p:spPr>
          <a:xfrm>
            <a:off x="548640" y="2285999"/>
            <a:ext cx="2148840" cy="50292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285999"/>
            <a:ext cx="54864" cy="502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59151"/>
            <a:ext cx="1325880" cy="411480"/>
          </a:xfrm>
          <a:prstGeom prst="rect">
            <a:avLst/>
          </a:prstGeom>
          <a:noFill/>
        </p:spPr>
        <p:txBody>
          <a:bodyPr wrap="square" lIns="0" rIns="0" tIns="0" bIns="0" anchor="t">
            <a:spAutoFit/>
          </a:bodyPr>
          <a:lstStyle/>
          <a:p>
            <a:pPr algn="l">
              <a:lnSpc>
                <a:spcPct val="115000"/>
              </a:lnSpc>
            </a:pPr>
            <a:r>
              <a:rPr sz="1050" b="1" i="0">
                <a:solidFill>
                  <a:srgbClr val="0F172E"/>
                </a:solidFill>
                <a:latin typeface="Calibri"/>
              </a:rPr>
              <a:t>Policy Parsing</a:t>
            </a:r>
          </a:p>
        </p:txBody>
      </p:sp>
      <p:sp>
        <p:nvSpPr>
          <p:cNvPr id="11" name="TextBox 10"/>
          <p:cNvSpPr txBox="1"/>
          <p:nvPr/>
        </p:nvSpPr>
        <p:spPr>
          <a:xfrm>
            <a:off x="2011680" y="2377439"/>
            <a:ext cx="594360" cy="320040"/>
          </a:xfrm>
          <a:prstGeom prst="rect">
            <a:avLst/>
          </a:prstGeom>
          <a:noFill/>
        </p:spPr>
        <p:txBody>
          <a:bodyPr wrap="square" lIns="0" rIns="0" tIns="0" bIns="0" anchor="t">
            <a:spAutoFit/>
          </a:bodyPr>
          <a:lstStyle/>
          <a:p>
            <a:pPr algn="r">
              <a:lnSpc>
                <a:spcPct val="115000"/>
              </a:lnSpc>
            </a:pPr>
            <a:r>
              <a:rPr sz="800" b="1" i="0">
                <a:solidFill>
                  <a:srgbClr val="7C3AED"/>
                </a:solidFill>
                <a:latin typeface="Calibri"/>
              </a:rPr>
              <a:t>OPUS</a:t>
            </a:r>
          </a:p>
        </p:txBody>
      </p:sp>
      <p:sp>
        <p:nvSpPr>
          <p:cNvPr id="12" name="Rectangle 11"/>
          <p:cNvSpPr/>
          <p:nvPr/>
        </p:nvSpPr>
        <p:spPr>
          <a:xfrm>
            <a:off x="2752344" y="2285999"/>
            <a:ext cx="2148840" cy="50292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52344" y="2285999"/>
            <a:ext cx="54864" cy="5029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35224" y="2359151"/>
            <a:ext cx="1325880" cy="411480"/>
          </a:xfrm>
          <a:prstGeom prst="rect">
            <a:avLst/>
          </a:prstGeom>
          <a:noFill/>
        </p:spPr>
        <p:txBody>
          <a:bodyPr wrap="square" lIns="0" rIns="0" tIns="0" bIns="0" anchor="t">
            <a:spAutoFit/>
          </a:bodyPr>
          <a:lstStyle/>
          <a:p>
            <a:pPr algn="l">
              <a:lnSpc>
                <a:spcPct val="115000"/>
              </a:lnSpc>
            </a:pPr>
            <a:r>
              <a:rPr sz="1050" b="1" i="0">
                <a:solidFill>
                  <a:srgbClr val="0F172E"/>
                </a:solidFill>
                <a:latin typeface="Calibri"/>
              </a:rPr>
              <a:t>Policy Dedupe</a:t>
            </a:r>
          </a:p>
        </p:txBody>
      </p:sp>
      <p:sp>
        <p:nvSpPr>
          <p:cNvPr id="15" name="TextBox 14"/>
          <p:cNvSpPr txBox="1"/>
          <p:nvPr/>
        </p:nvSpPr>
        <p:spPr>
          <a:xfrm>
            <a:off x="4215384" y="2377439"/>
            <a:ext cx="594360" cy="320040"/>
          </a:xfrm>
          <a:prstGeom prst="rect">
            <a:avLst/>
          </a:prstGeom>
          <a:noFill/>
        </p:spPr>
        <p:txBody>
          <a:bodyPr wrap="square" lIns="0" rIns="0" tIns="0" bIns="0" anchor="t">
            <a:spAutoFit/>
          </a:bodyPr>
          <a:lstStyle/>
          <a:p>
            <a:pPr algn="r">
              <a:lnSpc>
                <a:spcPct val="115000"/>
              </a:lnSpc>
            </a:pPr>
            <a:r>
              <a:rPr sz="800" b="1" i="0">
                <a:solidFill>
                  <a:srgbClr val="14B8A6"/>
                </a:solidFill>
                <a:latin typeface="Calibri"/>
              </a:rPr>
              <a:t>HAIKU</a:t>
            </a:r>
          </a:p>
        </p:txBody>
      </p:sp>
      <p:sp>
        <p:nvSpPr>
          <p:cNvPr id="16" name="Rectangle 15"/>
          <p:cNvSpPr/>
          <p:nvPr/>
        </p:nvSpPr>
        <p:spPr>
          <a:xfrm>
            <a:off x="4956048" y="2285999"/>
            <a:ext cx="2148840" cy="50292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956048" y="2285999"/>
            <a:ext cx="54864" cy="502920"/>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38928" y="2359151"/>
            <a:ext cx="1325880" cy="411480"/>
          </a:xfrm>
          <a:prstGeom prst="rect">
            <a:avLst/>
          </a:prstGeom>
          <a:noFill/>
        </p:spPr>
        <p:txBody>
          <a:bodyPr wrap="square" lIns="0" rIns="0" tIns="0" bIns="0" anchor="t">
            <a:spAutoFit/>
          </a:bodyPr>
          <a:lstStyle/>
          <a:p>
            <a:pPr algn="l">
              <a:lnSpc>
                <a:spcPct val="115000"/>
              </a:lnSpc>
            </a:pPr>
            <a:r>
              <a:rPr sz="1050" b="1" i="0">
                <a:solidFill>
                  <a:srgbClr val="0F172E"/>
                </a:solidFill>
                <a:latin typeface="Calibri"/>
              </a:rPr>
              <a:t>Traceability Mapping</a:t>
            </a:r>
          </a:p>
        </p:txBody>
      </p:sp>
      <p:sp>
        <p:nvSpPr>
          <p:cNvPr id="19" name="TextBox 18"/>
          <p:cNvSpPr txBox="1"/>
          <p:nvPr/>
        </p:nvSpPr>
        <p:spPr>
          <a:xfrm>
            <a:off x="6419088" y="2377439"/>
            <a:ext cx="594360" cy="320040"/>
          </a:xfrm>
          <a:prstGeom prst="rect">
            <a:avLst/>
          </a:prstGeom>
          <a:noFill/>
        </p:spPr>
        <p:txBody>
          <a:bodyPr wrap="square" lIns="0" rIns="0" tIns="0" bIns="0" anchor="t">
            <a:spAutoFit/>
          </a:bodyPr>
          <a:lstStyle/>
          <a:p>
            <a:pPr algn="r">
              <a:lnSpc>
                <a:spcPct val="115000"/>
              </a:lnSpc>
            </a:pPr>
            <a:r>
              <a:rPr sz="800" b="1" i="0">
                <a:solidFill>
                  <a:srgbClr val="4A7BFF"/>
                </a:solidFill>
                <a:latin typeface="Calibri"/>
              </a:rPr>
              <a:t>SONNET</a:t>
            </a:r>
          </a:p>
        </p:txBody>
      </p:sp>
      <p:sp>
        <p:nvSpPr>
          <p:cNvPr id="20" name="Rectangle 19"/>
          <p:cNvSpPr/>
          <p:nvPr/>
        </p:nvSpPr>
        <p:spPr>
          <a:xfrm>
            <a:off x="548640" y="2862071"/>
            <a:ext cx="2148840" cy="50292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2862071"/>
            <a:ext cx="54864" cy="5029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2935223"/>
            <a:ext cx="1325880" cy="411480"/>
          </a:xfrm>
          <a:prstGeom prst="rect">
            <a:avLst/>
          </a:prstGeom>
          <a:noFill/>
        </p:spPr>
        <p:txBody>
          <a:bodyPr wrap="square" lIns="0" rIns="0" tIns="0" bIns="0" anchor="t">
            <a:spAutoFit/>
          </a:bodyPr>
          <a:lstStyle/>
          <a:p>
            <a:pPr algn="l">
              <a:lnSpc>
                <a:spcPct val="115000"/>
              </a:lnSpc>
            </a:pPr>
            <a:r>
              <a:rPr sz="1050" b="1" i="0">
                <a:solidFill>
                  <a:srgbClr val="0F172E"/>
                </a:solidFill>
                <a:latin typeface="Calibri"/>
              </a:rPr>
              <a:t>Triage Auto-Map</a:t>
            </a:r>
          </a:p>
        </p:txBody>
      </p:sp>
      <p:sp>
        <p:nvSpPr>
          <p:cNvPr id="23" name="TextBox 22"/>
          <p:cNvSpPr txBox="1"/>
          <p:nvPr/>
        </p:nvSpPr>
        <p:spPr>
          <a:xfrm>
            <a:off x="2011680" y="2953511"/>
            <a:ext cx="594360" cy="320040"/>
          </a:xfrm>
          <a:prstGeom prst="rect">
            <a:avLst/>
          </a:prstGeom>
          <a:noFill/>
        </p:spPr>
        <p:txBody>
          <a:bodyPr wrap="square" lIns="0" rIns="0" tIns="0" bIns="0" anchor="t">
            <a:spAutoFit/>
          </a:bodyPr>
          <a:lstStyle/>
          <a:p>
            <a:pPr algn="r">
              <a:lnSpc>
                <a:spcPct val="115000"/>
              </a:lnSpc>
            </a:pPr>
            <a:r>
              <a:rPr sz="800" b="1" i="0">
                <a:solidFill>
                  <a:srgbClr val="14B8A6"/>
                </a:solidFill>
                <a:latin typeface="Calibri"/>
              </a:rPr>
              <a:t>HAIKU</a:t>
            </a:r>
          </a:p>
        </p:txBody>
      </p:sp>
      <p:sp>
        <p:nvSpPr>
          <p:cNvPr id="24" name="Rectangle 23"/>
          <p:cNvSpPr/>
          <p:nvPr/>
        </p:nvSpPr>
        <p:spPr>
          <a:xfrm>
            <a:off x="2752344" y="2862071"/>
            <a:ext cx="2148840" cy="50292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752344" y="2862071"/>
            <a:ext cx="54864" cy="502920"/>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35224" y="2935223"/>
            <a:ext cx="1325880" cy="411480"/>
          </a:xfrm>
          <a:prstGeom prst="rect">
            <a:avLst/>
          </a:prstGeom>
          <a:noFill/>
        </p:spPr>
        <p:txBody>
          <a:bodyPr wrap="square" lIns="0" rIns="0" tIns="0" bIns="0" anchor="t">
            <a:spAutoFit/>
          </a:bodyPr>
          <a:lstStyle/>
          <a:p>
            <a:pPr algn="l">
              <a:lnSpc>
                <a:spcPct val="115000"/>
              </a:lnSpc>
            </a:pPr>
            <a:r>
              <a:rPr sz="1050" b="1" i="0">
                <a:solidFill>
                  <a:srgbClr val="0F172E"/>
                </a:solidFill>
                <a:latin typeface="Calibri"/>
              </a:rPr>
              <a:t>Requirement Splitting</a:t>
            </a:r>
          </a:p>
        </p:txBody>
      </p:sp>
      <p:sp>
        <p:nvSpPr>
          <p:cNvPr id="27" name="TextBox 26"/>
          <p:cNvSpPr txBox="1"/>
          <p:nvPr/>
        </p:nvSpPr>
        <p:spPr>
          <a:xfrm>
            <a:off x="4215384" y="2953511"/>
            <a:ext cx="594360" cy="320040"/>
          </a:xfrm>
          <a:prstGeom prst="rect">
            <a:avLst/>
          </a:prstGeom>
          <a:noFill/>
        </p:spPr>
        <p:txBody>
          <a:bodyPr wrap="square" lIns="0" rIns="0" tIns="0" bIns="0" anchor="t">
            <a:spAutoFit/>
          </a:bodyPr>
          <a:lstStyle/>
          <a:p>
            <a:pPr algn="r">
              <a:lnSpc>
                <a:spcPct val="115000"/>
              </a:lnSpc>
            </a:pPr>
            <a:r>
              <a:rPr sz="800" b="1" i="0">
                <a:solidFill>
                  <a:srgbClr val="4A7BFF"/>
                </a:solidFill>
                <a:latin typeface="Calibri"/>
              </a:rPr>
              <a:t>SONNET</a:t>
            </a:r>
          </a:p>
        </p:txBody>
      </p:sp>
      <p:sp>
        <p:nvSpPr>
          <p:cNvPr id="28" name="Rectangle 27"/>
          <p:cNvSpPr/>
          <p:nvPr/>
        </p:nvSpPr>
        <p:spPr>
          <a:xfrm>
            <a:off x="4956048" y="2862071"/>
            <a:ext cx="2148840" cy="50292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956048" y="2862071"/>
            <a:ext cx="54864" cy="502920"/>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38928" y="2935223"/>
            <a:ext cx="1325880" cy="411480"/>
          </a:xfrm>
          <a:prstGeom prst="rect">
            <a:avLst/>
          </a:prstGeom>
          <a:noFill/>
        </p:spPr>
        <p:txBody>
          <a:bodyPr wrap="square" lIns="0" rIns="0" tIns="0" bIns="0" anchor="t">
            <a:spAutoFit/>
          </a:bodyPr>
          <a:lstStyle/>
          <a:p>
            <a:pPr algn="l">
              <a:lnSpc>
                <a:spcPct val="115000"/>
              </a:lnSpc>
            </a:pPr>
            <a:r>
              <a:rPr sz="1050" b="1" i="0">
                <a:solidFill>
                  <a:srgbClr val="0F172E"/>
                </a:solidFill>
                <a:latin typeface="Calibri"/>
              </a:rPr>
              <a:t>Vendor Invite Suggest</a:t>
            </a:r>
          </a:p>
        </p:txBody>
      </p:sp>
      <p:sp>
        <p:nvSpPr>
          <p:cNvPr id="31" name="TextBox 30"/>
          <p:cNvSpPr txBox="1"/>
          <p:nvPr/>
        </p:nvSpPr>
        <p:spPr>
          <a:xfrm>
            <a:off x="6419088" y="2953511"/>
            <a:ext cx="594360" cy="320040"/>
          </a:xfrm>
          <a:prstGeom prst="rect">
            <a:avLst/>
          </a:prstGeom>
          <a:noFill/>
        </p:spPr>
        <p:txBody>
          <a:bodyPr wrap="square" lIns="0" rIns="0" tIns="0" bIns="0" anchor="t">
            <a:spAutoFit/>
          </a:bodyPr>
          <a:lstStyle/>
          <a:p>
            <a:pPr algn="r">
              <a:lnSpc>
                <a:spcPct val="115000"/>
              </a:lnSpc>
            </a:pPr>
            <a:r>
              <a:rPr sz="800" b="1" i="0">
                <a:solidFill>
                  <a:srgbClr val="4A7BFF"/>
                </a:solidFill>
                <a:latin typeface="Calibri"/>
              </a:rPr>
              <a:t>SONNET</a:t>
            </a:r>
          </a:p>
        </p:txBody>
      </p:sp>
      <p:sp>
        <p:nvSpPr>
          <p:cNvPr id="32" name="Rectangle 31"/>
          <p:cNvSpPr/>
          <p:nvPr/>
        </p:nvSpPr>
        <p:spPr>
          <a:xfrm>
            <a:off x="548640" y="3438143"/>
            <a:ext cx="2148840" cy="50292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3438143"/>
            <a:ext cx="54864" cy="502920"/>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3511295"/>
            <a:ext cx="1325880" cy="411480"/>
          </a:xfrm>
          <a:prstGeom prst="rect">
            <a:avLst/>
          </a:prstGeom>
          <a:noFill/>
        </p:spPr>
        <p:txBody>
          <a:bodyPr wrap="square" lIns="0" rIns="0" tIns="0" bIns="0" anchor="t">
            <a:spAutoFit/>
          </a:bodyPr>
          <a:lstStyle/>
          <a:p>
            <a:pPr algn="l">
              <a:lnSpc>
                <a:spcPct val="115000"/>
              </a:lnSpc>
            </a:pPr>
            <a:r>
              <a:rPr sz="1050" b="1" i="0">
                <a:solidFill>
                  <a:srgbClr val="0F172E"/>
                </a:solidFill>
                <a:latin typeface="Calibri"/>
              </a:rPr>
              <a:t>Evidence Parsing</a:t>
            </a:r>
          </a:p>
        </p:txBody>
      </p:sp>
      <p:sp>
        <p:nvSpPr>
          <p:cNvPr id="35" name="TextBox 34"/>
          <p:cNvSpPr txBox="1"/>
          <p:nvPr/>
        </p:nvSpPr>
        <p:spPr>
          <a:xfrm>
            <a:off x="2011680" y="3529583"/>
            <a:ext cx="594360" cy="320040"/>
          </a:xfrm>
          <a:prstGeom prst="rect">
            <a:avLst/>
          </a:prstGeom>
          <a:noFill/>
        </p:spPr>
        <p:txBody>
          <a:bodyPr wrap="square" lIns="0" rIns="0" tIns="0" bIns="0" anchor="t">
            <a:spAutoFit/>
          </a:bodyPr>
          <a:lstStyle/>
          <a:p>
            <a:pPr algn="r">
              <a:lnSpc>
                <a:spcPct val="115000"/>
              </a:lnSpc>
            </a:pPr>
            <a:r>
              <a:rPr sz="800" b="1" i="0">
                <a:solidFill>
                  <a:srgbClr val="4A7BFF"/>
                </a:solidFill>
                <a:latin typeface="Calibri"/>
              </a:rPr>
              <a:t>SONNET</a:t>
            </a:r>
          </a:p>
        </p:txBody>
      </p:sp>
      <p:sp>
        <p:nvSpPr>
          <p:cNvPr id="36" name="Rectangle 35"/>
          <p:cNvSpPr/>
          <p:nvPr/>
        </p:nvSpPr>
        <p:spPr>
          <a:xfrm>
            <a:off x="2752344" y="3438143"/>
            <a:ext cx="2148840" cy="50292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752344" y="3438143"/>
            <a:ext cx="54864" cy="502920"/>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935224" y="3511295"/>
            <a:ext cx="1325880" cy="411480"/>
          </a:xfrm>
          <a:prstGeom prst="rect">
            <a:avLst/>
          </a:prstGeom>
          <a:noFill/>
        </p:spPr>
        <p:txBody>
          <a:bodyPr wrap="square" lIns="0" rIns="0" tIns="0" bIns="0" anchor="t">
            <a:spAutoFit/>
          </a:bodyPr>
          <a:lstStyle/>
          <a:p>
            <a:pPr algn="l">
              <a:lnSpc>
                <a:spcPct val="115000"/>
              </a:lnSpc>
            </a:pPr>
            <a:r>
              <a:rPr sz="1050" b="1" i="0">
                <a:solidFill>
                  <a:srgbClr val="0F172E"/>
                </a:solidFill>
                <a:latin typeface="Calibri"/>
              </a:rPr>
              <a:t>Pre-Scoring</a:t>
            </a:r>
          </a:p>
        </p:txBody>
      </p:sp>
      <p:sp>
        <p:nvSpPr>
          <p:cNvPr id="39" name="TextBox 38"/>
          <p:cNvSpPr txBox="1"/>
          <p:nvPr/>
        </p:nvSpPr>
        <p:spPr>
          <a:xfrm>
            <a:off x="4215384" y="3529583"/>
            <a:ext cx="594360" cy="320040"/>
          </a:xfrm>
          <a:prstGeom prst="rect">
            <a:avLst/>
          </a:prstGeom>
          <a:noFill/>
        </p:spPr>
        <p:txBody>
          <a:bodyPr wrap="square" lIns="0" rIns="0" tIns="0" bIns="0" anchor="t">
            <a:spAutoFit/>
          </a:bodyPr>
          <a:lstStyle/>
          <a:p>
            <a:pPr algn="r">
              <a:lnSpc>
                <a:spcPct val="115000"/>
              </a:lnSpc>
            </a:pPr>
            <a:r>
              <a:rPr sz="800" b="1" i="0">
                <a:solidFill>
                  <a:srgbClr val="4A7BFF"/>
                </a:solidFill>
                <a:latin typeface="Calibri"/>
              </a:rPr>
              <a:t>SONNET</a:t>
            </a:r>
          </a:p>
        </p:txBody>
      </p:sp>
      <p:sp>
        <p:nvSpPr>
          <p:cNvPr id="40" name="Rectangle 39"/>
          <p:cNvSpPr/>
          <p:nvPr/>
        </p:nvSpPr>
        <p:spPr>
          <a:xfrm>
            <a:off x="4956048" y="3438143"/>
            <a:ext cx="2148840" cy="50292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956048" y="3438143"/>
            <a:ext cx="54864" cy="502920"/>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138928" y="3511295"/>
            <a:ext cx="1325880" cy="411480"/>
          </a:xfrm>
          <a:prstGeom prst="rect">
            <a:avLst/>
          </a:prstGeom>
          <a:noFill/>
        </p:spPr>
        <p:txBody>
          <a:bodyPr wrap="square" lIns="0" rIns="0" tIns="0" bIns="0" anchor="t">
            <a:spAutoFit/>
          </a:bodyPr>
          <a:lstStyle/>
          <a:p>
            <a:pPr algn="l">
              <a:lnSpc>
                <a:spcPct val="115000"/>
              </a:lnSpc>
            </a:pPr>
            <a:r>
              <a:rPr sz="1050" b="1" i="0">
                <a:solidFill>
                  <a:srgbClr val="0F172E"/>
                </a:solidFill>
                <a:latin typeface="Calibri"/>
              </a:rPr>
              <a:t>Disagreement Insight</a:t>
            </a:r>
          </a:p>
        </p:txBody>
      </p:sp>
      <p:sp>
        <p:nvSpPr>
          <p:cNvPr id="43" name="TextBox 42"/>
          <p:cNvSpPr txBox="1"/>
          <p:nvPr/>
        </p:nvSpPr>
        <p:spPr>
          <a:xfrm>
            <a:off x="6419088" y="3529583"/>
            <a:ext cx="594360" cy="320040"/>
          </a:xfrm>
          <a:prstGeom prst="rect">
            <a:avLst/>
          </a:prstGeom>
          <a:noFill/>
        </p:spPr>
        <p:txBody>
          <a:bodyPr wrap="square" lIns="0" rIns="0" tIns="0" bIns="0" anchor="t">
            <a:spAutoFit/>
          </a:bodyPr>
          <a:lstStyle/>
          <a:p>
            <a:pPr algn="r">
              <a:lnSpc>
                <a:spcPct val="115000"/>
              </a:lnSpc>
            </a:pPr>
            <a:r>
              <a:rPr sz="800" b="1" i="0">
                <a:solidFill>
                  <a:srgbClr val="4A7BFF"/>
                </a:solidFill>
                <a:latin typeface="Calibri"/>
              </a:rPr>
              <a:t>SONNET</a:t>
            </a:r>
          </a:p>
        </p:txBody>
      </p:sp>
      <p:sp>
        <p:nvSpPr>
          <p:cNvPr id="44" name="Rectangle 43"/>
          <p:cNvSpPr/>
          <p:nvPr/>
        </p:nvSpPr>
        <p:spPr>
          <a:xfrm>
            <a:off x="548640" y="4014215"/>
            <a:ext cx="2148840" cy="50292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 y="4014215"/>
            <a:ext cx="54864" cy="502920"/>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1520" y="4087367"/>
            <a:ext cx="1325880" cy="411480"/>
          </a:xfrm>
          <a:prstGeom prst="rect">
            <a:avLst/>
          </a:prstGeom>
          <a:noFill/>
        </p:spPr>
        <p:txBody>
          <a:bodyPr wrap="square" lIns="0" rIns="0" tIns="0" bIns="0" anchor="t">
            <a:spAutoFit/>
          </a:bodyPr>
          <a:lstStyle/>
          <a:p>
            <a:pPr algn="l">
              <a:lnSpc>
                <a:spcPct val="115000"/>
              </a:lnSpc>
            </a:pPr>
            <a:r>
              <a:rPr sz="1050" b="1" i="0">
                <a:solidFill>
                  <a:srgbClr val="0F172E"/>
                </a:solidFill>
                <a:latin typeface="Calibri"/>
              </a:rPr>
              <a:t>Demo Focus Brief</a:t>
            </a:r>
          </a:p>
        </p:txBody>
      </p:sp>
      <p:sp>
        <p:nvSpPr>
          <p:cNvPr id="47" name="TextBox 46"/>
          <p:cNvSpPr txBox="1"/>
          <p:nvPr/>
        </p:nvSpPr>
        <p:spPr>
          <a:xfrm>
            <a:off x="2011680" y="4105655"/>
            <a:ext cx="594360" cy="320040"/>
          </a:xfrm>
          <a:prstGeom prst="rect">
            <a:avLst/>
          </a:prstGeom>
          <a:noFill/>
        </p:spPr>
        <p:txBody>
          <a:bodyPr wrap="square" lIns="0" rIns="0" tIns="0" bIns="0" anchor="t">
            <a:spAutoFit/>
          </a:bodyPr>
          <a:lstStyle/>
          <a:p>
            <a:pPr algn="r">
              <a:lnSpc>
                <a:spcPct val="115000"/>
              </a:lnSpc>
            </a:pPr>
            <a:r>
              <a:rPr sz="800" b="1" i="0">
                <a:solidFill>
                  <a:srgbClr val="4A7BFF"/>
                </a:solidFill>
                <a:latin typeface="Calibri"/>
              </a:rPr>
              <a:t>SONNET</a:t>
            </a:r>
          </a:p>
        </p:txBody>
      </p:sp>
      <p:sp>
        <p:nvSpPr>
          <p:cNvPr id="48" name="Rectangle 47"/>
          <p:cNvSpPr/>
          <p:nvPr/>
        </p:nvSpPr>
        <p:spPr>
          <a:xfrm>
            <a:off x="2752344" y="4014215"/>
            <a:ext cx="2148840" cy="50292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752344" y="4014215"/>
            <a:ext cx="54864" cy="502920"/>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935224" y="4087367"/>
            <a:ext cx="1325880" cy="411480"/>
          </a:xfrm>
          <a:prstGeom prst="rect">
            <a:avLst/>
          </a:prstGeom>
          <a:noFill/>
        </p:spPr>
        <p:txBody>
          <a:bodyPr wrap="square" lIns="0" rIns="0" tIns="0" bIns="0" anchor="t">
            <a:spAutoFit/>
          </a:bodyPr>
          <a:lstStyle/>
          <a:p>
            <a:pPr algn="l">
              <a:lnSpc>
                <a:spcPct val="115000"/>
              </a:lnSpc>
            </a:pPr>
            <a:r>
              <a:rPr sz="1050" b="1" i="0">
                <a:solidFill>
                  <a:srgbClr val="0F172E"/>
                </a:solidFill>
                <a:latin typeface="Calibri"/>
              </a:rPr>
              <a:t>TCO Narrative</a:t>
            </a:r>
          </a:p>
        </p:txBody>
      </p:sp>
      <p:sp>
        <p:nvSpPr>
          <p:cNvPr id="51" name="TextBox 50"/>
          <p:cNvSpPr txBox="1"/>
          <p:nvPr/>
        </p:nvSpPr>
        <p:spPr>
          <a:xfrm>
            <a:off x="4215384" y="4105655"/>
            <a:ext cx="594360" cy="320040"/>
          </a:xfrm>
          <a:prstGeom prst="rect">
            <a:avLst/>
          </a:prstGeom>
          <a:noFill/>
        </p:spPr>
        <p:txBody>
          <a:bodyPr wrap="square" lIns="0" rIns="0" tIns="0" bIns="0" anchor="t">
            <a:spAutoFit/>
          </a:bodyPr>
          <a:lstStyle/>
          <a:p>
            <a:pPr algn="r">
              <a:lnSpc>
                <a:spcPct val="115000"/>
              </a:lnSpc>
            </a:pPr>
            <a:r>
              <a:rPr sz="800" b="1" i="0">
                <a:solidFill>
                  <a:srgbClr val="4A7BFF"/>
                </a:solidFill>
                <a:latin typeface="Calibri"/>
              </a:rPr>
              <a:t>SONNET</a:t>
            </a:r>
          </a:p>
        </p:txBody>
      </p:sp>
      <p:sp>
        <p:nvSpPr>
          <p:cNvPr id="52" name="Rectangle 51"/>
          <p:cNvSpPr/>
          <p:nvPr/>
        </p:nvSpPr>
        <p:spPr>
          <a:xfrm>
            <a:off x="4956048" y="4014215"/>
            <a:ext cx="2148840" cy="50292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956048" y="4014215"/>
            <a:ext cx="54864" cy="502920"/>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138928" y="4087367"/>
            <a:ext cx="1325880" cy="411480"/>
          </a:xfrm>
          <a:prstGeom prst="rect">
            <a:avLst/>
          </a:prstGeom>
          <a:noFill/>
        </p:spPr>
        <p:txBody>
          <a:bodyPr wrap="square" lIns="0" rIns="0" tIns="0" bIns="0" anchor="t">
            <a:spAutoFit/>
          </a:bodyPr>
          <a:lstStyle/>
          <a:p>
            <a:pPr algn="l">
              <a:lnSpc>
                <a:spcPct val="115000"/>
              </a:lnSpc>
            </a:pPr>
            <a:r>
              <a:rPr sz="1050" b="1" i="0">
                <a:solidFill>
                  <a:srgbClr val="0F172E"/>
                </a:solidFill>
                <a:latin typeface="Calibri"/>
              </a:rPr>
              <a:t>Org Intelligence</a:t>
            </a:r>
          </a:p>
        </p:txBody>
      </p:sp>
      <p:sp>
        <p:nvSpPr>
          <p:cNvPr id="55" name="TextBox 54"/>
          <p:cNvSpPr txBox="1"/>
          <p:nvPr/>
        </p:nvSpPr>
        <p:spPr>
          <a:xfrm>
            <a:off x="6419088" y="4105655"/>
            <a:ext cx="594360" cy="320040"/>
          </a:xfrm>
          <a:prstGeom prst="rect">
            <a:avLst/>
          </a:prstGeom>
          <a:noFill/>
        </p:spPr>
        <p:txBody>
          <a:bodyPr wrap="square" lIns="0" rIns="0" tIns="0" bIns="0" anchor="t">
            <a:spAutoFit/>
          </a:bodyPr>
          <a:lstStyle/>
          <a:p>
            <a:pPr algn="r">
              <a:lnSpc>
                <a:spcPct val="115000"/>
              </a:lnSpc>
            </a:pPr>
            <a:r>
              <a:rPr sz="800" b="1" i="0">
                <a:solidFill>
                  <a:srgbClr val="4A7BFF"/>
                </a:solidFill>
                <a:latin typeface="Calibri"/>
              </a:rPr>
              <a:t>SONNET</a:t>
            </a:r>
          </a:p>
        </p:txBody>
      </p:sp>
      <p:sp>
        <p:nvSpPr>
          <p:cNvPr id="56" name="Rectangle 55"/>
          <p:cNvSpPr/>
          <p:nvPr/>
        </p:nvSpPr>
        <p:spPr>
          <a:xfrm>
            <a:off x="548640" y="4590287"/>
            <a:ext cx="2148840" cy="50292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548640" y="4590287"/>
            <a:ext cx="54864" cy="502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31520" y="4663439"/>
            <a:ext cx="1325880" cy="411480"/>
          </a:xfrm>
          <a:prstGeom prst="rect">
            <a:avLst/>
          </a:prstGeom>
          <a:noFill/>
        </p:spPr>
        <p:txBody>
          <a:bodyPr wrap="square" lIns="0" rIns="0" tIns="0" bIns="0" anchor="t">
            <a:spAutoFit/>
          </a:bodyPr>
          <a:lstStyle/>
          <a:p>
            <a:pPr algn="l">
              <a:lnSpc>
                <a:spcPct val="115000"/>
              </a:lnSpc>
            </a:pPr>
            <a:r>
              <a:rPr sz="1050" b="1" i="0">
                <a:solidFill>
                  <a:srgbClr val="0F172E"/>
                </a:solidFill>
                <a:latin typeface="Calibri"/>
              </a:rPr>
              <a:t>KB Bootstrap</a:t>
            </a:r>
          </a:p>
        </p:txBody>
      </p:sp>
      <p:sp>
        <p:nvSpPr>
          <p:cNvPr id="59" name="TextBox 58"/>
          <p:cNvSpPr txBox="1"/>
          <p:nvPr/>
        </p:nvSpPr>
        <p:spPr>
          <a:xfrm>
            <a:off x="2011680" y="4681727"/>
            <a:ext cx="594360" cy="320040"/>
          </a:xfrm>
          <a:prstGeom prst="rect">
            <a:avLst/>
          </a:prstGeom>
          <a:noFill/>
        </p:spPr>
        <p:txBody>
          <a:bodyPr wrap="square" lIns="0" rIns="0" tIns="0" bIns="0" anchor="t">
            <a:spAutoFit/>
          </a:bodyPr>
          <a:lstStyle/>
          <a:p>
            <a:pPr algn="r">
              <a:lnSpc>
                <a:spcPct val="115000"/>
              </a:lnSpc>
            </a:pPr>
            <a:r>
              <a:rPr sz="800" b="1" i="0">
                <a:solidFill>
                  <a:srgbClr val="7C3AED"/>
                </a:solidFill>
                <a:latin typeface="Calibri"/>
              </a:rPr>
              <a:t>OPUS</a:t>
            </a:r>
          </a:p>
        </p:txBody>
      </p:sp>
      <p:sp>
        <p:nvSpPr>
          <p:cNvPr id="60" name="Rectangle 59"/>
          <p:cNvSpPr/>
          <p:nvPr/>
        </p:nvSpPr>
        <p:spPr>
          <a:xfrm>
            <a:off x="2752344" y="4590287"/>
            <a:ext cx="2148840" cy="50292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752344" y="4590287"/>
            <a:ext cx="54864" cy="5029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935224" y="4663439"/>
            <a:ext cx="1325880" cy="411480"/>
          </a:xfrm>
          <a:prstGeom prst="rect">
            <a:avLst/>
          </a:prstGeom>
          <a:noFill/>
        </p:spPr>
        <p:txBody>
          <a:bodyPr wrap="square" lIns="0" rIns="0" tIns="0" bIns="0" anchor="t">
            <a:spAutoFit/>
          </a:bodyPr>
          <a:lstStyle/>
          <a:p>
            <a:pPr algn="l">
              <a:lnSpc>
                <a:spcPct val="115000"/>
              </a:lnSpc>
            </a:pPr>
            <a:r>
              <a:rPr sz="1050" b="1" i="0">
                <a:solidFill>
                  <a:srgbClr val="0F172E"/>
                </a:solidFill>
                <a:latin typeface="Calibri"/>
              </a:rPr>
              <a:t>KB Staleness</a:t>
            </a:r>
          </a:p>
        </p:txBody>
      </p:sp>
      <p:sp>
        <p:nvSpPr>
          <p:cNvPr id="63" name="TextBox 62"/>
          <p:cNvSpPr txBox="1"/>
          <p:nvPr/>
        </p:nvSpPr>
        <p:spPr>
          <a:xfrm>
            <a:off x="4215384" y="4681727"/>
            <a:ext cx="594360" cy="320040"/>
          </a:xfrm>
          <a:prstGeom prst="rect">
            <a:avLst/>
          </a:prstGeom>
          <a:noFill/>
        </p:spPr>
        <p:txBody>
          <a:bodyPr wrap="square" lIns="0" rIns="0" tIns="0" bIns="0" anchor="t">
            <a:spAutoFit/>
          </a:bodyPr>
          <a:lstStyle/>
          <a:p>
            <a:pPr algn="r">
              <a:lnSpc>
                <a:spcPct val="115000"/>
              </a:lnSpc>
            </a:pPr>
            <a:r>
              <a:rPr sz="800" b="1" i="0">
                <a:solidFill>
                  <a:srgbClr val="14B8A6"/>
                </a:solidFill>
                <a:latin typeface="Calibri"/>
              </a:rPr>
              <a:t>HAIKU</a:t>
            </a:r>
          </a:p>
        </p:txBody>
      </p:sp>
      <p:sp>
        <p:nvSpPr>
          <p:cNvPr id="64" name="Rectangle 63"/>
          <p:cNvSpPr/>
          <p:nvPr/>
        </p:nvSpPr>
        <p:spPr>
          <a:xfrm>
            <a:off x="4956048" y="4590287"/>
            <a:ext cx="2148840" cy="50292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4956048" y="4590287"/>
            <a:ext cx="54864" cy="502920"/>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138928" y="4663439"/>
            <a:ext cx="1325880" cy="411480"/>
          </a:xfrm>
          <a:prstGeom prst="rect">
            <a:avLst/>
          </a:prstGeom>
          <a:noFill/>
        </p:spPr>
        <p:txBody>
          <a:bodyPr wrap="square" lIns="0" rIns="0" tIns="0" bIns="0" anchor="t">
            <a:spAutoFit/>
          </a:bodyPr>
          <a:lstStyle/>
          <a:p>
            <a:pPr algn="l">
              <a:lnSpc>
                <a:spcPct val="115000"/>
              </a:lnSpc>
            </a:pPr>
            <a:r>
              <a:rPr sz="1050" b="1" i="0">
                <a:solidFill>
                  <a:srgbClr val="0F172E"/>
                </a:solidFill>
                <a:latin typeface="Calibri"/>
              </a:rPr>
              <a:t>First-Pass RFP Draft</a:t>
            </a:r>
          </a:p>
        </p:txBody>
      </p:sp>
      <p:sp>
        <p:nvSpPr>
          <p:cNvPr id="67" name="TextBox 66"/>
          <p:cNvSpPr txBox="1"/>
          <p:nvPr/>
        </p:nvSpPr>
        <p:spPr>
          <a:xfrm>
            <a:off x="6419088" y="4681727"/>
            <a:ext cx="594360" cy="320040"/>
          </a:xfrm>
          <a:prstGeom prst="rect">
            <a:avLst/>
          </a:prstGeom>
          <a:noFill/>
        </p:spPr>
        <p:txBody>
          <a:bodyPr wrap="square" lIns="0" rIns="0" tIns="0" bIns="0" anchor="t">
            <a:spAutoFit/>
          </a:bodyPr>
          <a:lstStyle/>
          <a:p>
            <a:pPr algn="r">
              <a:lnSpc>
                <a:spcPct val="115000"/>
              </a:lnSpc>
            </a:pPr>
            <a:r>
              <a:rPr sz="800" b="1" i="0">
                <a:solidFill>
                  <a:srgbClr val="4A7BFF"/>
                </a:solidFill>
                <a:latin typeface="Calibri"/>
              </a:rPr>
              <a:t>SONNET</a:t>
            </a:r>
          </a:p>
        </p:txBody>
      </p:sp>
      <p:sp>
        <p:nvSpPr>
          <p:cNvPr id="68" name="Rectangle 67"/>
          <p:cNvSpPr/>
          <p:nvPr/>
        </p:nvSpPr>
        <p:spPr>
          <a:xfrm>
            <a:off x="548640" y="5166359"/>
            <a:ext cx="2148840" cy="50292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48640" y="5166359"/>
            <a:ext cx="54864" cy="502920"/>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31520" y="5239511"/>
            <a:ext cx="1325880" cy="411480"/>
          </a:xfrm>
          <a:prstGeom prst="rect">
            <a:avLst/>
          </a:prstGeom>
          <a:noFill/>
        </p:spPr>
        <p:txBody>
          <a:bodyPr wrap="square" lIns="0" rIns="0" tIns="0" bIns="0" anchor="t">
            <a:spAutoFit/>
          </a:bodyPr>
          <a:lstStyle/>
          <a:p>
            <a:pPr algn="l">
              <a:lnSpc>
                <a:spcPct val="115000"/>
              </a:lnSpc>
            </a:pPr>
            <a:r>
              <a:rPr sz="1050" b="1" i="0">
                <a:solidFill>
                  <a:srgbClr val="0F172E"/>
                </a:solidFill>
                <a:latin typeface="Calibri"/>
              </a:rPr>
              <a:t>Q&amp;A Suggestion</a:t>
            </a:r>
          </a:p>
        </p:txBody>
      </p:sp>
      <p:sp>
        <p:nvSpPr>
          <p:cNvPr id="71" name="TextBox 70"/>
          <p:cNvSpPr txBox="1"/>
          <p:nvPr/>
        </p:nvSpPr>
        <p:spPr>
          <a:xfrm>
            <a:off x="2011680" y="5257799"/>
            <a:ext cx="594360" cy="320040"/>
          </a:xfrm>
          <a:prstGeom prst="rect">
            <a:avLst/>
          </a:prstGeom>
          <a:noFill/>
        </p:spPr>
        <p:txBody>
          <a:bodyPr wrap="square" lIns="0" rIns="0" tIns="0" bIns="0" anchor="t">
            <a:spAutoFit/>
          </a:bodyPr>
          <a:lstStyle/>
          <a:p>
            <a:pPr algn="r">
              <a:lnSpc>
                <a:spcPct val="115000"/>
              </a:lnSpc>
            </a:pPr>
            <a:r>
              <a:rPr sz="800" b="1" i="0">
                <a:solidFill>
                  <a:srgbClr val="4A7BFF"/>
                </a:solidFill>
                <a:latin typeface="Calibri"/>
              </a:rPr>
              <a:t>SONNET</a:t>
            </a:r>
          </a:p>
        </p:txBody>
      </p:sp>
      <p:sp>
        <p:nvSpPr>
          <p:cNvPr id="72" name="Rectangle 71"/>
          <p:cNvSpPr/>
          <p:nvPr/>
        </p:nvSpPr>
        <p:spPr>
          <a:xfrm>
            <a:off x="2752344" y="5166359"/>
            <a:ext cx="2148840" cy="50292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2752344" y="5166359"/>
            <a:ext cx="54864" cy="502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2935224" y="5239511"/>
            <a:ext cx="1325880" cy="411480"/>
          </a:xfrm>
          <a:prstGeom prst="rect">
            <a:avLst/>
          </a:prstGeom>
          <a:noFill/>
        </p:spPr>
        <p:txBody>
          <a:bodyPr wrap="square" lIns="0" rIns="0" tIns="0" bIns="0" anchor="t">
            <a:spAutoFit/>
          </a:bodyPr>
          <a:lstStyle/>
          <a:p>
            <a:pPr algn="l">
              <a:lnSpc>
                <a:spcPct val="115000"/>
              </a:lnSpc>
            </a:pPr>
            <a:r>
              <a:rPr sz="1050" b="1" i="0">
                <a:solidFill>
                  <a:srgbClr val="0F172E"/>
                </a:solidFill>
                <a:latin typeface="Calibri"/>
              </a:rPr>
              <a:t>Ghost-RFP Ingestion</a:t>
            </a:r>
          </a:p>
        </p:txBody>
      </p:sp>
      <p:sp>
        <p:nvSpPr>
          <p:cNvPr id="75" name="TextBox 74"/>
          <p:cNvSpPr txBox="1"/>
          <p:nvPr/>
        </p:nvSpPr>
        <p:spPr>
          <a:xfrm>
            <a:off x="4215384" y="5257799"/>
            <a:ext cx="594360" cy="320040"/>
          </a:xfrm>
          <a:prstGeom prst="rect">
            <a:avLst/>
          </a:prstGeom>
          <a:noFill/>
        </p:spPr>
        <p:txBody>
          <a:bodyPr wrap="square" lIns="0" rIns="0" tIns="0" bIns="0" anchor="t">
            <a:spAutoFit/>
          </a:bodyPr>
          <a:lstStyle/>
          <a:p>
            <a:pPr algn="r">
              <a:lnSpc>
                <a:spcPct val="115000"/>
              </a:lnSpc>
            </a:pPr>
            <a:r>
              <a:rPr sz="800" b="1" i="0">
                <a:solidFill>
                  <a:srgbClr val="7C3AED"/>
                </a:solidFill>
                <a:latin typeface="Calibri"/>
              </a:rPr>
              <a:t>OPUS</a:t>
            </a:r>
          </a:p>
        </p:txBody>
      </p:sp>
      <p:sp>
        <p:nvSpPr>
          <p:cNvPr id="76" name="Rectangle 75"/>
          <p:cNvSpPr/>
          <p:nvPr/>
        </p:nvSpPr>
        <p:spPr>
          <a:xfrm>
            <a:off x="4956048" y="5166359"/>
            <a:ext cx="2148840" cy="50292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4956048" y="5166359"/>
            <a:ext cx="54864" cy="502920"/>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138928" y="5239511"/>
            <a:ext cx="1325880" cy="411480"/>
          </a:xfrm>
          <a:prstGeom prst="rect">
            <a:avLst/>
          </a:prstGeom>
          <a:noFill/>
        </p:spPr>
        <p:txBody>
          <a:bodyPr wrap="square" lIns="0" rIns="0" tIns="0" bIns="0" anchor="t">
            <a:spAutoFit/>
          </a:bodyPr>
          <a:lstStyle/>
          <a:p>
            <a:pPr algn="l">
              <a:lnSpc>
                <a:spcPct val="115000"/>
              </a:lnSpc>
            </a:pPr>
            <a:r>
              <a:rPr sz="1050" b="1" i="0">
                <a:solidFill>
                  <a:srgbClr val="0F172E"/>
                </a:solidFill>
                <a:latin typeface="Calibri"/>
              </a:rPr>
              <a:t>Match Scoring</a:t>
            </a:r>
          </a:p>
        </p:txBody>
      </p:sp>
      <p:sp>
        <p:nvSpPr>
          <p:cNvPr id="79" name="TextBox 78"/>
          <p:cNvSpPr txBox="1"/>
          <p:nvPr/>
        </p:nvSpPr>
        <p:spPr>
          <a:xfrm>
            <a:off x="6419088" y="5257799"/>
            <a:ext cx="594360" cy="320040"/>
          </a:xfrm>
          <a:prstGeom prst="rect">
            <a:avLst/>
          </a:prstGeom>
          <a:noFill/>
        </p:spPr>
        <p:txBody>
          <a:bodyPr wrap="square" lIns="0" rIns="0" tIns="0" bIns="0" anchor="t">
            <a:spAutoFit/>
          </a:bodyPr>
          <a:lstStyle/>
          <a:p>
            <a:pPr algn="r">
              <a:lnSpc>
                <a:spcPct val="115000"/>
              </a:lnSpc>
            </a:pPr>
            <a:r>
              <a:rPr sz="800" b="1" i="0">
                <a:solidFill>
                  <a:srgbClr val="4A7BFF"/>
                </a:solidFill>
                <a:latin typeface="Calibri"/>
              </a:rPr>
              <a:t>SONNET</a:t>
            </a:r>
          </a:p>
        </p:txBody>
      </p:sp>
      <p:sp>
        <p:nvSpPr>
          <p:cNvPr id="80" name="Rectangle 79"/>
          <p:cNvSpPr/>
          <p:nvPr/>
        </p:nvSpPr>
        <p:spPr>
          <a:xfrm>
            <a:off x="548640" y="5742431"/>
            <a:ext cx="2148840" cy="50292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548640" y="5742431"/>
            <a:ext cx="54864" cy="502920"/>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31520" y="5815583"/>
            <a:ext cx="1325880" cy="411480"/>
          </a:xfrm>
          <a:prstGeom prst="rect">
            <a:avLst/>
          </a:prstGeom>
          <a:noFill/>
        </p:spPr>
        <p:txBody>
          <a:bodyPr wrap="square" lIns="0" rIns="0" tIns="0" bIns="0" anchor="t">
            <a:spAutoFit/>
          </a:bodyPr>
          <a:lstStyle/>
          <a:p>
            <a:pPr algn="l">
              <a:lnSpc>
                <a:spcPct val="115000"/>
              </a:lnSpc>
            </a:pPr>
            <a:r>
              <a:rPr sz="1050" b="1" i="0">
                <a:solidFill>
                  <a:srgbClr val="0F172E"/>
                </a:solidFill>
                <a:latin typeface="Calibri"/>
              </a:rPr>
              <a:t>Firecrawl Dedupe</a:t>
            </a:r>
          </a:p>
        </p:txBody>
      </p:sp>
      <p:sp>
        <p:nvSpPr>
          <p:cNvPr id="83" name="TextBox 82"/>
          <p:cNvSpPr txBox="1"/>
          <p:nvPr/>
        </p:nvSpPr>
        <p:spPr>
          <a:xfrm>
            <a:off x="2011680" y="5833871"/>
            <a:ext cx="594360" cy="320040"/>
          </a:xfrm>
          <a:prstGeom prst="rect">
            <a:avLst/>
          </a:prstGeom>
          <a:noFill/>
        </p:spPr>
        <p:txBody>
          <a:bodyPr wrap="square" lIns="0" rIns="0" tIns="0" bIns="0" anchor="t">
            <a:spAutoFit/>
          </a:bodyPr>
          <a:lstStyle/>
          <a:p>
            <a:pPr algn="r">
              <a:lnSpc>
                <a:spcPct val="115000"/>
              </a:lnSpc>
            </a:pPr>
            <a:r>
              <a:rPr sz="800" b="1" i="0">
                <a:solidFill>
                  <a:srgbClr val="4A7BFF"/>
                </a:solidFill>
                <a:latin typeface="Calibri"/>
              </a:rPr>
              <a:t>SONNET</a:t>
            </a:r>
          </a:p>
        </p:txBody>
      </p:sp>
      <p:sp>
        <p:nvSpPr>
          <p:cNvPr id="84" name="Rectangle 83"/>
          <p:cNvSpPr/>
          <p:nvPr/>
        </p:nvSpPr>
        <p:spPr>
          <a:xfrm>
            <a:off x="2752344" y="5742431"/>
            <a:ext cx="2148840" cy="50292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2752344" y="5742431"/>
            <a:ext cx="54864" cy="502920"/>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935224" y="5815583"/>
            <a:ext cx="1325880" cy="411480"/>
          </a:xfrm>
          <a:prstGeom prst="rect">
            <a:avLst/>
          </a:prstGeom>
          <a:noFill/>
        </p:spPr>
        <p:txBody>
          <a:bodyPr wrap="square" lIns="0" rIns="0" tIns="0" bIns="0" anchor="t">
            <a:spAutoFit/>
          </a:bodyPr>
          <a:lstStyle/>
          <a:p>
            <a:pPr algn="l">
              <a:lnSpc>
                <a:spcPct val="115000"/>
              </a:lnSpc>
            </a:pPr>
            <a:r>
              <a:rPr sz="1050" b="1" i="0">
                <a:solidFill>
                  <a:srgbClr val="0F172E"/>
                </a:solidFill>
                <a:latin typeface="Calibri"/>
              </a:rPr>
              <a:t>Capability Declare</a:t>
            </a:r>
          </a:p>
        </p:txBody>
      </p:sp>
      <p:sp>
        <p:nvSpPr>
          <p:cNvPr id="87" name="TextBox 86"/>
          <p:cNvSpPr txBox="1"/>
          <p:nvPr/>
        </p:nvSpPr>
        <p:spPr>
          <a:xfrm>
            <a:off x="4215384" y="5833871"/>
            <a:ext cx="594360" cy="320040"/>
          </a:xfrm>
          <a:prstGeom prst="rect">
            <a:avLst/>
          </a:prstGeom>
          <a:noFill/>
        </p:spPr>
        <p:txBody>
          <a:bodyPr wrap="square" lIns="0" rIns="0" tIns="0" bIns="0" anchor="t">
            <a:spAutoFit/>
          </a:bodyPr>
          <a:lstStyle/>
          <a:p>
            <a:pPr algn="r">
              <a:lnSpc>
                <a:spcPct val="115000"/>
              </a:lnSpc>
            </a:pPr>
            <a:r>
              <a:rPr sz="800" b="1" i="0">
                <a:solidFill>
                  <a:srgbClr val="4A7BFF"/>
                </a:solidFill>
                <a:latin typeface="Calibri"/>
              </a:rPr>
              <a:t>SONNET</a:t>
            </a:r>
          </a:p>
        </p:txBody>
      </p:sp>
      <p:sp>
        <p:nvSpPr>
          <p:cNvPr id="88" name="Rectangle 87"/>
          <p:cNvSpPr/>
          <p:nvPr/>
        </p:nvSpPr>
        <p:spPr>
          <a:xfrm>
            <a:off x="4956048" y="5742431"/>
            <a:ext cx="2148840" cy="50292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4956048" y="5742431"/>
            <a:ext cx="54864" cy="502920"/>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5138928" y="5815583"/>
            <a:ext cx="1325880" cy="411480"/>
          </a:xfrm>
          <a:prstGeom prst="rect">
            <a:avLst/>
          </a:prstGeom>
          <a:noFill/>
        </p:spPr>
        <p:txBody>
          <a:bodyPr wrap="square" lIns="0" rIns="0" tIns="0" bIns="0" anchor="t">
            <a:spAutoFit/>
          </a:bodyPr>
          <a:lstStyle/>
          <a:p>
            <a:pPr algn="l">
              <a:lnSpc>
                <a:spcPct val="115000"/>
              </a:lnSpc>
            </a:pPr>
            <a:r>
              <a:rPr sz="1050" b="1" i="0">
                <a:solidFill>
                  <a:srgbClr val="0F172E"/>
                </a:solidFill>
                <a:latin typeface="Calibri"/>
              </a:rPr>
              <a:t>Pulse Digest</a:t>
            </a:r>
          </a:p>
        </p:txBody>
      </p:sp>
      <p:sp>
        <p:nvSpPr>
          <p:cNvPr id="91" name="TextBox 90"/>
          <p:cNvSpPr txBox="1"/>
          <p:nvPr/>
        </p:nvSpPr>
        <p:spPr>
          <a:xfrm>
            <a:off x="6419088" y="5833871"/>
            <a:ext cx="594360" cy="320040"/>
          </a:xfrm>
          <a:prstGeom prst="rect">
            <a:avLst/>
          </a:prstGeom>
          <a:noFill/>
        </p:spPr>
        <p:txBody>
          <a:bodyPr wrap="square" lIns="0" rIns="0" tIns="0" bIns="0" anchor="t">
            <a:spAutoFit/>
          </a:bodyPr>
          <a:lstStyle/>
          <a:p>
            <a:pPr algn="r">
              <a:lnSpc>
                <a:spcPct val="115000"/>
              </a:lnSpc>
            </a:pPr>
            <a:r>
              <a:rPr sz="800" b="1" i="0">
                <a:solidFill>
                  <a:srgbClr val="4A7BFF"/>
                </a:solidFill>
                <a:latin typeface="Calibri"/>
              </a:rPr>
              <a:t>SONNET</a:t>
            </a:r>
          </a:p>
        </p:txBody>
      </p:sp>
      <p:sp>
        <p:nvSpPr>
          <p:cNvPr id="92" name="Rectangle 91"/>
          <p:cNvSpPr/>
          <p:nvPr/>
        </p:nvSpPr>
        <p:spPr>
          <a:xfrm>
            <a:off x="7498079" y="1874519"/>
            <a:ext cx="4206240" cy="4526280"/>
          </a:xfrm>
          <a:prstGeom prst="rect">
            <a:avLst/>
          </a:prstGeom>
          <a:solidFill>
            <a:srgbClr val="0A14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7498079" y="1874519"/>
            <a:ext cx="73152" cy="4526280"/>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7818119" y="2103119"/>
            <a:ext cx="3566160" cy="365760"/>
          </a:xfrm>
          <a:prstGeom prst="rect">
            <a:avLst/>
          </a:prstGeom>
          <a:noFill/>
        </p:spPr>
        <p:txBody>
          <a:bodyPr wrap="square" lIns="0" rIns="0" tIns="0" bIns="0" anchor="t">
            <a:spAutoFit/>
          </a:bodyPr>
          <a:lstStyle/>
          <a:p>
            <a:pPr algn="l">
              <a:lnSpc>
                <a:spcPct val="115000"/>
              </a:lnSpc>
            </a:pPr>
            <a:r>
              <a:rPr sz="1000" b="1" i="0">
                <a:solidFill>
                  <a:srgbClr val="F4B400"/>
                </a:solidFill>
                <a:latin typeface="Calibri"/>
              </a:rPr>
              <a:t>THE OUTCOME-ACCOUNTED LAYER</a:t>
            </a:r>
          </a:p>
        </p:txBody>
      </p:sp>
      <p:sp>
        <p:nvSpPr>
          <p:cNvPr id="95" name="TextBox 94"/>
          <p:cNvSpPr txBox="1"/>
          <p:nvPr/>
        </p:nvSpPr>
        <p:spPr>
          <a:xfrm>
            <a:off x="7818119" y="2404871"/>
            <a:ext cx="3566160" cy="822960"/>
          </a:xfrm>
          <a:prstGeom prst="rect">
            <a:avLst/>
          </a:prstGeom>
          <a:noFill/>
        </p:spPr>
        <p:txBody>
          <a:bodyPr wrap="square" lIns="0" rIns="0" tIns="0" bIns="0" anchor="t">
            <a:spAutoFit/>
          </a:bodyPr>
          <a:lstStyle/>
          <a:p>
            <a:pPr algn="l">
              <a:lnSpc>
                <a:spcPct val="110000"/>
              </a:lnSpc>
            </a:pPr>
            <a:r>
              <a:rPr sz="1800" b="1" i="0">
                <a:solidFill>
                  <a:srgbClr val="FFFFFF"/>
                </a:solidFill>
                <a:latin typeface="Calibri"/>
              </a:rPr>
              <a:t>Every AI operation settles as accepted or rejected.</a:t>
            </a:r>
          </a:p>
        </p:txBody>
      </p:sp>
      <p:sp>
        <p:nvSpPr>
          <p:cNvPr id="96" name="TextBox 95"/>
          <p:cNvSpPr txBox="1"/>
          <p:nvPr/>
        </p:nvSpPr>
        <p:spPr>
          <a:xfrm>
            <a:off x="7818119" y="3428999"/>
            <a:ext cx="3566160" cy="320040"/>
          </a:xfrm>
          <a:prstGeom prst="rect">
            <a:avLst/>
          </a:prstGeom>
          <a:noFill/>
        </p:spPr>
        <p:txBody>
          <a:bodyPr wrap="square" lIns="0" rIns="0" tIns="0" bIns="0" anchor="t">
            <a:spAutoFit/>
          </a:bodyPr>
          <a:lstStyle/>
          <a:p>
            <a:pPr algn="l">
              <a:lnSpc>
                <a:spcPct val="115000"/>
              </a:lnSpc>
            </a:pPr>
            <a:r>
              <a:rPr sz="1000" b="1" i="0">
                <a:solidFill>
                  <a:srgbClr val="14B8A6"/>
                </a:solidFill>
                <a:latin typeface="Calibri"/>
              </a:rPr>
              <a:t>ACCEPTED</a:t>
            </a:r>
          </a:p>
        </p:txBody>
      </p:sp>
      <p:sp>
        <p:nvSpPr>
          <p:cNvPr id="97" name="TextBox 96"/>
          <p:cNvSpPr txBox="1"/>
          <p:nvPr/>
        </p:nvSpPr>
        <p:spPr>
          <a:xfrm>
            <a:off x="7818119" y="3703319"/>
            <a:ext cx="3566160" cy="548640"/>
          </a:xfrm>
          <a:prstGeom prst="rect">
            <a:avLst/>
          </a:prstGeom>
          <a:noFill/>
        </p:spPr>
        <p:txBody>
          <a:bodyPr wrap="square" lIns="0" rIns="0" tIns="0" bIns="0" anchor="t">
            <a:spAutoFit/>
          </a:bodyPr>
          <a:lstStyle/>
          <a:p>
            <a:pPr algn="l">
              <a:lnSpc>
                <a:spcPct val="115000"/>
              </a:lnSpc>
            </a:pPr>
            <a:r>
              <a:rPr sz="2800" b="1" i="0">
                <a:solidFill>
                  <a:srgbClr val="FFFFFF"/>
                </a:solidFill>
                <a:latin typeface="Consolas"/>
              </a:rPr>
              <a:t>10× cost_base</a:t>
            </a:r>
          </a:p>
        </p:txBody>
      </p:sp>
      <p:sp>
        <p:nvSpPr>
          <p:cNvPr id="98" name="TextBox 97"/>
          <p:cNvSpPr txBox="1"/>
          <p:nvPr/>
        </p:nvSpPr>
        <p:spPr>
          <a:xfrm>
            <a:off x="7818119" y="4389119"/>
            <a:ext cx="3566160" cy="320040"/>
          </a:xfrm>
          <a:prstGeom prst="rect">
            <a:avLst/>
          </a:prstGeom>
          <a:noFill/>
        </p:spPr>
        <p:txBody>
          <a:bodyPr wrap="square" lIns="0" rIns="0" tIns="0" bIns="0" anchor="t">
            <a:spAutoFit/>
          </a:bodyPr>
          <a:lstStyle/>
          <a:p>
            <a:pPr algn="l">
              <a:lnSpc>
                <a:spcPct val="115000"/>
              </a:lnSpc>
            </a:pPr>
            <a:r>
              <a:rPr sz="1000" b="1" i="0">
                <a:solidFill>
                  <a:srgbClr val="F96167"/>
                </a:solidFill>
                <a:latin typeface="Calibri"/>
              </a:rPr>
              <a:t>REJECTED</a:t>
            </a:r>
          </a:p>
        </p:txBody>
      </p:sp>
      <p:sp>
        <p:nvSpPr>
          <p:cNvPr id="99" name="TextBox 98"/>
          <p:cNvSpPr txBox="1"/>
          <p:nvPr/>
        </p:nvSpPr>
        <p:spPr>
          <a:xfrm>
            <a:off x="7818119" y="4663439"/>
            <a:ext cx="3566160" cy="548640"/>
          </a:xfrm>
          <a:prstGeom prst="rect">
            <a:avLst/>
          </a:prstGeom>
          <a:noFill/>
        </p:spPr>
        <p:txBody>
          <a:bodyPr wrap="square" lIns="0" rIns="0" tIns="0" bIns="0" anchor="t">
            <a:spAutoFit/>
          </a:bodyPr>
          <a:lstStyle/>
          <a:p>
            <a:pPr algn="l">
              <a:lnSpc>
                <a:spcPct val="115000"/>
              </a:lnSpc>
            </a:pPr>
            <a:r>
              <a:rPr sz="2800" b="1" i="0">
                <a:solidFill>
                  <a:srgbClr val="FFFFFF"/>
                </a:solidFill>
                <a:latin typeface="Consolas"/>
              </a:rPr>
              <a:t>1.05× cost_base</a:t>
            </a:r>
          </a:p>
        </p:txBody>
      </p:sp>
      <p:cxnSp>
        <p:nvCxnSpPr>
          <p:cNvPr id="100" name="Connector 99"/>
          <p:cNvCxnSpPr/>
          <p:nvPr/>
        </p:nvCxnSpPr>
        <p:spPr>
          <a:xfrm>
            <a:off x="7818119" y="5394959"/>
            <a:ext cx="3566160" cy="0"/>
          </a:xfrm>
          <a:prstGeom prst="line">
            <a:avLst/>
          </a:prstGeom>
          <a:ln w="9525">
            <a:solidFill>
              <a:srgbClr val="1E2B5C"/>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7818119" y="5486399"/>
            <a:ext cx="3566160" cy="868680"/>
          </a:xfrm>
          <a:prstGeom prst="rect">
            <a:avLst/>
          </a:prstGeom>
          <a:noFill/>
        </p:spPr>
        <p:txBody>
          <a:bodyPr wrap="square" lIns="0" rIns="0" tIns="0" bIns="0" anchor="t">
            <a:spAutoFit/>
          </a:bodyPr>
          <a:lstStyle/>
          <a:p>
            <a:pPr algn="l">
              <a:lnSpc>
                <a:spcPct val="130000"/>
              </a:lnSpc>
            </a:pPr>
            <a:r>
              <a:rPr sz="1100" b="0" i="0">
                <a:solidFill>
                  <a:srgbClr val="E8EDF7"/>
                </a:solidFill>
                <a:latin typeface="Calibri"/>
              </a:rPr>
              <a:t>Rejected outputs are never profitable. Sourcera's margin is aligned on output quality at the pricing layer itself — no feature toggle required.</a:t>
            </a:r>
          </a:p>
        </p:txBody>
      </p:sp>
      <p:cxnSp>
        <p:nvCxnSpPr>
          <p:cNvPr id="102" name="Connector 101"/>
          <p:cNvCxnSpPr/>
          <p:nvPr/>
        </p:nvCxnSpPr>
        <p:spPr>
          <a:xfrm>
            <a:off x="548640" y="6355080"/>
            <a:ext cx="11094415" cy="0"/>
          </a:xfrm>
          <a:prstGeom prst="line">
            <a:avLst/>
          </a:prstGeom>
          <a:ln w="9525">
            <a:solidFill>
              <a:srgbClr val="D8DFEE"/>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548640" y="6437376"/>
            <a:ext cx="3657600" cy="274320"/>
          </a:xfrm>
          <a:prstGeom prst="rect">
            <a:avLst/>
          </a:prstGeom>
          <a:noFill/>
        </p:spPr>
        <p:txBody>
          <a:bodyPr wrap="square" lIns="0" rIns="0" tIns="0" bIns="0" anchor="t">
            <a:spAutoFit/>
          </a:bodyPr>
          <a:lstStyle/>
          <a:p>
            <a:pPr algn="l">
              <a:lnSpc>
                <a:spcPct val="115000"/>
              </a:lnSpc>
            </a:pPr>
            <a:r>
              <a:rPr sz="900" b="1" i="0">
                <a:solidFill>
                  <a:srgbClr val="4A5573"/>
                </a:solidFill>
                <a:latin typeface="Calibri"/>
              </a:rPr>
              <a:t>SOURCERA  ·  AI INTELLIGENCE</a:t>
            </a:r>
          </a:p>
        </p:txBody>
      </p:sp>
      <p:sp>
        <p:nvSpPr>
          <p:cNvPr id="104" name="TextBox 103"/>
          <p:cNvSpPr txBox="1"/>
          <p:nvPr/>
        </p:nvSpPr>
        <p:spPr>
          <a:xfrm>
            <a:off x="10362895" y="6437376"/>
            <a:ext cx="1280160" cy="274320"/>
          </a:xfrm>
          <a:prstGeom prst="rect">
            <a:avLst/>
          </a:prstGeom>
          <a:noFill/>
        </p:spPr>
        <p:txBody>
          <a:bodyPr wrap="square" lIns="0" rIns="0" tIns="0" bIns="0" anchor="t">
            <a:spAutoFit/>
          </a:bodyPr>
          <a:lstStyle/>
          <a:p>
            <a:pPr algn="r">
              <a:lnSpc>
                <a:spcPct val="115000"/>
              </a:lnSpc>
            </a:pPr>
            <a:r>
              <a:rPr sz="900" b="0" i="0">
                <a:solidFill>
                  <a:srgbClr val="4A5573"/>
                </a:solidFill>
                <a:latin typeface="Calibri"/>
              </a:rPr>
              <a:t>07 / 19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21792"/>
            <a:ext cx="365760" cy="73152"/>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548640"/>
            <a:ext cx="9144000" cy="274320"/>
          </a:xfrm>
          <a:prstGeom prst="rect">
            <a:avLst/>
          </a:prstGeom>
          <a:noFill/>
        </p:spPr>
        <p:txBody>
          <a:bodyPr wrap="square" lIns="0" rIns="0" tIns="0" bIns="0" anchor="t">
            <a:spAutoFit/>
          </a:bodyPr>
          <a:lstStyle/>
          <a:p>
            <a:pPr algn="l">
              <a:lnSpc>
                <a:spcPct val="115000"/>
              </a:lnSpc>
            </a:pPr>
            <a:r>
              <a:rPr sz="1000" b="1" i="0">
                <a:solidFill>
                  <a:srgbClr val="4A7BFF"/>
                </a:solidFill>
                <a:latin typeface="Calibri"/>
              </a:rPr>
              <a:t>THE MARKETPLACE</a:t>
            </a:r>
          </a:p>
        </p:txBody>
      </p:sp>
      <p:sp>
        <p:nvSpPr>
          <p:cNvPr id="5" name="TextBox 4"/>
          <p:cNvSpPr txBox="1"/>
          <p:nvPr/>
        </p:nvSpPr>
        <p:spPr>
          <a:xfrm>
            <a:off x="548640" y="822960"/>
            <a:ext cx="10972800" cy="822960"/>
          </a:xfrm>
          <a:prstGeom prst="rect">
            <a:avLst/>
          </a:prstGeom>
          <a:noFill/>
        </p:spPr>
        <p:txBody>
          <a:bodyPr wrap="square" lIns="0" rIns="0" tIns="0" bIns="0" anchor="t">
            <a:spAutoFit/>
          </a:bodyPr>
          <a:lstStyle/>
          <a:p>
            <a:pPr algn="l">
              <a:lnSpc>
                <a:spcPct val="105000"/>
              </a:lnSpc>
            </a:pPr>
            <a:r>
              <a:rPr sz="3600" b="1" i="0">
                <a:solidFill>
                  <a:srgbClr val="0F172E"/>
                </a:solidFill>
                <a:latin typeface="Calibri"/>
              </a:rPr>
              <a:t>The third domain — where discovery begins.</a:t>
            </a:r>
          </a:p>
        </p:txBody>
      </p:sp>
      <p:sp>
        <p:nvSpPr>
          <p:cNvPr id="6" name="TextBox 5"/>
          <p:cNvSpPr txBox="1"/>
          <p:nvPr/>
        </p:nvSpPr>
        <p:spPr>
          <a:xfrm>
            <a:off x="548640" y="1508760"/>
            <a:ext cx="10972800" cy="457200"/>
          </a:xfrm>
          <a:prstGeom prst="rect">
            <a:avLst/>
          </a:prstGeom>
          <a:noFill/>
        </p:spPr>
        <p:txBody>
          <a:bodyPr wrap="square" lIns="0" rIns="0" tIns="0" bIns="0" anchor="t">
            <a:spAutoFit/>
          </a:bodyPr>
          <a:lstStyle/>
          <a:p>
            <a:pPr algn="l">
              <a:lnSpc>
                <a:spcPct val="125000"/>
              </a:lnSpc>
            </a:pPr>
            <a:r>
              <a:rPr sz="1500" b="0" i="0">
                <a:solidFill>
                  <a:srgbClr val="4A5573"/>
                </a:solidFill>
                <a:latin typeface="Calibri"/>
              </a:rPr>
              <a:t>Machine-searchable Capability Declarations, verified Seller Profiles, and qualified EOI flow — upstream of G2.</a:t>
            </a:r>
          </a:p>
        </p:txBody>
      </p:sp>
      <p:sp>
        <p:nvSpPr>
          <p:cNvPr id="7" name="Rectangle 6"/>
          <p:cNvSpPr/>
          <p:nvPr/>
        </p:nvSpPr>
        <p:spPr>
          <a:xfrm>
            <a:off x="548640" y="1874519"/>
            <a:ext cx="5760720" cy="100584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874519"/>
            <a:ext cx="73152" cy="100584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011679"/>
            <a:ext cx="5303520" cy="365760"/>
          </a:xfrm>
          <a:prstGeom prst="rect">
            <a:avLst/>
          </a:prstGeom>
          <a:noFill/>
        </p:spPr>
        <p:txBody>
          <a:bodyPr wrap="square" lIns="0" rIns="0" tIns="0" bIns="0" anchor="t">
            <a:spAutoFit/>
          </a:bodyPr>
          <a:lstStyle/>
          <a:p>
            <a:pPr algn="l">
              <a:lnSpc>
                <a:spcPct val="115000"/>
              </a:lnSpc>
            </a:pPr>
            <a:r>
              <a:rPr sz="1400" b="1" i="0">
                <a:solidFill>
                  <a:srgbClr val="0F172E"/>
                </a:solidFill>
                <a:latin typeface="Calibri"/>
              </a:rPr>
              <a:t>Seller Profiles</a:t>
            </a:r>
          </a:p>
        </p:txBody>
      </p:sp>
      <p:sp>
        <p:nvSpPr>
          <p:cNvPr id="10" name="TextBox 9"/>
          <p:cNvSpPr txBox="1"/>
          <p:nvPr/>
        </p:nvSpPr>
        <p:spPr>
          <a:xfrm>
            <a:off x="822960" y="2350007"/>
            <a:ext cx="5303520" cy="502920"/>
          </a:xfrm>
          <a:prstGeom prst="rect">
            <a:avLst/>
          </a:prstGeom>
          <a:noFill/>
        </p:spPr>
        <p:txBody>
          <a:bodyPr wrap="square" lIns="0" rIns="0" tIns="0" bIns="0" anchor="t">
            <a:spAutoFit/>
          </a:bodyPr>
          <a:lstStyle/>
          <a:p>
            <a:pPr algn="l">
              <a:lnSpc>
                <a:spcPct val="130000"/>
              </a:lnSpc>
            </a:pPr>
            <a:r>
              <a:rPr sz="1050" b="0" i="0">
                <a:solidFill>
                  <a:srgbClr val="4A5573"/>
                </a:solidFill>
                <a:latin typeface="Calibri"/>
              </a:rPr>
              <a:t>Published free from day one. Schema.org structured data. Per-category organic-search moat. Verification tiers: Basic · Verified · Certified.</a:t>
            </a:r>
          </a:p>
        </p:txBody>
      </p:sp>
      <p:sp>
        <p:nvSpPr>
          <p:cNvPr id="11" name="Rectangle 10"/>
          <p:cNvSpPr/>
          <p:nvPr/>
        </p:nvSpPr>
        <p:spPr>
          <a:xfrm>
            <a:off x="548640" y="2953511"/>
            <a:ext cx="5760720" cy="100584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953511"/>
            <a:ext cx="73152" cy="1005840"/>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090671"/>
            <a:ext cx="5303520" cy="365760"/>
          </a:xfrm>
          <a:prstGeom prst="rect">
            <a:avLst/>
          </a:prstGeom>
          <a:noFill/>
        </p:spPr>
        <p:txBody>
          <a:bodyPr wrap="square" lIns="0" rIns="0" tIns="0" bIns="0" anchor="t">
            <a:spAutoFit/>
          </a:bodyPr>
          <a:lstStyle/>
          <a:p>
            <a:pPr algn="l">
              <a:lnSpc>
                <a:spcPct val="115000"/>
              </a:lnSpc>
            </a:pPr>
            <a:r>
              <a:rPr sz="1400" b="1" i="0">
                <a:solidFill>
                  <a:srgbClr val="0F172E"/>
                </a:solidFill>
                <a:latin typeface="Calibri"/>
              </a:rPr>
              <a:t>SellerSoftware + Capability Declarations</a:t>
            </a:r>
          </a:p>
        </p:txBody>
      </p:sp>
      <p:sp>
        <p:nvSpPr>
          <p:cNvPr id="14" name="TextBox 13"/>
          <p:cNvSpPr txBox="1"/>
          <p:nvPr/>
        </p:nvSpPr>
        <p:spPr>
          <a:xfrm>
            <a:off x="822960" y="3428999"/>
            <a:ext cx="5303520" cy="502920"/>
          </a:xfrm>
          <a:prstGeom prst="rect">
            <a:avLst/>
          </a:prstGeom>
          <a:noFill/>
        </p:spPr>
        <p:txBody>
          <a:bodyPr wrap="square" lIns="0" rIns="0" tIns="0" bIns="0" anchor="t">
            <a:spAutoFit/>
          </a:bodyPr>
          <a:lstStyle/>
          <a:p>
            <a:pPr algn="l">
              <a:lnSpc>
                <a:spcPct val="130000"/>
              </a:lnSpc>
            </a:pPr>
            <a:r>
              <a:rPr sz="1050" b="0" i="0">
                <a:solidFill>
                  <a:srgbClr val="4A5573"/>
                </a:solidFill>
                <a:latin typeface="Calibri"/>
              </a:rPr>
              <a:t>Machine-readable positioning filtered by buyers. Each declaration linked to KB evidence. Controlled taxonomy — fabricated declarations suppressed.</a:t>
            </a:r>
          </a:p>
        </p:txBody>
      </p:sp>
      <p:sp>
        <p:nvSpPr>
          <p:cNvPr id="15" name="Rectangle 14"/>
          <p:cNvSpPr/>
          <p:nvPr/>
        </p:nvSpPr>
        <p:spPr>
          <a:xfrm>
            <a:off x="548640" y="4032503"/>
            <a:ext cx="5760720" cy="100584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032503"/>
            <a:ext cx="73152" cy="1005840"/>
          </a:xfrm>
          <a:prstGeom prst="rect">
            <a:avLst/>
          </a:prstGeom>
          <a:solidFill>
            <a:srgbClr val="2E5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4169663"/>
            <a:ext cx="5303520" cy="365760"/>
          </a:xfrm>
          <a:prstGeom prst="rect">
            <a:avLst/>
          </a:prstGeom>
          <a:noFill/>
        </p:spPr>
        <p:txBody>
          <a:bodyPr wrap="square" lIns="0" rIns="0" tIns="0" bIns="0" anchor="t">
            <a:spAutoFit/>
          </a:bodyPr>
          <a:lstStyle/>
          <a:p>
            <a:pPr algn="l">
              <a:lnSpc>
                <a:spcPct val="115000"/>
              </a:lnSpc>
            </a:pPr>
            <a:r>
              <a:rPr sz="1400" b="1" i="0">
                <a:solidFill>
                  <a:srgbClr val="0F172E"/>
                </a:solidFill>
                <a:latin typeface="Calibri"/>
              </a:rPr>
              <a:t>Buyer Listings + EOI Workflow</a:t>
            </a:r>
          </a:p>
        </p:txBody>
      </p:sp>
      <p:sp>
        <p:nvSpPr>
          <p:cNvPr id="18" name="TextBox 17"/>
          <p:cNvSpPr txBox="1"/>
          <p:nvPr/>
        </p:nvSpPr>
        <p:spPr>
          <a:xfrm>
            <a:off x="822960" y="4507991"/>
            <a:ext cx="5303520" cy="502920"/>
          </a:xfrm>
          <a:prstGeom prst="rect">
            <a:avLst/>
          </a:prstGeom>
          <a:noFill/>
        </p:spPr>
        <p:txBody>
          <a:bodyPr wrap="square" lIns="0" rIns="0" tIns="0" bIns="0" anchor="t">
            <a:spAutoFit/>
          </a:bodyPr>
          <a:lstStyle/>
          <a:p>
            <a:pPr algn="l">
              <a:lnSpc>
                <a:spcPct val="130000"/>
              </a:lnSpc>
            </a:pPr>
            <a:r>
              <a:rPr sz="1050" b="0" i="0">
                <a:solidFill>
                  <a:srgbClr val="4A5573"/>
                </a:solidFill>
                <a:latin typeface="Calibri"/>
              </a:rPr>
              <a:t>Buyers publish summary listings without exposing internal scoring. Sellers submit Expressions of Interest. Accepted EOIs → enter the evaluation directly.</a:t>
            </a:r>
          </a:p>
        </p:txBody>
      </p:sp>
      <p:sp>
        <p:nvSpPr>
          <p:cNvPr id="19" name="Rectangle 18"/>
          <p:cNvSpPr/>
          <p:nvPr/>
        </p:nvSpPr>
        <p:spPr>
          <a:xfrm>
            <a:off x="548640" y="5111495"/>
            <a:ext cx="5760720" cy="100584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5111495"/>
            <a:ext cx="73152" cy="1005840"/>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5248655"/>
            <a:ext cx="5303520" cy="365760"/>
          </a:xfrm>
          <a:prstGeom prst="rect">
            <a:avLst/>
          </a:prstGeom>
          <a:noFill/>
        </p:spPr>
        <p:txBody>
          <a:bodyPr wrap="square" lIns="0" rIns="0" tIns="0" bIns="0" anchor="t">
            <a:spAutoFit/>
          </a:bodyPr>
          <a:lstStyle/>
          <a:p>
            <a:pPr algn="l">
              <a:lnSpc>
                <a:spcPct val="115000"/>
              </a:lnSpc>
            </a:pPr>
            <a:r>
              <a:rPr sz="1400" b="1" i="0">
                <a:solidFill>
                  <a:srgbClr val="0F172E"/>
                </a:solidFill>
                <a:latin typeface="Calibri"/>
              </a:rPr>
              <a:t>Match Scoring</a:t>
            </a:r>
          </a:p>
        </p:txBody>
      </p:sp>
      <p:sp>
        <p:nvSpPr>
          <p:cNvPr id="22" name="TextBox 21"/>
          <p:cNvSpPr txBox="1"/>
          <p:nvPr/>
        </p:nvSpPr>
        <p:spPr>
          <a:xfrm>
            <a:off x="822960" y="5586983"/>
            <a:ext cx="5303520" cy="502920"/>
          </a:xfrm>
          <a:prstGeom prst="rect">
            <a:avLst/>
          </a:prstGeom>
          <a:noFill/>
        </p:spPr>
        <p:txBody>
          <a:bodyPr wrap="square" lIns="0" rIns="0" tIns="0" bIns="0" anchor="t">
            <a:spAutoFit/>
          </a:bodyPr>
          <a:lstStyle/>
          <a:p>
            <a:pPr algn="l">
              <a:lnSpc>
                <a:spcPct val="130000"/>
              </a:lnSpc>
            </a:pPr>
            <a:r>
              <a:rPr sz="1050" b="0" i="0">
                <a:solidFill>
                  <a:srgbClr val="4A5573"/>
                </a:solidFill>
                <a:latin typeface="Calibri"/>
              </a:rPr>
              <a:t>Free viewers see labels. Growth+ see numeric scores. Calibrated from every bid close. Every vendor's bid improves the system for every other vendor.</a:t>
            </a:r>
          </a:p>
        </p:txBody>
      </p:sp>
      <p:sp>
        <p:nvSpPr>
          <p:cNvPr id="23" name="Rectangle 22"/>
          <p:cNvSpPr/>
          <p:nvPr/>
        </p:nvSpPr>
        <p:spPr>
          <a:xfrm>
            <a:off x="6583680" y="1874519"/>
            <a:ext cx="5120640" cy="4434840"/>
          </a:xfrm>
          <a:prstGeom prst="rect">
            <a:avLst/>
          </a:prstGeom>
          <a:solidFill>
            <a:srgbClr val="0A14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583680" y="1874519"/>
            <a:ext cx="5120640" cy="73152"/>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9440" y="2148839"/>
            <a:ext cx="4389120" cy="320040"/>
          </a:xfrm>
          <a:prstGeom prst="rect">
            <a:avLst/>
          </a:prstGeom>
          <a:noFill/>
        </p:spPr>
        <p:txBody>
          <a:bodyPr wrap="square" lIns="0" rIns="0" tIns="0" bIns="0" anchor="t">
            <a:spAutoFit/>
          </a:bodyPr>
          <a:lstStyle/>
          <a:p>
            <a:pPr algn="l">
              <a:lnSpc>
                <a:spcPct val="115000"/>
              </a:lnSpc>
            </a:pPr>
            <a:r>
              <a:rPr sz="1000" b="1" i="0">
                <a:solidFill>
                  <a:srgbClr val="14B8A6"/>
                </a:solidFill>
                <a:latin typeface="Calibri"/>
              </a:rPr>
              <a:t>NOT G2. NOT GARTNER.</a:t>
            </a:r>
          </a:p>
        </p:txBody>
      </p:sp>
      <p:sp>
        <p:nvSpPr>
          <p:cNvPr id="26" name="TextBox 25"/>
          <p:cNvSpPr txBox="1"/>
          <p:nvPr/>
        </p:nvSpPr>
        <p:spPr>
          <a:xfrm>
            <a:off x="6949440" y="2441447"/>
            <a:ext cx="4389120" cy="914400"/>
          </a:xfrm>
          <a:prstGeom prst="rect">
            <a:avLst/>
          </a:prstGeom>
          <a:noFill/>
        </p:spPr>
        <p:txBody>
          <a:bodyPr wrap="square" lIns="0" rIns="0" tIns="0" bIns="0" anchor="t">
            <a:spAutoFit/>
          </a:bodyPr>
          <a:lstStyle/>
          <a:p>
            <a:pPr algn="l">
              <a:lnSpc>
                <a:spcPct val="115000"/>
              </a:lnSpc>
            </a:pPr>
            <a:r>
              <a:rPr sz="2200" b="1" i="0">
                <a:solidFill>
                  <a:srgbClr val="FFFFFF"/>
                </a:solidFill>
                <a:latin typeface="Calibri"/>
              </a:rPr>
              <a:t>G2 shows who's browsing.</a:t>
            </a:r>
          </a:p>
          <a:p>
            <a:pPr algn="l">
              <a:lnSpc>
                <a:spcPct val="115000"/>
              </a:lnSpc>
            </a:pPr>
            <a:r>
              <a:rPr sz="2200" b="1" i="0">
                <a:solidFill>
                  <a:srgbClr val="FFFFFF"/>
                </a:solidFill>
                <a:latin typeface="Calibri"/>
              </a:rPr>
              <a:t>We show who's evaluating.</a:t>
            </a:r>
          </a:p>
        </p:txBody>
      </p:sp>
      <p:cxnSp>
        <p:nvCxnSpPr>
          <p:cNvPr id="27" name="Connector 26"/>
          <p:cNvCxnSpPr/>
          <p:nvPr/>
        </p:nvCxnSpPr>
        <p:spPr>
          <a:xfrm>
            <a:off x="6949440" y="3749038"/>
            <a:ext cx="4389120" cy="0"/>
          </a:xfrm>
          <a:prstGeom prst="line">
            <a:avLst/>
          </a:prstGeom>
          <a:ln w="9525">
            <a:solidFill>
              <a:srgbClr val="1E2B5C"/>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949440" y="3886199"/>
            <a:ext cx="2011680" cy="320040"/>
          </a:xfrm>
          <a:prstGeom prst="rect">
            <a:avLst/>
          </a:prstGeom>
          <a:noFill/>
        </p:spPr>
        <p:txBody>
          <a:bodyPr wrap="square" lIns="0" rIns="0" tIns="0" bIns="0" anchor="t">
            <a:spAutoFit/>
          </a:bodyPr>
          <a:lstStyle/>
          <a:p>
            <a:pPr algn="l">
              <a:lnSpc>
                <a:spcPct val="115000"/>
              </a:lnSpc>
            </a:pPr>
            <a:r>
              <a:rPr sz="1050" b="0" i="0">
                <a:solidFill>
                  <a:srgbClr val="A8B2CC"/>
                </a:solidFill>
                <a:latin typeface="Calibri"/>
              </a:rPr>
              <a:t>G2 / Gartner</a:t>
            </a:r>
          </a:p>
        </p:txBody>
      </p:sp>
      <p:sp>
        <p:nvSpPr>
          <p:cNvPr id="29" name="TextBox 28"/>
          <p:cNvSpPr txBox="1"/>
          <p:nvPr/>
        </p:nvSpPr>
        <p:spPr>
          <a:xfrm>
            <a:off x="8961120" y="3886199"/>
            <a:ext cx="2286000" cy="320040"/>
          </a:xfrm>
          <a:prstGeom prst="rect">
            <a:avLst/>
          </a:prstGeom>
          <a:noFill/>
        </p:spPr>
        <p:txBody>
          <a:bodyPr wrap="square" lIns="0" rIns="0" tIns="0" bIns="0" anchor="t">
            <a:spAutoFit/>
          </a:bodyPr>
          <a:lstStyle/>
          <a:p>
            <a:pPr algn="l">
              <a:lnSpc>
                <a:spcPct val="115000"/>
              </a:lnSpc>
            </a:pPr>
            <a:r>
              <a:rPr sz="1050" b="0" i="0">
                <a:solidFill>
                  <a:srgbClr val="E8EDF7"/>
                </a:solidFill>
                <a:latin typeface="Calibri"/>
              </a:rPr>
              <a:t>Review &amp; sentiment</a:t>
            </a:r>
          </a:p>
        </p:txBody>
      </p:sp>
      <p:sp>
        <p:nvSpPr>
          <p:cNvPr id="30" name="TextBox 29"/>
          <p:cNvSpPr txBox="1"/>
          <p:nvPr/>
        </p:nvSpPr>
        <p:spPr>
          <a:xfrm>
            <a:off x="6949440" y="4087367"/>
            <a:ext cx="4389120" cy="274320"/>
          </a:xfrm>
          <a:prstGeom prst="rect">
            <a:avLst/>
          </a:prstGeom>
          <a:noFill/>
        </p:spPr>
        <p:txBody>
          <a:bodyPr wrap="square" lIns="0" rIns="0" tIns="0" bIns="0" anchor="t">
            <a:spAutoFit/>
          </a:bodyPr>
          <a:lstStyle/>
          <a:p>
            <a:pPr algn="l">
              <a:lnSpc>
                <a:spcPct val="115000"/>
              </a:lnSpc>
            </a:pPr>
            <a:r>
              <a:rPr sz="900" b="0" i="1">
                <a:solidFill>
                  <a:srgbClr val="A8B2CC"/>
                </a:solidFill>
                <a:latin typeface="Calibri"/>
              </a:rPr>
              <a:t>Upstream of the deal</a:t>
            </a:r>
          </a:p>
        </p:txBody>
      </p:sp>
      <p:sp>
        <p:nvSpPr>
          <p:cNvPr id="31" name="TextBox 30"/>
          <p:cNvSpPr txBox="1"/>
          <p:nvPr/>
        </p:nvSpPr>
        <p:spPr>
          <a:xfrm>
            <a:off x="6949440" y="4462271"/>
            <a:ext cx="2011680" cy="320040"/>
          </a:xfrm>
          <a:prstGeom prst="rect">
            <a:avLst/>
          </a:prstGeom>
          <a:noFill/>
        </p:spPr>
        <p:txBody>
          <a:bodyPr wrap="square" lIns="0" rIns="0" tIns="0" bIns="0" anchor="t">
            <a:spAutoFit/>
          </a:bodyPr>
          <a:lstStyle/>
          <a:p>
            <a:pPr algn="l">
              <a:lnSpc>
                <a:spcPct val="115000"/>
              </a:lnSpc>
            </a:pPr>
            <a:r>
              <a:rPr sz="1050" b="0" i="0">
                <a:solidFill>
                  <a:srgbClr val="A8B2CC"/>
                </a:solidFill>
                <a:latin typeface="Calibri"/>
              </a:rPr>
              <a:t>Apollo / 6sense</a:t>
            </a:r>
          </a:p>
        </p:txBody>
      </p:sp>
      <p:sp>
        <p:nvSpPr>
          <p:cNvPr id="32" name="TextBox 31"/>
          <p:cNvSpPr txBox="1"/>
          <p:nvPr/>
        </p:nvSpPr>
        <p:spPr>
          <a:xfrm>
            <a:off x="8961120" y="4462271"/>
            <a:ext cx="2286000" cy="320040"/>
          </a:xfrm>
          <a:prstGeom prst="rect">
            <a:avLst/>
          </a:prstGeom>
          <a:noFill/>
        </p:spPr>
        <p:txBody>
          <a:bodyPr wrap="square" lIns="0" rIns="0" tIns="0" bIns="0" anchor="t">
            <a:spAutoFit/>
          </a:bodyPr>
          <a:lstStyle/>
          <a:p>
            <a:pPr algn="l">
              <a:lnSpc>
                <a:spcPct val="115000"/>
              </a:lnSpc>
            </a:pPr>
            <a:r>
              <a:rPr sz="1050" b="0" i="0">
                <a:solidFill>
                  <a:srgbClr val="E8EDF7"/>
                </a:solidFill>
                <a:latin typeface="Calibri"/>
              </a:rPr>
              <a:t>Inferred intent</a:t>
            </a:r>
          </a:p>
        </p:txBody>
      </p:sp>
      <p:sp>
        <p:nvSpPr>
          <p:cNvPr id="33" name="TextBox 32"/>
          <p:cNvSpPr txBox="1"/>
          <p:nvPr/>
        </p:nvSpPr>
        <p:spPr>
          <a:xfrm>
            <a:off x="6949440" y="4663439"/>
            <a:ext cx="4389120" cy="274320"/>
          </a:xfrm>
          <a:prstGeom prst="rect">
            <a:avLst/>
          </a:prstGeom>
          <a:noFill/>
        </p:spPr>
        <p:txBody>
          <a:bodyPr wrap="square" lIns="0" rIns="0" tIns="0" bIns="0" anchor="t">
            <a:spAutoFit/>
          </a:bodyPr>
          <a:lstStyle/>
          <a:p>
            <a:pPr algn="l">
              <a:lnSpc>
                <a:spcPct val="115000"/>
              </a:lnSpc>
            </a:pPr>
            <a:r>
              <a:rPr sz="900" b="0" i="1">
                <a:solidFill>
                  <a:srgbClr val="A8B2CC"/>
                </a:solidFill>
                <a:latin typeface="Calibri"/>
              </a:rPr>
              <a:t>Noise — 90% false positives</a:t>
            </a:r>
          </a:p>
        </p:txBody>
      </p:sp>
      <p:sp>
        <p:nvSpPr>
          <p:cNvPr id="34" name="TextBox 33"/>
          <p:cNvSpPr txBox="1"/>
          <p:nvPr/>
        </p:nvSpPr>
        <p:spPr>
          <a:xfrm>
            <a:off x="6949440" y="5038343"/>
            <a:ext cx="2011680" cy="320040"/>
          </a:xfrm>
          <a:prstGeom prst="rect">
            <a:avLst/>
          </a:prstGeom>
          <a:noFill/>
        </p:spPr>
        <p:txBody>
          <a:bodyPr wrap="square" lIns="0" rIns="0" tIns="0" bIns="0" anchor="t">
            <a:spAutoFit/>
          </a:bodyPr>
          <a:lstStyle/>
          <a:p>
            <a:pPr algn="l">
              <a:lnSpc>
                <a:spcPct val="115000"/>
              </a:lnSpc>
            </a:pPr>
            <a:r>
              <a:rPr sz="1050" b="0" i="0">
                <a:solidFill>
                  <a:srgbClr val="A8B2CC"/>
                </a:solidFill>
                <a:latin typeface="Calibri"/>
              </a:rPr>
              <a:t>Responsive / Loopio</a:t>
            </a:r>
          </a:p>
        </p:txBody>
      </p:sp>
      <p:sp>
        <p:nvSpPr>
          <p:cNvPr id="35" name="TextBox 34"/>
          <p:cNvSpPr txBox="1"/>
          <p:nvPr/>
        </p:nvSpPr>
        <p:spPr>
          <a:xfrm>
            <a:off x="8961120" y="5038343"/>
            <a:ext cx="2286000" cy="320040"/>
          </a:xfrm>
          <a:prstGeom prst="rect">
            <a:avLst/>
          </a:prstGeom>
          <a:noFill/>
        </p:spPr>
        <p:txBody>
          <a:bodyPr wrap="square" lIns="0" rIns="0" tIns="0" bIns="0" anchor="t">
            <a:spAutoFit/>
          </a:bodyPr>
          <a:lstStyle/>
          <a:p>
            <a:pPr algn="l">
              <a:lnSpc>
                <a:spcPct val="115000"/>
              </a:lnSpc>
            </a:pPr>
            <a:r>
              <a:rPr sz="1050" b="0" i="0">
                <a:solidFill>
                  <a:srgbClr val="E8EDF7"/>
                </a:solidFill>
                <a:latin typeface="Calibri"/>
              </a:rPr>
              <a:t>Seller KB tools</a:t>
            </a:r>
          </a:p>
        </p:txBody>
      </p:sp>
      <p:sp>
        <p:nvSpPr>
          <p:cNvPr id="36" name="TextBox 35"/>
          <p:cNvSpPr txBox="1"/>
          <p:nvPr/>
        </p:nvSpPr>
        <p:spPr>
          <a:xfrm>
            <a:off x="6949440" y="5239511"/>
            <a:ext cx="4389120" cy="274320"/>
          </a:xfrm>
          <a:prstGeom prst="rect">
            <a:avLst/>
          </a:prstGeom>
          <a:noFill/>
        </p:spPr>
        <p:txBody>
          <a:bodyPr wrap="square" lIns="0" rIns="0" tIns="0" bIns="0" anchor="t">
            <a:spAutoFit/>
          </a:bodyPr>
          <a:lstStyle/>
          <a:p>
            <a:pPr algn="l">
              <a:lnSpc>
                <a:spcPct val="115000"/>
              </a:lnSpc>
            </a:pPr>
            <a:r>
              <a:rPr sz="900" b="0" i="1">
                <a:solidFill>
                  <a:srgbClr val="A8B2CC"/>
                </a:solidFill>
                <a:latin typeface="Calibri"/>
              </a:rPr>
              <a:t>No buyer discovery surface</a:t>
            </a:r>
          </a:p>
        </p:txBody>
      </p:sp>
      <p:sp>
        <p:nvSpPr>
          <p:cNvPr id="37" name="Rectangle 36"/>
          <p:cNvSpPr/>
          <p:nvPr/>
        </p:nvSpPr>
        <p:spPr>
          <a:xfrm>
            <a:off x="6858000" y="5577839"/>
            <a:ext cx="4572000" cy="530352"/>
          </a:xfrm>
          <a:prstGeom prst="rect">
            <a:avLst/>
          </a:prstGeom>
          <a:solidFill>
            <a:srgbClr val="1E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949440" y="5614415"/>
            <a:ext cx="2011680" cy="320040"/>
          </a:xfrm>
          <a:prstGeom prst="rect">
            <a:avLst/>
          </a:prstGeom>
          <a:noFill/>
        </p:spPr>
        <p:txBody>
          <a:bodyPr wrap="square" lIns="0" rIns="0" tIns="0" bIns="0" anchor="t">
            <a:spAutoFit/>
          </a:bodyPr>
          <a:lstStyle/>
          <a:p>
            <a:pPr algn="l">
              <a:lnSpc>
                <a:spcPct val="115000"/>
              </a:lnSpc>
            </a:pPr>
            <a:r>
              <a:rPr sz="1050" b="1" i="0">
                <a:solidFill>
                  <a:srgbClr val="F4B400"/>
                </a:solidFill>
                <a:latin typeface="Calibri"/>
              </a:rPr>
              <a:t>SOURCERA MARKETPLACE</a:t>
            </a:r>
          </a:p>
        </p:txBody>
      </p:sp>
      <p:sp>
        <p:nvSpPr>
          <p:cNvPr id="39" name="TextBox 38"/>
          <p:cNvSpPr txBox="1"/>
          <p:nvPr/>
        </p:nvSpPr>
        <p:spPr>
          <a:xfrm>
            <a:off x="8961120" y="5614415"/>
            <a:ext cx="2286000" cy="320040"/>
          </a:xfrm>
          <a:prstGeom prst="rect">
            <a:avLst/>
          </a:prstGeom>
          <a:noFill/>
        </p:spPr>
        <p:txBody>
          <a:bodyPr wrap="square" lIns="0" rIns="0" tIns="0" bIns="0" anchor="t">
            <a:spAutoFit/>
          </a:bodyPr>
          <a:lstStyle/>
          <a:p>
            <a:pPr algn="l">
              <a:lnSpc>
                <a:spcPct val="115000"/>
              </a:lnSpc>
            </a:pPr>
            <a:r>
              <a:rPr sz="1050" b="1" i="0">
                <a:solidFill>
                  <a:srgbClr val="FFFFFF"/>
                </a:solidFill>
                <a:latin typeface="Calibri"/>
              </a:rPr>
              <a:t>Active evaluation intent</a:t>
            </a:r>
          </a:p>
        </p:txBody>
      </p:sp>
      <p:sp>
        <p:nvSpPr>
          <p:cNvPr id="40" name="TextBox 39"/>
          <p:cNvSpPr txBox="1"/>
          <p:nvPr/>
        </p:nvSpPr>
        <p:spPr>
          <a:xfrm>
            <a:off x="6949440" y="5815583"/>
            <a:ext cx="4389120" cy="274320"/>
          </a:xfrm>
          <a:prstGeom prst="rect">
            <a:avLst/>
          </a:prstGeom>
          <a:noFill/>
        </p:spPr>
        <p:txBody>
          <a:bodyPr wrap="square" lIns="0" rIns="0" tIns="0" bIns="0" anchor="t">
            <a:spAutoFit/>
          </a:bodyPr>
          <a:lstStyle/>
          <a:p>
            <a:pPr algn="l">
              <a:lnSpc>
                <a:spcPct val="115000"/>
              </a:lnSpc>
            </a:pPr>
            <a:r>
              <a:rPr sz="900" b="0" i="1">
                <a:solidFill>
                  <a:srgbClr val="FFFFFF"/>
                </a:solidFill>
                <a:latin typeface="Calibri"/>
              </a:rPr>
              <a:t>Converted demand — not inferred</a:t>
            </a:r>
          </a:p>
        </p:txBody>
      </p:sp>
      <p:cxnSp>
        <p:nvCxnSpPr>
          <p:cNvPr id="41" name="Connector 40"/>
          <p:cNvCxnSpPr/>
          <p:nvPr/>
        </p:nvCxnSpPr>
        <p:spPr>
          <a:xfrm>
            <a:off x="548640" y="6355080"/>
            <a:ext cx="11094415" cy="0"/>
          </a:xfrm>
          <a:prstGeom prst="line">
            <a:avLst/>
          </a:prstGeom>
          <a:ln w="9525">
            <a:solidFill>
              <a:srgbClr val="D8DFEE"/>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548640" y="6437376"/>
            <a:ext cx="3657600" cy="274320"/>
          </a:xfrm>
          <a:prstGeom prst="rect">
            <a:avLst/>
          </a:prstGeom>
          <a:noFill/>
        </p:spPr>
        <p:txBody>
          <a:bodyPr wrap="square" lIns="0" rIns="0" tIns="0" bIns="0" anchor="t">
            <a:spAutoFit/>
          </a:bodyPr>
          <a:lstStyle/>
          <a:p>
            <a:pPr algn="l">
              <a:lnSpc>
                <a:spcPct val="115000"/>
              </a:lnSpc>
            </a:pPr>
            <a:r>
              <a:rPr sz="900" b="1" i="0">
                <a:solidFill>
                  <a:srgbClr val="4A5573"/>
                </a:solidFill>
                <a:latin typeface="Calibri"/>
              </a:rPr>
              <a:t>SOURCERA  ·  MARKETPLACE</a:t>
            </a:r>
          </a:p>
        </p:txBody>
      </p:sp>
      <p:sp>
        <p:nvSpPr>
          <p:cNvPr id="43" name="TextBox 42"/>
          <p:cNvSpPr txBox="1"/>
          <p:nvPr/>
        </p:nvSpPr>
        <p:spPr>
          <a:xfrm>
            <a:off x="10362895" y="6437376"/>
            <a:ext cx="1280160" cy="274320"/>
          </a:xfrm>
          <a:prstGeom prst="rect">
            <a:avLst/>
          </a:prstGeom>
          <a:noFill/>
        </p:spPr>
        <p:txBody>
          <a:bodyPr wrap="square" lIns="0" rIns="0" tIns="0" bIns="0" anchor="t">
            <a:spAutoFit/>
          </a:bodyPr>
          <a:lstStyle/>
          <a:p>
            <a:pPr algn="r">
              <a:lnSpc>
                <a:spcPct val="115000"/>
              </a:lnSpc>
            </a:pPr>
            <a:r>
              <a:rPr sz="900" b="0" i="0">
                <a:solidFill>
                  <a:srgbClr val="4A5573"/>
                </a:solidFill>
                <a:latin typeface="Calibri"/>
              </a:rPr>
              <a:t>08 / 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4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21792"/>
            <a:ext cx="365760" cy="73152"/>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548640"/>
            <a:ext cx="9144000" cy="274320"/>
          </a:xfrm>
          <a:prstGeom prst="rect">
            <a:avLst/>
          </a:prstGeom>
          <a:noFill/>
        </p:spPr>
        <p:txBody>
          <a:bodyPr wrap="square" lIns="0" rIns="0" tIns="0" bIns="0" anchor="t">
            <a:spAutoFit/>
          </a:bodyPr>
          <a:lstStyle/>
          <a:p>
            <a:pPr algn="l">
              <a:lnSpc>
                <a:spcPct val="115000"/>
              </a:lnSpc>
            </a:pPr>
            <a:r>
              <a:rPr sz="1000" b="1" i="0">
                <a:solidFill>
                  <a:srgbClr val="F4B400"/>
                </a:solidFill>
                <a:latin typeface="Calibri"/>
              </a:rPr>
              <a:t>THE HERO MOMENT</a:t>
            </a:r>
          </a:p>
        </p:txBody>
      </p:sp>
      <p:sp>
        <p:nvSpPr>
          <p:cNvPr id="5" name="TextBox 4"/>
          <p:cNvSpPr txBox="1"/>
          <p:nvPr/>
        </p:nvSpPr>
        <p:spPr>
          <a:xfrm>
            <a:off x="548640" y="822960"/>
            <a:ext cx="10972800" cy="822960"/>
          </a:xfrm>
          <a:prstGeom prst="rect">
            <a:avLst/>
          </a:prstGeom>
          <a:noFill/>
        </p:spPr>
        <p:txBody>
          <a:bodyPr wrap="square" lIns="0" rIns="0" tIns="0" bIns="0" anchor="t">
            <a:spAutoFit/>
          </a:bodyPr>
          <a:lstStyle/>
          <a:p>
            <a:pPr algn="l">
              <a:lnSpc>
                <a:spcPct val="105000"/>
              </a:lnSpc>
            </a:pPr>
            <a:r>
              <a:rPr sz="3600" b="1" i="0">
                <a:solidFill>
                  <a:srgbClr val="E8EDF7"/>
                </a:solidFill>
                <a:latin typeface="Calibri"/>
              </a:rPr>
              <a:t>Your bid is already drafted.</a:t>
            </a:r>
          </a:p>
        </p:txBody>
      </p:sp>
      <p:sp>
        <p:nvSpPr>
          <p:cNvPr id="6" name="TextBox 5"/>
          <p:cNvSpPr txBox="1"/>
          <p:nvPr/>
        </p:nvSpPr>
        <p:spPr>
          <a:xfrm>
            <a:off x="548640" y="1508760"/>
            <a:ext cx="10972800" cy="457200"/>
          </a:xfrm>
          <a:prstGeom prst="rect">
            <a:avLst/>
          </a:prstGeom>
          <a:noFill/>
        </p:spPr>
        <p:txBody>
          <a:bodyPr wrap="square" lIns="0" rIns="0" tIns="0" bIns="0" anchor="t">
            <a:spAutoFit/>
          </a:bodyPr>
          <a:lstStyle/>
          <a:p>
            <a:pPr algn="l">
              <a:lnSpc>
                <a:spcPct val="125000"/>
              </a:lnSpc>
            </a:pPr>
            <a:r>
              <a:rPr sz="1500" b="0" i="0">
                <a:solidFill>
                  <a:srgbClr val="A8B2CC"/>
                </a:solidFill>
                <a:latin typeface="Calibri"/>
              </a:rPr>
              <a:t>The seller forced-signup experience — the most valuable signup Sourcera will ever get is the one the vendor didn't ask for.</a:t>
            </a:r>
          </a:p>
        </p:txBody>
      </p:sp>
      <p:sp>
        <p:nvSpPr>
          <p:cNvPr id="7" name="Rectangle 6"/>
          <p:cNvSpPr/>
          <p:nvPr/>
        </p:nvSpPr>
        <p:spPr>
          <a:xfrm>
            <a:off x="685800" y="2468880"/>
            <a:ext cx="10820095" cy="73152"/>
          </a:xfrm>
          <a:prstGeom prst="rect">
            <a:avLst/>
          </a:prstGeom>
          <a:solidFill>
            <a:srgbClr val="1E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658081" y="2395728"/>
            <a:ext cx="219456" cy="219456"/>
          </a:xfrm>
          <a:prstGeom prst="ellipse">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194560"/>
            <a:ext cx="2164019" cy="256032"/>
          </a:xfrm>
          <a:prstGeom prst="rect">
            <a:avLst/>
          </a:prstGeom>
          <a:noFill/>
        </p:spPr>
        <p:txBody>
          <a:bodyPr wrap="square" lIns="0" rIns="0" tIns="0" bIns="0" anchor="t">
            <a:spAutoFit/>
          </a:bodyPr>
          <a:lstStyle/>
          <a:p>
            <a:pPr algn="ctr">
              <a:lnSpc>
                <a:spcPct val="115000"/>
              </a:lnSpc>
            </a:pPr>
            <a:r>
              <a:rPr sz="1100" b="1" i="0">
                <a:solidFill>
                  <a:srgbClr val="F4B400"/>
                </a:solidFill>
                <a:latin typeface="Calibri"/>
              </a:rPr>
              <a:t>0s</a:t>
            </a:r>
          </a:p>
        </p:txBody>
      </p:sp>
      <p:sp>
        <p:nvSpPr>
          <p:cNvPr id="10" name="TextBox 9"/>
          <p:cNvSpPr txBox="1"/>
          <p:nvPr/>
        </p:nvSpPr>
        <p:spPr>
          <a:xfrm>
            <a:off x="685800" y="2697480"/>
            <a:ext cx="2164019" cy="365760"/>
          </a:xfrm>
          <a:prstGeom prst="rect">
            <a:avLst/>
          </a:prstGeom>
          <a:noFill/>
        </p:spPr>
        <p:txBody>
          <a:bodyPr wrap="square" lIns="0" rIns="0" tIns="0" bIns="0" anchor="t">
            <a:spAutoFit/>
          </a:bodyPr>
          <a:lstStyle/>
          <a:p>
            <a:pPr algn="ctr">
              <a:lnSpc>
                <a:spcPct val="115000"/>
              </a:lnSpc>
            </a:pPr>
            <a:r>
              <a:rPr sz="1800" b="1" i="0">
                <a:solidFill>
                  <a:srgbClr val="FFFFFF"/>
                </a:solidFill>
                <a:latin typeface="Calibri"/>
              </a:rPr>
              <a:t>Click</a:t>
            </a:r>
          </a:p>
        </p:txBody>
      </p:sp>
      <p:sp>
        <p:nvSpPr>
          <p:cNvPr id="11" name="TextBox 10"/>
          <p:cNvSpPr txBox="1"/>
          <p:nvPr/>
        </p:nvSpPr>
        <p:spPr>
          <a:xfrm>
            <a:off x="777240" y="3154680"/>
            <a:ext cx="1981139" cy="777240"/>
          </a:xfrm>
          <a:prstGeom prst="rect">
            <a:avLst/>
          </a:prstGeom>
          <a:noFill/>
        </p:spPr>
        <p:txBody>
          <a:bodyPr wrap="square" lIns="0" rIns="0" tIns="0" bIns="0" anchor="t">
            <a:spAutoFit/>
          </a:bodyPr>
          <a:lstStyle/>
          <a:p>
            <a:pPr algn="ctr">
              <a:lnSpc>
                <a:spcPct val="130000"/>
              </a:lnSpc>
            </a:pPr>
            <a:r>
              <a:rPr sz="1050" b="0" i="0">
                <a:solidFill>
                  <a:srgbClr val="A8B2CC"/>
                </a:solidFill>
                <a:latin typeface="Calibri"/>
              </a:rPr>
              <a:t>Magic-link from buyer invite.</a:t>
            </a:r>
          </a:p>
        </p:txBody>
      </p:sp>
      <p:sp>
        <p:nvSpPr>
          <p:cNvPr id="12" name="Oval 11"/>
          <p:cNvSpPr/>
          <p:nvPr/>
        </p:nvSpPr>
        <p:spPr>
          <a:xfrm>
            <a:off x="3822100" y="2395728"/>
            <a:ext cx="219456" cy="219456"/>
          </a:xfrm>
          <a:prstGeom prst="ellipse">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49819" y="2194560"/>
            <a:ext cx="2164019" cy="256032"/>
          </a:xfrm>
          <a:prstGeom prst="rect">
            <a:avLst/>
          </a:prstGeom>
          <a:noFill/>
        </p:spPr>
        <p:txBody>
          <a:bodyPr wrap="square" lIns="0" rIns="0" tIns="0" bIns="0" anchor="t">
            <a:spAutoFit/>
          </a:bodyPr>
          <a:lstStyle/>
          <a:p>
            <a:pPr algn="ctr">
              <a:lnSpc>
                <a:spcPct val="115000"/>
              </a:lnSpc>
            </a:pPr>
            <a:r>
              <a:rPr sz="1100" b="1" i="0">
                <a:solidFill>
                  <a:srgbClr val="F4B400"/>
                </a:solidFill>
                <a:latin typeface="Calibri"/>
              </a:rPr>
              <a:t>15s</a:t>
            </a:r>
          </a:p>
        </p:txBody>
      </p:sp>
      <p:sp>
        <p:nvSpPr>
          <p:cNvPr id="14" name="TextBox 13"/>
          <p:cNvSpPr txBox="1"/>
          <p:nvPr/>
        </p:nvSpPr>
        <p:spPr>
          <a:xfrm>
            <a:off x="2849819" y="2697480"/>
            <a:ext cx="2164019" cy="365760"/>
          </a:xfrm>
          <a:prstGeom prst="rect">
            <a:avLst/>
          </a:prstGeom>
          <a:noFill/>
        </p:spPr>
        <p:txBody>
          <a:bodyPr wrap="square" lIns="0" rIns="0" tIns="0" bIns="0" anchor="t">
            <a:spAutoFit/>
          </a:bodyPr>
          <a:lstStyle/>
          <a:p>
            <a:pPr algn="ctr">
              <a:lnSpc>
                <a:spcPct val="115000"/>
              </a:lnSpc>
            </a:pPr>
            <a:r>
              <a:rPr sz="1800" b="1" i="0">
                <a:solidFill>
                  <a:srgbClr val="FFFFFF"/>
                </a:solidFill>
                <a:latin typeface="Calibri"/>
              </a:rPr>
              <a:t>Scan</a:t>
            </a:r>
          </a:p>
        </p:txBody>
      </p:sp>
      <p:sp>
        <p:nvSpPr>
          <p:cNvPr id="15" name="TextBox 14"/>
          <p:cNvSpPr txBox="1"/>
          <p:nvPr/>
        </p:nvSpPr>
        <p:spPr>
          <a:xfrm>
            <a:off x="2941259" y="3154680"/>
            <a:ext cx="1981139" cy="777240"/>
          </a:xfrm>
          <a:prstGeom prst="rect">
            <a:avLst/>
          </a:prstGeom>
          <a:noFill/>
        </p:spPr>
        <p:txBody>
          <a:bodyPr wrap="square" lIns="0" rIns="0" tIns="0" bIns="0" anchor="t">
            <a:spAutoFit/>
          </a:bodyPr>
          <a:lstStyle/>
          <a:p>
            <a:pPr algn="ctr">
              <a:lnSpc>
                <a:spcPct val="130000"/>
              </a:lnSpc>
            </a:pPr>
            <a:r>
              <a:rPr sz="1050" b="0" i="0">
                <a:solidFill>
                  <a:srgbClr val="A8B2CC"/>
                </a:solidFill>
                <a:latin typeface="Calibri"/>
              </a:rPr>
              <a:t>Agent crawls homepage, docs, trust center.</a:t>
            </a:r>
          </a:p>
        </p:txBody>
      </p:sp>
      <p:sp>
        <p:nvSpPr>
          <p:cNvPr id="16" name="Oval 15"/>
          <p:cNvSpPr/>
          <p:nvPr/>
        </p:nvSpPr>
        <p:spPr>
          <a:xfrm>
            <a:off x="5986119" y="2395728"/>
            <a:ext cx="219456" cy="219456"/>
          </a:xfrm>
          <a:prstGeom prst="ellipse">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13838" y="2194560"/>
            <a:ext cx="2164019" cy="256032"/>
          </a:xfrm>
          <a:prstGeom prst="rect">
            <a:avLst/>
          </a:prstGeom>
          <a:noFill/>
        </p:spPr>
        <p:txBody>
          <a:bodyPr wrap="square" lIns="0" rIns="0" tIns="0" bIns="0" anchor="t">
            <a:spAutoFit/>
          </a:bodyPr>
          <a:lstStyle/>
          <a:p>
            <a:pPr algn="ctr">
              <a:lnSpc>
                <a:spcPct val="115000"/>
              </a:lnSpc>
            </a:pPr>
            <a:r>
              <a:rPr sz="1100" b="1" i="0">
                <a:solidFill>
                  <a:srgbClr val="F4B400"/>
                </a:solidFill>
                <a:latin typeface="Calibri"/>
              </a:rPr>
              <a:t>30s</a:t>
            </a:r>
          </a:p>
        </p:txBody>
      </p:sp>
      <p:sp>
        <p:nvSpPr>
          <p:cNvPr id="18" name="TextBox 17"/>
          <p:cNvSpPr txBox="1"/>
          <p:nvPr/>
        </p:nvSpPr>
        <p:spPr>
          <a:xfrm>
            <a:off x="5013838" y="2697480"/>
            <a:ext cx="2164019" cy="365760"/>
          </a:xfrm>
          <a:prstGeom prst="rect">
            <a:avLst/>
          </a:prstGeom>
          <a:noFill/>
        </p:spPr>
        <p:txBody>
          <a:bodyPr wrap="square" lIns="0" rIns="0" tIns="0" bIns="0" anchor="t">
            <a:spAutoFit/>
          </a:bodyPr>
          <a:lstStyle/>
          <a:p>
            <a:pPr algn="ctr">
              <a:lnSpc>
                <a:spcPct val="115000"/>
              </a:lnSpc>
            </a:pPr>
            <a:r>
              <a:rPr sz="1800" b="1" i="0">
                <a:solidFill>
                  <a:srgbClr val="FFFFFF"/>
                </a:solidFill>
                <a:latin typeface="Calibri"/>
              </a:rPr>
              <a:t>KB</a:t>
            </a:r>
          </a:p>
        </p:txBody>
      </p:sp>
      <p:sp>
        <p:nvSpPr>
          <p:cNvPr id="19" name="TextBox 18"/>
          <p:cNvSpPr txBox="1"/>
          <p:nvPr/>
        </p:nvSpPr>
        <p:spPr>
          <a:xfrm>
            <a:off x="5105278" y="3154680"/>
            <a:ext cx="1981139" cy="777240"/>
          </a:xfrm>
          <a:prstGeom prst="rect">
            <a:avLst/>
          </a:prstGeom>
          <a:noFill/>
        </p:spPr>
        <p:txBody>
          <a:bodyPr wrap="square" lIns="0" rIns="0" tIns="0" bIns="0" anchor="t">
            <a:spAutoFit/>
          </a:bodyPr>
          <a:lstStyle/>
          <a:p>
            <a:pPr algn="ctr">
              <a:lnSpc>
                <a:spcPct val="130000"/>
              </a:lnSpc>
            </a:pPr>
            <a:r>
              <a:rPr sz="1050" b="0" i="0">
                <a:solidFill>
                  <a:srgbClr val="A8B2CC"/>
                </a:solidFill>
                <a:latin typeface="Calibri"/>
              </a:rPr>
              <a:t>40–200 draft KB entries staged with provenance.</a:t>
            </a:r>
          </a:p>
        </p:txBody>
      </p:sp>
      <p:sp>
        <p:nvSpPr>
          <p:cNvPr id="20" name="Oval 19"/>
          <p:cNvSpPr/>
          <p:nvPr/>
        </p:nvSpPr>
        <p:spPr>
          <a:xfrm>
            <a:off x="8150138" y="2395728"/>
            <a:ext cx="219456" cy="219456"/>
          </a:xfrm>
          <a:prstGeom prst="ellipse">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77857" y="2194560"/>
            <a:ext cx="2164019" cy="256032"/>
          </a:xfrm>
          <a:prstGeom prst="rect">
            <a:avLst/>
          </a:prstGeom>
          <a:noFill/>
        </p:spPr>
        <p:txBody>
          <a:bodyPr wrap="square" lIns="0" rIns="0" tIns="0" bIns="0" anchor="t">
            <a:spAutoFit/>
          </a:bodyPr>
          <a:lstStyle/>
          <a:p>
            <a:pPr algn="ctr">
              <a:lnSpc>
                <a:spcPct val="115000"/>
              </a:lnSpc>
            </a:pPr>
            <a:r>
              <a:rPr sz="1100" b="1" i="0">
                <a:solidFill>
                  <a:srgbClr val="F4B400"/>
                </a:solidFill>
                <a:latin typeface="Calibri"/>
              </a:rPr>
              <a:t>60s</a:t>
            </a:r>
          </a:p>
        </p:txBody>
      </p:sp>
      <p:sp>
        <p:nvSpPr>
          <p:cNvPr id="22" name="TextBox 21"/>
          <p:cNvSpPr txBox="1"/>
          <p:nvPr/>
        </p:nvSpPr>
        <p:spPr>
          <a:xfrm>
            <a:off x="7177857" y="2697480"/>
            <a:ext cx="2164019" cy="365760"/>
          </a:xfrm>
          <a:prstGeom prst="rect">
            <a:avLst/>
          </a:prstGeom>
          <a:noFill/>
        </p:spPr>
        <p:txBody>
          <a:bodyPr wrap="square" lIns="0" rIns="0" tIns="0" bIns="0" anchor="t">
            <a:spAutoFit/>
          </a:bodyPr>
          <a:lstStyle/>
          <a:p>
            <a:pPr algn="ctr">
              <a:lnSpc>
                <a:spcPct val="115000"/>
              </a:lnSpc>
            </a:pPr>
            <a:r>
              <a:rPr sz="1800" b="1" i="0">
                <a:solidFill>
                  <a:srgbClr val="FFFFFF"/>
                </a:solidFill>
                <a:latin typeface="Calibri"/>
              </a:rPr>
              <a:t>Draft</a:t>
            </a:r>
          </a:p>
        </p:txBody>
      </p:sp>
      <p:sp>
        <p:nvSpPr>
          <p:cNvPr id="23" name="TextBox 22"/>
          <p:cNvSpPr txBox="1"/>
          <p:nvPr/>
        </p:nvSpPr>
        <p:spPr>
          <a:xfrm>
            <a:off x="7269297" y="3154680"/>
            <a:ext cx="1981139" cy="777240"/>
          </a:xfrm>
          <a:prstGeom prst="rect">
            <a:avLst/>
          </a:prstGeom>
          <a:noFill/>
        </p:spPr>
        <p:txBody>
          <a:bodyPr wrap="square" lIns="0" rIns="0" tIns="0" bIns="0" anchor="t">
            <a:spAutoFit/>
          </a:bodyPr>
          <a:lstStyle/>
          <a:p>
            <a:pPr algn="ctr">
              <a:lnSpc>
                <a:spcPct val="130000"/>
              </a:lnSpc>
            </a:pPr>
            <a:r>
              <a:rPr sz="1050" b="0" i="0">
                <a:solidFill>
                  <a:srgbClr val="A8B2CC"/>
                </a:solidFill>
                <a:latin typeface="Calibri"/>
              </a:rPr>
              <a:t>First-Pass responses drafted per requirement.</a:t>
            </a:r>
          </a:p>
        </p:txBody>
      </p:sp>
      <p:sp>
        <p:nvSpPr>
          <p:cNvPr id="24" name="Oval 23"/>
          <p:cNvSpPr/>
          <p:nvPr/>
        </p:nvSpPr>
        <p:spPr>
          <a:xfrm>
            <a:off x="10314157" y="2395728"/>
            <a:ext cx="219456" cy="219456"/>
          </a:xfrm>
          <a:prstGeom prst="ellipse">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41876" y="2194560"/>
            <a:ext cx="2164019" cy="256032"/>
          </a:xfrm>
          <a:prstGeom prst="rect">
            <a:avLst/>
          </a:prstGeom>
          <a:noFill/>
        </p:spPr>
        <p:txBody>
          <a:bodyPr wrap="square" lIns="0" rIns="0" tIns="0" bIns="0" anchor="t">
            <a:spAutoFit/>
          </a:bodyPr>
          <a:lstStyle/>
          <a:p>
            <a:pPr algn="ctr">
              <a:lnSpc>
                <a:spcPct val="115000"/>
              </a:lnSpc>
            </a:pPr>
            <a:r>
              <a:rPr sz="1100" b="1" i="0">
                <a:solidFill>
                  <a:srgbClr val="F4B400"/>
                </a:solidFill>
                <a:latin typeface="Calibri"/>
              </a:rPr>
              <a:t>90s</a:t>
            </a:r>
          </a:p>
        </p:txBody>
      </p:sp>
      <p:sp>
        <p:nvSpPr>
          <p:cNvPr id="26" name="TextBox 25"/>
          <p:cNvSpPr txBox="1"/>
          <p:nvPr/>
        </p:nvSpPr>
        <p:spPr>
          <a:xfrm>
            <a:off x="9341876" y="2697480"/>
            <a:ext cx="2164019" cy="365760"/>
          </a:xfrm>
          <a:prstGeom prst="rect">
            <a:avLst/>
          </a:prstGeom>
          <a:noFill/>
        </p:spPr>
        <p:txBody>
          <a:bodyPr wrap="square" lIns="0" rIns="0" tIns="0" bIns="0" anchor="t">
            <a:spAutoFit/>
          </a:bodyPr>
          <a:lstStyle/>
          <a:p>
            <a:pPr algn="ctr">
              <a:lnSpc>
                <a:spcPct val="115000"/>
              </a:lnSpc>
            </a:pPr>
            <a:r>
              <a:rPr sz="1800" b="1" i="0">
                <a:solidFill>
                  <a:srgbClr val="FFFFFF"/>
                </a:solidFill>
                <a:latin typeface="Calibri"/>
              </a:rPr>
              <a:t>Land</a:t>
            </a:r>
          </a:p>
        </p:txBody>
      </p:sp>
      <p:sp>
        <p:nvSpPr>
          <p:cNvPr id="27" name="TextBox 26"/>
          <p:cNvSpPr txBox="1"/>
          <p:nvPr/>
        </p:nvSpPr>
        <p:spPr>
          <a:xfrm>
            <a:off x="9433316" y="3154680"/>
            <a:ext cx="1981139" cy="777240"/>
          </a:xfrm>
          <a:prstGeom prst="rect">
            <a:avLst/>
          </a:prstGeom>
          <a:noFill/>
        </p:spPr>
        <p:txBody>
          <a:bodyPr wrap="square" lIns="0" rIns="0" tIns="0" bIns="0" anchor="t">
            <a:spAutoFit/>
          </a:bodyPr>
          <a:lstStyle/>
          <a:p>
            <a:pPr algn="ctr">
              <a:lnSpc>
                <a:spcPct val="130000"/>
              </a:lnSpc>
            </a:pPr>
            <a:r>
              <a:rPr sz="1050" b="0" i="0">
                <a:solidFill>
                  <a:srgbClr val="A8B2CC"/>
                </a:solidFill>
                <a:latin typeface="Calibri"/>
              </a:rPr>
              <a:t>Workspace opens with the bid already started.</a:t>
            </a:r>
          </a:p>
        </p:txBody>
      </p:sp>
      <p:sp>
        <p:nvSpPr>
          <p:cNvPr id="28" name="Rectangle 27"/>
          <p:cNvSpPr/>
          <p:nvPr/>
        </p:nvSpPr>
        <p:spPr>
          <a:xfrm>
            <a:off x="685800" y="4114800"/>
            <a:ext cx="10820095" cy="1691640"/>
          </a:xfrm>
          <a:prstGeom prst="rect">
            <a:avLst/>
          </a:prstGeom>
          <a:solidFill>
            <a:srgbClr val="121E4A"/>
          </a:solidFill>
          <a:ln>
            <a:solidFill>
              <a:srgbClr val="F4B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85800" y="4114800"/>
            <a:ext cx="73152" cy="1691640"/>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1560" y="4297680"/>
            <a:ext cx="10088575" cy="274320"/>
          </a:xfrm>
          <a:prstGeom prst="rect">
            <a:avLst/>
          </a:prstGeom>
          <a:noFill/>
        </p:spPr>
        <p:txBody>
          <a:bodyPr wrap="square" lIns="0" rIns="0" tIns="0" bIns="0" anchor="t">
            <a:spAutoFit/>
          </a:bodyPr>
          <a:lstStyle/>
          <a:p>
            <a:pPr algn="l">
              <a:lnSpc>
                <a:spcPct val="115000"/>
              </a:lnSpc>
            </a:pPr>
            <a:r>
              <a:rPr sz="900" b="1" i="0">
                <a:solidFill>
                  <a:srgbClr val="F4B400"/>
                </a:solidFill>
                <a:latin typeface="Calibri"/>
              </a:rPr>
              <a:t>LANDING SCREEN, 90 SECONDS FROM MAGIC-LINK CLICK</a:t>
            </a:r>
          </a:p>
        </p:txBody>
      </p:sp>
      <p:sp>
        <p:nvSpPr>
          <p:cNvPr id="31" name="TextBox 30"/>
          <p:cNvSpPr txBox="1"/>
          <p:nvPr/>
        </p:nvSpPr>
        <p:spPr>
          <a:xfrm>
            <a:off x="1051560" y="4617720"/>
            <a:ext cx="10088575" cy="640080"/>
          </a:xfrm>
          <a:prstGeom prst="rect">
            <a:avLst/>
          </a:prstGeom>
          <a:noFill/>
        </p:spPr>
        <p:txBody>
          <a:bodyPr wrap="square" lIns="0" rIns="0" tIns="0" bIns="0" anchor="t">
            <a:spAutoFit/>
          </a:bodyPr>
          <a:lstStyle/>
          <a:p>
            <a:pPr algn="l">
              <a:lnSpc>
                <a:spcPct val="115000"/>
              </a:lnSpc>
            </a:pPr>
            <a:r>
              <a:rPr sz="2400" b="1" i="1">
                <a:solidFill>
                  <a:srgbClr val="FFFFFF"/>
                </a:solidFill>
                <a:latin typeface="Calibri"/>
              </a:rPr>
              <a:t>“Your bid for [Buyer Company] is ready.</a:t>
            </a:r>
          </a:p>
        </p:txBody>
      </p:sp>
      <p:sp>
        <p:nvSpPr>
          <p:cNvPr id="32" name="TextBox 31"/>
          <p:cNvSpPr txBox="1"/>
          <p:nvPr/>
        </p:nvSpPr>
        <p:spPr>
          <a:xfrm>
            <a:off x="1051560" y="5074920"/>
            <a:ext cx="10088575" cy="731520"/>
          </a:xfrm>
          <a:prstGeom prst="rect">
            <a:avLst/>
          </a:prstGeom>
          <a:noFill/>
        </p:spPr>
        <p:txBody>
          <a:bodyPr wrap="square" lIns="0" rIns="0" tIns="0" bIns="0" anchor="t">
            <a:spAutoFit/>
          </a:bodyPr>
          <a:lstStyle/>
          <a:p>
            <a:pPr algn="l">
              <a:lnSpc>
                <a:spcPct val="125000"/>
              </a:lnSpc>
            </a:pPr>
            <a:r>
              <a:rPr sz="1800" b="0" i="1">
                <a:solidFill>
                  <a:srgbClr val="FFFFFF"/>
                </a:solidFill>
                <a:latin typeface="Calibri"/>
              </a:rPr>
              <a:t>47 of 82 requirements have AI drafts. 31 cite evidence from your own website.”</a:t>
            </a:r>
          </a:p>
        </p:txBody>
      </p:sp>
      <p:sp>
        <p:nvSpPr>
          <p:cNvPr id="33" name="TextBox 32"/>
          <p:cNvSpPr txBox="1"/>
          <p:nvPr/>
        </p:nvSpPr>
        <p:spPr>
          <a:xfrm>
            <a:off x="685800" y="5989320"/>
            <a:ext cx="3606698" cy="274320"/>
          </a:xfrm>
          <a:prstGeom prst="rect">
            <a:avLst/>
          </a:prstGeom>
          <a:noFill/>
        </p:spPr>
        <p:txBody>
          <a:bodyPr wrap="square" lIns="0" rIns="0" tIns="0" bIns="0" anchor="t">
            <a:spAutoFit/>
          </a:bodyPr>
          <a:lstStyle/>
          <a:p>
            <a:pPr algn="l">
              <a:lnSpc>
                <a:spcPct val="115000"/>
              </a:lnSpc>
            </a:pPr>
            <a:r>
              <a:rPr sz="1200" b="1" i="0">
                <a:solidFill>
                  <a:srgbClr val="F4B400"/>
                </a:solidFill>
                <a:latin typeface="Calibri"/>
              </a:rPr>
              <a:t>2 DAYS → 30 SECONDS</a:t>
            </a:r>
          </a:p>
        </p:txBody>
      </p:sp>
      <p:sp>
        <p:nvSpPr>
          <p:cNvPr id="34" name="TextBox 33"/>
          <p:cNvSpPr txBox="1"/>
          <p:nvPr/>
        </p:nvSpPr>
        <p:spPr>
          <a:xfrm>
            <a:off x="4292498" y="5989320"/>
            <a:ext cx="3606698" cy="274320"/>
          </a:xfrm>
          <a:prstGeom prst="rect">
            <a:avLst/>
          </a:prstGeom>
          <a:noFill/>
        </p:spPr>
        <p:txBody>
          <a:bodyPr wrap="square" lIns="0" rIns="0" tIns="0" bIns="0" anchor="t">
            <a:spAutoFit/>
          </a:bodyPr>
          <a:lstStyle/>
          <a:p>
            <a:pPr algn="ctr">
              <a:lnSpc>
                <a:spcPct val="115000"/>
              </a:lnSpc>
            </a:pPr>
            <a:r>
              <a:rPr sz="1200" b="1" i="0">
                <a:solidFill>
                  <a:srgbClr val="F4B400"/>
                </a:solidFill>
                <a:latin typeface="Calibri"/>
              </a:rPr>
              <a:t>ZERO FORM FIELDS  ·  NO CREDIT CARD</a:t>
            </a:r>
          </a:p>
        </p:txBody>
      </p:sp>
      <p:sp>
        <p:nvSpPr>
          <p:cNvPr id="35" name="TextBox 34"/>
          <p:cNvSpPr txBox="1"/>
          <p:nvPr/>
        </p:nvSpPr>
        <p:spPr>
          <a:xfrm>
            <a:off x="7899196" y="5989320"/>
            <a:ext cx="3606698" cy="274320"/>
          </a:xfrm>
          <a:prstGeom prst="rect">
            <a:avLst/>
          </a:prstGeom>
          <a:noFill/>
        </p:spPr>
        <p:txBody>
          <a:bodyPr wrap="square" lIns="0" rIns="0" tIns="0" bIns="0" anchor="t">
            <a:spAutoFit/>
          </a:bodyPr>
          <a:lstStyle/>
          <a:p>
            <a:pPr algn="r">
              <a:lnSpc>
                <a:spcPct val="115000"/>
              </a:lnSpc>
            </a:pPr>
            <a:r>
              <a:rPr sz="1200" b="1" i="0">
                <a:solidFill>
                  <a:srgbClr val="F4B400"/>
                </a:solidFill>
                <a:latin typeface="Calibri"/>
              </a:rPr>
              <a:t>FREE TIER COVERS THE FIRST BID</a:t>
            </a:r>
          </a:p>
        </p:txBody>
      </p:sp>
      <p:cxnSp>
        <p:nvCxnSpPr>
          <p:cNvPr id="36" name="Connector 35"/>
          <p:cNvCxnSpPr/>
          <p:nvPr/>
        </p:nvCxnSpPr>
        <p:spPr>
          <a:xfrm>
            <a:off x="548640" y="6355080"/>
            <a:ext cx="11094415" cy="0"/>
          </a:xfrm>
          <a:prstGeom prst="line">
            <a:avLst/>
          </a:prstGeom>
          <a:ln w="9525">
            <a:solidFill>
              <a:srgbClr val="1E2B5C"/>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48640" y="6437376"/>
            <a:ext cx="3657600" cy="274320"/>
          </a:xfrm>
          <a:prstGeom prst="rect">
            <a:avLst/>
          </a:prstGeom>
          <a:noFill/>
        </p:spPr>
        <p:txBody>
          <a:bodyPr wrap="square" lIns="0" rIns="0" tIns="0" bIns="0" anchor="t">
            <a:spAutoFit/>
          </a:bodyPr>
          <a:lstStyle/>
          <a:p>
            <a:pPr algn="l">
              <a:lnSpc>
                <a:spcPct val="115000"/>
              </a:lnSpc>
            </a:pPr>
            <a:r>
              <a:rPr sz="900" b="1" i="0">
                <a:solidFill>
                  <a:srgbClr val="A8B2CC"/>
                </a:solidFill>
                <a:latin typeface="Calibri"/>
              </a:rPr>
              <a:t>SOURCERA  ·  THE HERO MOMENT</a:t>
            </a:r>
          </a:p>
        </p:txBody>
      </p:sp>
      <p:sp>
        <p:nvSpPr>
          <p:cNvPr id="38" name="TextBox 37"/>
          <p:cNvSpPr txBox="1"/>
          <p:nvPr/>
        </p:nvSpPr>
        <p:spPr>
          <a:xfrm>
            <a:off x="10362895" y="6437376"/>
            <a:ext cx="1280160" cy="274320"/>
          </a:xfrm>
          <a:prstGeom prst="rect">
            <a:avLst/>
          </a:prstGeom>
          <a:noFill/>
        </p:spPr>
        <p:txBody>
          <a:bodyPr wrap="square" lIns="0" rIns="0" tIns="0" bIns="0" anchor="t">
            <a:spAutoFit/>
          </a:bodyPr>
          <a:lstStyle/>
          <a:p>
            <a:pPr algn="r">
              <a:lnSpc>
                <a:spcPct val="115000"/>
              </a:lnSpc>
            </a:pPr>
            <a:r>
              <a:rPr sz="900" b="0" i="0">
                <a:solidFill>
                  <a:srgbClr val="A8B2CC"/>
                </a:solidFill>
                <a:latin typeface="Calibri"/>
              </a:rPr>
              <a:t>09 / 19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21792"/>
            <a:ext cx="365760" cy="73152"/>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548640"/>
            <a:ext cx="9144000" cy="274320"/>
          </a:xfrm>
          <a:prstGeom prst="rect">
            <a:avLst/>
          </a:prstGeom>
          <a:noFill/>
        </p:spPr>
        <p:txBody>
          <a:bodyPr wrap="square" lIns="0" rIns="0" tIns="0" bIns="0" anchor="t">
            <a:spAutoFit/>
          </a:bodyPr>
          <a:lstStyle/>
          <a:p>
            <a:pPr algn="l">
              <a:lnSpc>
                <a:spcPct val="115000"/>
              </a:lnSpc>
            </a:pPr>
            <a:r>
              <a:rPr sz="1000" b="1" i="0">
                <a:solidFill>
                  <a:srgbClr val="4A7BFF"/>
                </a:solidFill>
                <a:latin typeface="Calibri"/>
              </a:rPr>
              <a:t>BUSINESS MODEL</a:t>
            </a:r>
          </a:p>
        </p:txBody>
      </p:sp>
      <p:sp>
        <p:nvSpPr>
          <p:cNvPr id="5" name="TextBox 4"/>
          <p:cNvSpPr txBox="1"/>
          <p:nvPr/>
        </p:nvSpPr>
        <p:spPr>
          <a:xfrm>
            <a:off x="548640" y="822960"/>
            <a:ext cx="10972800" cy="822960"/>
          </a:xfrm>
          <a:prstGeom prst="rect">
            <a:avLst/>
          </a:prstGeom>
          <a:noFill/>
        </p:spPr>
        <p:txBody>
          <a:bodyPr wrap="square" lIns="0" rIns="0" tIns="0" bIns="0" anchor="t">
            <a:spAutoFit/>
          </a:bodyPr>
          <a:lstStyle/>
          <a:p>
            <a:pPr algn="l">
              <a:lnSpc>
                <a:spcPct val="105000"/>
              </a:lnSpc>
            </a:pPr>
            <a:r>
              <a:rPr sz="3600" b="1" i="0">
                <a:solidFill>
                  <a:srgbClr val="0F172E"/>
                </a:solidFill>
                <a:latin typeface="Calibri"/>
              </a:rPr>
              <a:t>Two-sided pricing. One AI wallet.</a:t>
            </a:r>
          </a:p>
        </p:txBody>
      </p:sp>
      <p:sp>
        <p:nvSpPr>
          <p:cNvPr id="6" name="TextBox 5"/>
          <p:cNvSpPr txBox="1"/>
          <p:nvPr/>
        </p:nvSpPr>
        <p:spPr>
          <a:xfrm>
            <a:off x="548640" y="1508760"/>
            <a:ext cx="10972800" cy="457200"/>
          </a:xfrm>
          <a:prstGeom prst="rect">
            <a:avLst/>
          </a:prstGeom>
          <a:noFill/>
        </p:spPr>
        <p:txBody>
          <a:bodyPr wrap="square" lIns="0" rIns="0" tIns="0" bIns="0" anchor="t">
            <a:spAutoFit/>
          </a:bodyPr>
          <a:lstStyle/>
          <a:p>
            <a:pPr algn="l">
              <a:lnSpc>
                <a:spcPct val="125000"/>
              </a:lnSpc>
            </a:pPr>
            <a:r>
              <a:rPr sz="1500" b="0" i="0">
                <a:solidFill>
                  <a:srgbClr val="4A5573"/>
                </a:solidFill>
                <a:latin typeface="Calibri"/>
              </a:rPr>
              <a:t>Per-org, not per-seat. Unlimited users on paid tiers. AI is the monetization surface.</a:t>
            </a:r>
          </a:p>
        </p:txBody>
      </p:sp>
      <p:sp>
        <p:nvSpPr>
          <p:cNvPr id="7" name="TextBox 6"/>
          <p:cNvSpPr txBox="1"/>
          <p:nvPr/>
        </p:nvSpPr>
        <p:spPr>
          <a:xfrm>
            <a:off x="548640" y="1874519"/>
            <a:ext cx="5486400" cy="237744"/>
          </a:xfrm>
          <a:prstGeom prst="rect">
            <a:avLst/>
          </a:prstGeom>
          <a:noFill/>
        </p:spPr>
        <p:txBody>
          <a:bodyPr wrap="square" lIns="0" rIns="0" tIns="0" bIns="0" anchor="t">
            <a:spAutoFit/>
          </a:bodyPr>
          <a:lstStyle/>
          <a:p>
            <a:pPr algn="l">
              <a:lnSpc>
                <a:spcPct val="115000"/>
              </a:lnSpc>
            </a:pPr>
            <a:r>
              <a:rPr sz="1000" b="1" i="0">
                <a:solidFill>
                  <a:srgbClr val="2E55D9"/>
                </a:solidFill>
                <a:latin typeface="Calibri"/>
              </a:rPr>
              <a:t>BUYER PLANS  ·  PER ORG, PER MONTH (ANNUAL)</a:t>
            </a:r>
          </a:p>
        </p:txBody>
      </p:sp>
      <p:sp>
        <p:nvSpPr>
          <p:cNvPr id="8" name="Rectangle 7"/>
          <p:cNvSpPr/>
          <p:nvPr/>
        </p:nvSpPr>
        <p:spPr>
          <a:xfrm>
            <a:off x="548640" y="2148839"/>
            <a:ext cx="1737360" cy="256032"/>
          </a:xfrm>
          <a:prstGeom prst="rect">
            <a:avLst/>
          </a:prstGeom>
          <a:solidFill>
            <a:srgbClr val="0A14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2185415"/>
            <a:ext cx="1554480" cy="219456"/>
          </a:xfrm>
          <a:prstGeom prst="rect">
            <a:avLst/>
          </a:prstGeom>
          <a:noFill/>
        </p:spPr>
        <p:txBody>
          <a:bodyPr wrap="square" lIns="0" rIns="0" tIns="0" bIns="0" anchor="t">
            <a:spAutoFit/>
          </a:bodyPr>
          <a:lstStyle/>
          <a:p>
            <a:pPr algn="l">
              <a:lnSpc>
                <a:spcPct val="115000"/>
              </a:lnSpc>
            </a:pPr>
            <a:r>
              <a:rPr sz="950" b="1" i="0">
                <a:solidFill>
                  <a:srgbClr val="F4B400"/>
                </a:solidFill>
                <a:latin typeface="Calibri"/>
              </a:rPr>
              <a:t>Tier</a:t>
            </a:r>
          </a:p>
        </p:txBody>
      </p:sp>
      <p:sp>
        <p:nvSpPr>
          <p:cNvPr id="10" name="Rectangle 9"/>
          <p:cNvSpPr/>
          <p:nvPr/>
        </p:nvSpPr>
        <p:spPr>
          <a:xfrm>
            <a:off x="2286000" y="2148839"/>
            <a:ext cx="1371600" cy="256032"/>
          </a:xfrm>
          <a:prstGeom prst="rect">
            <a:avLst/>
          </a:prstGeom>
          <a:solidFill>
            <a:srgbClr val="0A14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95728" y="2185415"/>
            <a:ext cx="1188720" cy="219456"/>
          </a:xfrm>
          <a:prstGeom prst="rect">
            <a:avLst/>
          </a:prstGeom>
          <a:noFill/>
        </p:spPr>
        <p:txBody>
          <a:bodyPr wrap="square" lIns="0" rIns="0" tIns="0" bIns="0" anchor="t">
            <a:spAutoFit/>
          </a:bodyPr>
          <a:lstStyle/>
          <a:p>
            <a:pPr algn="l">
              <a:lnSpc>
                <a:spcPct val="115000"/>
              </a:lnSpc>
            </a:pPr>
            <a:r>
              <a:rPr sz="950" b="1" i="0">
                <a:solidFill>
                  <a:srgbClr val="F4B400"/>
                </a:solidFill>
                <a:latin typeface="Calibri"/>
              </a:rPr>
              <a:t>Price / mo</a:t>
            </a:r>
          </a:p>
        </p:txBody>
      </p:sp>
      <p:sp>
        <p:nvSpPr>
          <p:cNvPr id="12" name="Rectangle 11"/>
          <p:cNvSpPr/>
          <p:nvPr/>
        </p:nvSpPr>
        <p:spPr>
          <a:xfrm>
            <a:off x="3657600" y="2148839"/>
            <a:ext cx="1737360" cy="256032"/>
          </a:xfrm>
          <a:prstGeom prst="rect">
            <a:avLst/>
          </a:prstGeom>
          <a:solidFill>
            <a:srgbClr val="0A14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67328" y="2185415"/>
            <a:ext cx="1554480" cy="219456"/>
          </a:xfrm>
          <a:prstGeom prst="rect">
            <a:avLst/>
          </a:prstGeom>
          <a:noFill/>
        </p:spPr>
        <p:txBody>
          <a:bodyPr wrap="square" lIns="0" rIns="0" tIns="0" bIns="0" anchor="t">
            <a:spAutoFit/>
          </a:bodyPr>
          <a:lstStyle/>
          <a:p>
            <a:pPr algn="l">
              <a:lnSpc>
                <a:spcPct val="115000"/>
              </a:lnSpc>
            </a:pPr>
            <a:r>
              <a:rPr sz="950" b="1" i="0">
                <a:solidFill>
                  <a:srgbClr val="F4B400"/>
                </a:solidFill>
                <a:latin typeface="Calibri"/>
              </a:rPr>
              <a:t>AI budget</a:t>
            </a:r>
          </a:p>
        </p:txBody>
      </p:sp>
      <p:sp>
        <p:nvSpPr>
          <p:cNvPr id="14" name="Rectangle 13"/>
          <p:cNvSpPr/>
          <p:nvPr/>
        </p:nvSpPr>
        <p:spPr>
          <a:xfrm>
            <a:off x="5394960" y="2148839"/>
            <a:ext cx="2194560" cy="256032"/>
          </a:xfrm>
          <a:prstGeom prst="rect">
            <a:avLst/>
          </a:prstGeom>
          <a:solidFill>
            <a:srgbClr val="0A14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504688" y="2185415"/>
            <a:ext cx="2011680" cy="219456"/>
          </a:xfrm>
          <a:prstGeom prst="rect">
            <a:avLst/>
          </a:prstGeom>
          <a:noFill/>
        </p:spPr>
        <p:txBody>
          <a:bodyPr wrap="square" lIns="0" rIns="0" tIns="0" bIns="0" anchor="t">
            <a:spAutoFit/>
          </a:bodyPr>
          <a:lstStyle/>
          <a:p>
            <a:pPr algn="l">
              <a:lnSpc>
                <a:spcPct val="115000"/>
              </a:lnSpc>
            </a:pPr>
            <a:r>
              <a:rPr sz="950" b="1" i="0">
                <a:solidFill>
                  <a:srgbClr val="F4B400"/>
                </a:solidFill>
                <a:latin typeface="Calibri"/>
              </a:rPr>
              <a:t>Active evals</a:t>
            </a:r>
          </a:p>
        </p:txBody>
      </p:sp>
      <p:sp>
        <p:nvSpPr>
          <p:cNvPr id="16" name="Rectangle 15"/>
          <p:cNvSpPr/>
          <p:nvPr/>
        </p:nvSpPr>
        <p:spPr>
          <a:xfrm>
            <a:off x="7589520" y="2148839"/>
            <a:ext cx="1645920" cy="256032"/>
          </a:xfrm>
          <a:prstGeom prst="rect">
            <a:avLst/>
          </a:prstGeom>
          <a:solidFill>
            <a:srgbClr val="0A14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99248" y="2185415"/>
            <a:ext cx="1463040" cy="219456"/>
          </a:xfrm>
          <a:prstGeom prst="rect">
            <a:avLst/>
          </a:prstGeom>
          <a:noFill/>
        </p:spPr>
        <p:txBody>
          <a:bodyPr wrap="square" lIns="0" rIns="0" tIns="0" bIns="0" anchor="t">
            <a:spAutoFit/>
          </a:bodyPr>
          <a:lstStyle/>
          <a:p>
            <a:pPr algn="l">
              <a:lnSpc>
                <a:spcPct val="115000"/>
              </a:lnSpc>
            </a:pPr>
            <a:r>
              <a:rPr sz="950" b="1" i="0">
                <a:solidFill>
                  <a:srgbClr val="F4B400"/>
                </a:solidFill>
                <a:latin typeface="Calibri"/>
              </a:rPr>
              <a:t>Seats</a:t>
            </a:r>
          </a:p>
        </p:txBody>
      </p:sp>
      <p:sp>
        <p:nvSpPr>
          <p:cNvPr id="18" name="Rectangle 17"/>
          <p:cNvSpPr/>
          <p:nvPr/>
        </p:nvSpPr>
        <p:spPr>
          <a:xfrm>
            <a:off x="548640" y="2404871"/>
            <a:ext cx="8686800" cy="27432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2450591"/>
            <a:ext cx="1554480" cy="237744"/>
          </a:xfrm>
          <a:prstGeom prst="rect">
            <a:avLst/>
          </a:prstGeom>
          <a:noFill/>
        </p:spPr>
        <p:txBody>
          <a:bodyPr wrap="square" lIns="0" rIns="0" tIns="0" bIns="0" anchor="t">
            <a:spAutoFit/>
          </a:bodyPr>
          <a:lstStyle/>
          <a:p>
            <a:pPr algn="l">
              <a:lnSpc>
                <a:spcPct val="115000"/>
              </a:lnSpc>
            </a:pPr>
            <a:r>
              <a:rPr sz="1050" b="1" i="0">
                <a:solidFill>
                  <a:srgbClr val="0F172E"/>
                </a:solidFill>
                <a:latin typeface="Calibri"/>
              </a:rPr>
              <a:t>Free</a:t>
            </a:r>
          </a:p>
        </p:txBody>
      </p:sp>
      <p:sp>
        <p:nvSpPr>
          <p:cNvPr id="20" name="TextBox 19"/>
          <p:cNvSpPr txBox="1"/>
          <p:nvPr/>
        </p:nvSpPr>
        <p:spPr>
          <a:xfrm>
            <a:off x="2395728" y="2450591"/>
            <a:ext cx="1188720" cy="237744"/>
          </a:xfrm>
          <a:prstGeom prst="rect">
            <a:avLst/>
          </a:prstGeom>
          <a:noFill/>
        </p:spPr>
        <p:txBody>
          <a:bodyPr wrap="square" lIns="0" rIns="0" tIns="0" bIns="0" anchor="t">
            <a:spAutoFit/>
          </a:bodyPr>
          <a:lstStyle/>
          <a:p>
            <a:pPr algn="l">
              <a:lnSpc>
                <a:spcPct val="115000"/>
              </a:lnSpc>
            </a:pPr>
            <a:r>
              <a:rPr sz="1050" b="1" i="0">
                <a:solidFill>
                  <a:srgbClr val="2E55D9"/>
                </a:solidFill>
                <a:latin typeface="Calibri"/>
              </a:rPr>
              <a:t>$0</a:t>
            </a:r>
          </a:p>
        </p:txBody>
      </p:sp>
      <p:sp>
        <p:nvSpPr>
          <p:cNvPr id="21" name="TextBox 20"/>
          <p:cNvSpPr txBox="1"/>
          <p:nvPr/>
        </p:nvSpPr>
        <p:spPr>
          <a:xfrm>
            <a:off x="3767328" y="2450591"/>
            <a:ext cx="1554480" cy="237744"/>
          </a:xfrm>
          <a:prstGeom prst="rect">
            <a:avLst/>
          </a:prstGeom>
          <a:noFill/>
        </p:spPr>
        <p:txBody>
          <a:bodyPr wrap="square" lIns="0" rIns="0" tIns="0" bIns="0" anchor="t">
            <a:spAutoFit/>
          </a:bodyPr>
          <a:lstStyle/>
          <a:p>
            <a:pPr algn="l">
              <a:lnSpc>
                <a:spcPct val="115000"/>
              </a:lnSpc>
            </a:pPr>
            <a:r>
              <a:rPr sz="1050" b="0" i="0">
                <a:solidFill>
                  <a:srgbClr val="0F172E"/>
                </a:solidFill>
                <a:latin typeface="Calibri"/>
              </a:rPr>
              <a:t>$5</a:t>
            </a:r>
          </a:p>
        </p:txBody>
      </p:sp>
      <p:sp>
        <p:nvSpPr>
          <p:cNvPr id="22" name="TextBox 21"/>
          <p:cNvSpPr txBox="1"/>
          <p:nvPr/>
        </p:nvSpPr>
        <p:spPr>
          <a:xfrm>
            <a:off x="5504688" y="2450591"/>
            <a:ext cx="2011680" cy="237744"/>
          </a:xfrm>
          <a:prstGeom prst="rect">
            <a:avLst/>
          </a:prstGeom>
          <a:noFill/>
        </p:spPr>
        <p:txBody>
          <a:bodyPr wrap="square" lIns="0" rIns="0" tIns="0" bIns="0" anchor="t">
            <a:spAutoFit/>
          </a:bodyPr>
          <a:lstStyle/>
          <a:p>
            <a:pPr algn="l">
              <a:lnSpc>
                <a:spcPct val="115000"/>
              </a:lnSpc>
            </a:pPr>
            <a:r>
              <a:rPr sz="1050" b="0" i="0">
                <a:solidFill>
                  <a:srgbClr val="0F172E"/>
                </a:solidFill>
                <a:latin typeface="Calibri"/>
              </a:rPr>
              <a:t>1</a:t>
            </a:r>
          </a:p>
        </p:txBody>
      </p:sp>
      <p:sp>
        <p:nvSpPr>
          <p:cNvPr id="23" name="TextBox 22"/>
          <p:cNvSpPr txBox="1"/>
          <p:nvPr/>
        </p:nvSpPr>
        <p:spPr>
          <a:xfrm>
            <a:off x="7699248" y="2450591"/>
            <a:ext cx="1463040" cy="237744"/>
          </a:xfrm>
          <a:prstGeom prst="rect">
            <a:avLst/>
          </a:prstGeom>
          <a:noFill/>
        </p:spPr>
        <p:txBody>
          <a:bodyPr wrap="square" lIns="0" rIns="0" tIns="0" bIns="0" anchor="t">
            <a:spAutoFit/>
          </a:bodyPr>
          <a:lstStyle/>
          <a:p>
            <a:pPr algn="l">
              <a:lnSpc>
                <a:spcPct val="115000"/>
              </a:lnSpc>
            </a:pPr>
            <a:r>
              <a:rPr sz="1050" b="0" i="0">
                <a:solidFill>
                  <a:srgbClr val="0F172E"/>
                </a:solidFill>
                <a:latin typeface="Calibri"/>
              </a:rPr>
              <a:t>Unlimited</a:t>
            </a:r>
          </a:p>
        </p:txBody>
      </p:sp>
      <p:sp>
        <p:nvSpPr>
          <p:cNvPr id="24" name="Rectangle 23"/>
          <p:cNvSpPr/>
          <p:nvPr/>
        </p:nvSpPr>
        <p:spPr>
          <a:xfrm>
            <a:off x="548640" y="2679191"/>
            <a:ext cx="8686800" cy="274320"/>
          </a:xfrm>
          <a:prstGeom prst="rect">
            <a:avLst/>
          </a:prstGeom>
          <a:solidFill>
            <a:srgbClr val="ECF1FA"/>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 y="2724911"/>
            <a:ext cx="1554480" cy="237744"/>
          </a:xfrm>
          <a:prstGeom prst="rect">
            <a:avLst/>
          </a:prstGeom>
          <a:noFill/>
        </p:spPr>
        <p:txBody>
          <a:bodyPr wrap="square" lIns="0" rIns="0" tIns="0" bIns="0" anchor="t">
            <a:spAutoFit/>
          </a:bodyPr>
          <a:lstStyle/>
          <a:p>
            <a:pPr algn="l">
              <a:lnSpc>
                <a:spcPct val="115000"/>
              </a:lnSpc>
            </a:pPr>
            <a:r>
              <a:rPr sz="1050" b="1" i="0">
                <a:solidFill>
                  <a:srgbClr val="0F172E"/>
                </a:solidFill>
                <a:latin typeface="Calibri"/>
              </a:rPr>
              <a:t>Starter</a:t>
            </a:r>
          </a:p>
        </p:txBody>
      </p:sp>
      <p:sp>
        <p:nvSpPr>
          <p:cNvPr id="26" name="TextBox 25"/>
          <p:cNvSpPr txBox="1"/>
          <p:nvPr/>
        </p:nvSpPr>
        <p:spPr>
          <a:xfrm>
            <a:off x="2395728" y="2724911"/>
            <a:ext cx="1188720" cy="237744"/>
          </a:xfrm>
          <a:prstGeom prst="rect">
            <a:avLst/>
          </a:prstGeom>
          <a:noFill/>
        </p:spPr>
        <p:txBody>
          <a:bodyPr wrap="square" lIns="0" rIns="0" tIns="0" bIns="0" anchor="t">
            <a:spAutoFit/>
          </a:bodyPr>
          <a:lstStyle/>
          <a:p>
            <a:pPr algn="l">
              <a:lnSpc>
                <a:spcPct val="115000"/>
              </a:lnSpc>
            </a:pPr>
            <a:r>
              <a:rPr sz="1050" b="1" i="0">
                <a:solidFill>
                  <a:srgbClr val="2E55D9"/>
                </a:solidFill>
                <a:latin typeface="Calibri"/>
              </a:rPr>
              <a:t>$299</a:t>
            </a:r>
          </a:p>
        </p:txBody>
      </p:sp>
      <p:sp>
        <p:nvSpPr>
          <p:cNvPr id="27" name="TextBox 26"/>
          <p:cNvSpPr txBox="1"/>
          <p:nvPr/>
        </p:nvSpPr>
        <p:spPr>
          <a:xfrm>
            <a:off x="3767328" y="2724911"/>
            <a:ext cx="1554480" cy="237744"/>
          </a:xfrm>
          <a:prstGeom prst="rect">
            <a:avLst/>
          </a:prstGeom>
          <a:noFill/>
        </p:spPr>
        <p:txBody>
          <a:bodyPr wrap="square" lIns="0" rIns="0" tIns="0" bIns="0" anchor="t">
            <a:spAutoFit/>
          </a:bodyPr>
          <a:lstStyle/>
          <a:p>
            <a:pPr algn="l">
              <a:lnSpc>
                <a:spcPct val="115000"/>
              </a:lnSpc>
            </a:pPr>
            <a:r>
              <a:rPr sz="1050" b="0" i="0">
                <a:solidFill>
                  <a:srgbClr val="0F172E"/>
                </a:solidFill>
                <a:latin typeface="Calibri"/>
              </a:rPr>
              <a:t>$50</a:t>
            </a:r>
          </a:p>
        </p:txBody>
      </p:sp>
      <p:sp>
        <p:nvSpPr>
          <p:cNvPr id="28" name="TextBox 27"/>
          <p:cNvSpPr txBox="1"/>
          <p:nvPr/>
        </p:nvSpPr>
        <p:spPr>
          <a:xfrm>
            <a:off x="5504688" y="2724911"/>
            <a:ext cx="2011680" cy="237744"/>
          </a:xfrm>
          <a:prstGeom prst="rect">
            <a:avLst/>
          </a:prstGeom>
          <a:noFill/>
        </p:spPr>
        <p:txBody>
          <a:bodyPr wrap="square" lIns="0" rIns="0" tIns="0" bIns="0" anchor="t">
            <a:spAutoFit/>
          </a:bodyPr>
          <a:lstStyle/>
          <a:p>
            <a:pPr algn="l">
              <a:lnSpc>
                <a:spcPct val="115000"/>
              </a:lnSpc>
            </a:pPr>
            <a:r>
              <a:rPr sz="1050" b="0" i="0">
                <a:solidFill>
                  <a:srgbClr val="0F172E"/>
                </a:solidFill>
                <a:latin typeface="Calibri"/>
              </a:rPr>
              <a:t>5</a:t>
            </a:r>
          </a:p>
        </p:txBody>
      </p:sp>
      <p:sp>
        <p:nvSpPr>
          <p:cNvPr id="29" name="TextBox 28"/>
          <p:cNvSpPr txBox="1"/>
          <p:nvPr/>
        </p:nvSpPr>
        <p:spPr>
          <a:xfrm>
            <a:off x="7699248" y="2724911"/>
            <a:ext cx="1463040" cy="237744"/>
          </a:xfrm>
          <a:prstGeom prst="rect">
            <a:avLst/>
          </a:prstGeom>
          <a:noFill/>
        </p:spPr>
        <p:txBody>
          <a:bodyPr wrap="square" lIns="0" rIns="0" tIns="0" bIns="0" anchor="t">
            <a:spAutoFit/>
          </a:bodyPr>
          <a:lstStyle/>
          <a:p>
            <a:pPr algn="l">
              <a:lnSpc>
                <a:spcPct val="115000"/>
              </a:lnSpc>
            </a:pPr>
            <a:r>
              <a:rPr sz="1050" b="0" i="0">
                <a:solidFill>
                  <a:srgbClr val="0F172E"/>
                </a:solidFill>
                <a:latin typeface="Calibri"/>
              </a:rPr>
              <a:t>Unlimited</a:t>
            </a:r>
          </a:p>
        </p:txBody>
      </p:sp>
      <p:sp>
        <p:nvSpPr>
          <p:cNvPr id="30" name="Rectangle 29"/>
          <p:cNvSpPr/>
          <p:nvPr/>
        </p:nvSpPr>
        <p:spPr>
          <a:xfrm>
            <a:off x="548640" y="2953511"/>
            <a:ext cx="8686800" cy="27432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 y="2999231"/>
            <a:ext cx="1554480" cy="237744"/>
          </a:xfrm>
          <a:prstGeom prst="rect">
            <a:avLst/>
          </a:prstGeom>
          <a:noFill/>
        </p:spPr>
        <p:txBody>
          <a:bodyPr wrap="square" lIns="0" rIns="0" tIns="0" bIns="0" anchor="t">
            <a:spAutoFit/>
          </a:bodyPr>
          <a:lstStyle/>
          <a:p>
            <a:pPr algn="l">
              <a:lnSpc>
                <a:spcPct val="115000"/>
              </a:lnSpc>
            </a:pPr>
            <a:r>
              <a:rPr sz="1050" b="1" i="0">
                <a:solidFill>
                  <a:srgbClr val="0F172E"/>
                </a:solidFill>
                <a:latin typeface="Calibri"/>
              </a:rPr>
              <a:t>Growth</a:t>
            </a:r>
          </a:p>
        </p:txBody>
      </p:sp>
      <p:sp>
        <p:nvSpPr>
          <p:cNvPr id="32" name="TextBox 31"/>
          <p:cNvSpPr txBox="1"/>
          <p:nvPr/>
        </p:nvSpPr>
        <p:spPr>
          <a:xfrm>
            <a:off x="2395728" y="2999231"/>
            <a:ext cx="1188720" cy="237744"/>
          </a:xfrm>
          <a:prstGeom prst="rect">
            <a:avLst/>
          </a:prstGeom>
          <a:noFill/>
        </p:spPr>
        <p:txBody>
          <a:bodyPr wrap="square" lIns="0" rIns="0" tIns="0" bIns="0" anchor="t">
            <a:spAutoFit/>
          </a:bodyPr>
          <a:lstStyle/>
          <a:p>
            <a:pPr algn="l">
              <a:lnSpc>
                <a:spcPct val="115000"/>
              </a:lnSpc>
            </a:pPr>
            <a:r>
              <a:rPr sz="1050" b="1" i="0">
                <a:solidFill>
                  <a:srgbClr val="2E55D9"/>
                </a:solidFill>
                <a:latin typeface="Calibri"/>
              </a:rPr>
              <a:t>$799</a:t>
            </a:r>
          </a:p>
        </p:txBody>
      </p:sp>
      <p:sp>
        <p:nvSpPr>
          <p:cNvPr id="33" name="TextBox 32"/>
          <p:cNvSpPr txBox="1"/>
          <p:nvPr/>
        </p:nvSpPr>
        <p:spPr>
          <a:xfrm>
            <a:off x="3767328" y="2999231"/>
            <a:ext cx="1554480" cy="237744"/>
          </a:xfrm>
          <a:prstGeom prst="rect">
            <a:avLst/>
          </a:prstGeom>
          <a:noFill/>
        </p:spPr>
        <p:txBody>
          <a:bodyPr wrap="square" lIns="0" rIns="0" tIns="0" bIns="0" anchor="t">
            <a:spAutoFit/>
          </a:bodyPr>
          <a:lstStyle/>
          <a:p>
            <a:pPr algn="l">
              <a:lnSpc>
                <a:spcPct val="115000"/>
              </a:lnSpc>
            </a:pPr>
            <a:r>
              <a:rPr sz="1050" b="0" i="0">
                <a:solidFill>
                  <a:srgbClr val="0F172E"/>
                </a:solidFill>
                <a:latin typeface="Calibri"/>
              </a:rPr>
              <a:t>$300</a:t>
            </a:r>
          </a:p>
        </p:txBody>
      </p:sp>
      <p:sp>
        <p:nvSpPr>
          <p:cNvPr id="34" name="TextBox 33"/>
          <p:cNvSpPr txBox="1"/>
          <p:nvPr/>
        </p:nvSpPr>
        <p:spPr>
          <a:xfrm>
            <a:off x="5504688" y="2999231"/>
            <a:ext cx="2011680" cy="237744"/>
          </a:xfrm>
          <a:prstGeom prst="rect">
            <a:avLst/>
          </a:prstGeom>
          <a:noFill/>
        </p:spPr>
        <p:txBody>
          <a:bodyPr wrap="square" lIns="0" rIns="0" tIns="0" bIns="0" anchor="t">
            <a:spAutoFit/>
          </a:bodyPr>
          <a:lstStyle/>
          <a:p>
            <a:pPr algn="l">
              <a:lnSpc>
                <a:spcPct val="115000"/>
              </a:lnSpc>
            </a:pPr>
            <a:r>
              <a:rPr sz="1050" b="0" i="0">
                <a:solidFill>
                  <a:srgbClr val="0F172E"/>
                </a:solidFill>
                <a:latin typeface="Calibri"/>
              </a:rPr>
              <a:t>20</a:t>
            </a:r>
          </a:p>
        </p:txBody>
      </p:sp>
      <p:sp>
        <p:nvSpPr>
          <p:cNvPr id="35" name="TextBox 34"/>
          <p:cNvSpPr txBox="1"/>
          <p:nvPr/>
        </p:nvSpPr>
        <p:spPr>
          <a:xfrm>
            <a:off x="7699248" y="2999231"/>
            <a:ext cx="1463040" cy="237744"/>
          </a:xfrm>
          <a:prstGeom prst="rect">
            <a:avLst/>
          </a:prstGeom>
          <a:noFill/>
        </p:spPr>
        <p:txBody>
          <a:bodyPr wrap="square" lIns="0" rIns="0" tIns="0" bIns="0" anchor="t">
            <a:spAutoFit/>
          </a:bodyPr>
          <a:lstStyle/>
          <a:p>
            <a:pPr algn="l">
              <a:lnSpc>
                <a:spcPct val="115000"/>
              </a:lnSpc>
            </a:pPr>
            <a:r>
              <a:rPr sz="1050" b="0" i="0">
                <a:solidFill>
                  <a:srgbClr val="0F172E"/>
                </a:solidFill>
                <a:latin typeface="Calibri"/>
              </a:rPr>
              <a:t>Unlimited</a:t>
            </a:r>
          </a:p>
        </p:txBody>
      </p:sp>
      <p:sp>
        <p:nvSpPr>
          <p:cNvPr id="36" name="Rectangle 35"/>
          <p:cNvSpPr/>
          <p:nvPr/>
        </p:nvSpPr>
        <p:spPr>
          <a:xfrm>
            <a:off x="548640" y="3227831"/>
            <a:ext cx="8686800" cy="274320"/>
          </a:xfrm>
          <a:prstGeom prst="rect">
            <a:avLst/>
          </a:prstGeom>
          <a:solidFill>
            <a:srgbClr val="ECF1FA"/>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368" y="3273551"/>
            <a:ext cx="1554480" cy="237744"/>
          </a:xfrm>
          <a:prstGeom prst="rect">
            <a:avLst/>
          </a:prstGeom>
          <a:noFill/>
        </p:spPr>
        <p:txBody>
          <a:bodyPr wrap="square" lIns="0" rIns="0" tIns="0" bIns="0" anchor="t">
            <a:spAutoFit/>
          </a:bodyPr>
          <a:lstStyle/>
          <a:p>
            <a:pPr algn="l">
              <a:lnSpc>
                <a:spcPct val="115000"/>
              </a:lnSpc>
            </a:pPr>
            <a:r>
              <a:rPr sz="1050" b="1" i="0">
                <a:solidFill>
                  <a:srgbClr val="0F172E"/>
                </a:solidFill>
                <a:latin typeface="Calibri"/>
              </a:rPr>
              <a:t>Scale</a:t>
            </a:r>
          </a:p>
        </p:txBody>
      </p:sp>
      <p:sp>
        <p:nvSpPr>
          <p:cNvPr id="38" name="TextBox 37"/>
          <p:cNvSpPr txBox="1"/>
          <p:nvPr/>
        </p:nvSpPr>
        <p:spPr>
          <a:xfrm>
            <a:off x="2395728" y="3273551"/>
            <a:ext cx="1188720" cy="237744"/>
          </a:xfrm>
          <a:prstGeom prst="rect">
            <a:avLst/>
          </a:prstGeom>
          <a:noFill/>
        </p:spPr>
        <p:txBody>
          <a:bodyPr wrap="square" lIns="0" rIns="0" tIns="0" bIns="0" anchor="t">
            <a:spAutoFit/>
          </a:bodyPr>
          <a:lstStyle/>
          <a:p>
            <a:pPr algn="l">
              <a:lnSpc>
                <a:spcPct val="115000"/>
              </a:lnSpc>
            </a:pPr>
            <a:r>
              <a:rPr sz="1050" b="1" i="0">
                <a:solidFill>
                  <a:srgbClr val="2E55D9"/>
                </a:solidFill>
                <a:latin typeface="Calibri"/>
              </a:rPr>
              <a:t>$1,999</a:t>
            </a:r>
          </a:p>
        </p:txBody>
      </p:sp>
      <p:sp>
        <p:nvSpPr>
          <p:cNvPr id="39" name="TextBox 38"/>
          <p:cNvSpPr txBox="1"/>
          <p:nvPr/>
        </p:nvSpPr>
        <p:spPr>
          <a:xfrm>
            <a:off x="3767328" y="3273551"/>
            <a:ext cx="1554480" cy="237744"/>
          </a:xfrm>
          <a:prstGeom prst="rect">
            <a:avLst/>
          </a:prstGeom>
          <a:noFill/>
        </p:spPr>
        <p:txBody>
          <a:bodyPr wrap="square" lIns="0" rIns="0" tIns="0" bIns="0" anchor="t">
            <a:spAutoFit/>
          </a:bodyPr>
          <a:lstStyle/>
          <a:p>
            <a:pPr algn="l">
              <a:lnSpc>
                <a:spcPct val="115000"/>
              </a:lnSpc>
            </a:pPr>
            <a:r>
              <a:rPr sz="1050" b="0" i="0">
                <a:solidFill>
                  <a:srgbClr val="0F172E"/>
                </a:solidFill>
                <a:latin typeface="Calibri"/>
              </a:rPr>
              <a:t>$800</a:t>
            </a:r>
          </a:p>
        </p:txBody>
      </p:sp>
      <p:sp>
        <p:nvSpPr>
          <p:cNvPr id="40" name="TextBox 39"/>
          <p:cNvSpPr txBox="1"/>
          <p:nvPr/>
        </p:nvSpPr>
        <p:spPr>
          <a:xfrm>
            <a:off x="5504688" y="3273551"/>
            <a:ext cx="2011680" cy="237744"/>
          </a:xfrm>
          <a:prstGeom prst="rect">
            <a:avLst/>
          </a:prstGeom>
          <a:noFill/>
        </p:spPr>
        <p:txBody>
          <a:bodyPr wrap="square" lIns="0" rIns="0" tIns="0" bIns="0" anchor="t">
            <a:spAutoFit/>
          </a:bodyPr>
          <a:lstStyle/>
          <a:p>
            <a:pPr algn="l">
              <a:lnSpc>
                <a:spcPct val="115000"/>
              </a:lnSpc>
            </a:pPr>
            <a:r>
              <a:rPr sz="1050" b="0" i="0">
                <a:solidFill>
                  <a:srgbClr val="0F172E"/>
                </a:solidFill>
                <a:latin typeface="Calibri"/>
              </a:rPr>
              <a:t>Unlimited</a:t>
            </a:r>
          </a:p>
        </p:txBody>
      </p:sp>
      <p:sp>
        <p:nvSpPr>
          <p:cNvPr id="41" name="TextBox 40"/>
          <p:cNvSpPr txBox="1"/>
          <p:nvPr/>
        </p:nvSpPr>
        <p:spPr>
          <a:xfrm>
            <a:off x="7699248" y="3273551"/>
            <a:ext cx="1463040" cy="237744"/>
          </a:xfrm>
          <a:prstGeom prst="rect">
            <a:avLst/>
          </a:prstGeom>
          <a:noFill/>
        </p:spPr>
        <p:txBody>
          <a:bodyPr wrap="square" lIns="0" rIns="0" tIns="0" bIns="0" anchor="t">
            <a:spAutoFit/>
          </a:bodyPr>
          <a:lstStyle/>
          <a:p>
            <a:pPr algn="l">
              <a:lnSpc>
                <a:spcPct val="115000"/>
              </a:lnSpc>
            </a:pPr>
            <a:r>
              <a:rPr sz="1050" b="0" i="0">
                <a:solidFill>
                  <a:srgbClr val="0F172E"/>
                </a:solidFill>
                <a:latin typeface="Calibri"/>
              </a:rPr>
              <a:t>Unlimited</a:t>
            </a:r>
          </a:p>
        </p:txBody>
      </p:sp>
      <p:sp>
        <p:nvSpPr>
          <p:cNvPr id="42" name="Rectangle 41"/>
          <p:cNvSpPr/>
          <p:nvPr/>
        </p:nvSpPr>
        <p:spPr>
          <a:xfrm>
            <a:off x="548640" y="3502151"/>
            <a:ext cx="8686800" cy="27432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8368" y="3547871"/>
            <a:ext cx="1554480" cy="237744"/>
          </a:xfrm>
          <a:prstGeom prst="rect">
            <a:avLst/>
          </a:prstGeom>
          <a:noFill/>
        </p:spPr>
        <p:txBody>
          <a:bodyPr wrap="square" lIns="0" rIns="0" tIns="0" bIns="0" anchor="t">
            <a:spAutoFit/>
          </a:bodyPr>
          <a:lstStyle/>
          <a:p>
            <a:pPr algn="l">
              <a:lnSpc>
                <a:spcPct val="115000"/>
              </a:lnSpc>
            </a:pPr>
            <a:r>
              <a:rPr sz="1050" b="1" i="0">
                <a:solidFill>
                  <a:srgbClr val="0F172E"/>
                </a:solidFill>
                <a:latin typeface="Calibri"/>
              </a:rPr>
              <a:t>Enterprise</a:t>
            </a:r>
          </a:p>
        </p:txBody>
      </p:sp>
      <p:sp>
        <p:nvSpPr>
          <p:cNvPr id="44" name="TextBox 43"/>
          <p:cNvSpPr txBox="1"/>
          <p:nvPr/>
        </p:nvSpPr>
        <p:spPr>
          <a:xfrm>
            <a:off x="2395728" y="3547871"/>
            <a:ext cx="1188720" cy="237744"/>
          </a:xfrm>
          <a:prstGeom prst="rect">
            <a:avLst/>
          </a:prstGeom>
          <a:noFill/>
        </p:spPr>
        <p:txBody>
          <a:bodyPr wrap="square" lIns="0" rIns="0" tIns="0" bIns="0" anchor="t">
            <a:spAutoFit/>
          </a:bodyPr>
          <a:lstStyle/>
          <a:p>
            <a:pPr algn="l">
              <a:lnSpc>
                <a:spcPct val="115000"/>
              </a:lnSpc>
            </a:pPr>
            <a:r>
              <a:rPr sz="1050" b="1" i="0">
                <a:solidFill>
                  <a:srgbClr val="2E55D9"/>
                </a:solidFill>
                <a:latin typeface="Calibri"/>
              </a:rPr>
              <a:t>Custom*</a:t>
            </a:r>
          </a:p>
        </p:txBody>
      </p:sp>
      <p:sp>
        <p:nvSpPr>
          <p:cNvPr id="45" name="TextBox 44"/>
          <p:cNvSpPr txBox="1"/>
          <p:nvPr/>
        </p:nvSpPr>
        <p:spPr>
          <a:xfrm>
            <a:off x="3767328" y="3547871"/>
            <a:ext cx="1554480" cy="237744"/>
          </a:xfrm>
          <a:prstGeom prst="rect">
            <a:avLst/>
          </a:prstGeom>
          <a:noFill/>
        </p:spPr>
        <p:txBody>
          <a:bodyPr wrap="square" lIns="0" rIns="0" tIns="0" bIns="0" anchor="t">
            <a:spAutoFit/>
          </a:bodyPr>
          <a:lstStyle/>
          <a:p>
            <a:pPr algn="l">
              <a:lnSpc>
                <a:spcPct val="115000"/>
              </a:lnSpc>
            </a:pPr>
            <a:r>
              <a:rPr sz="1050" b="0" i="0">
                <a:solidFill>
                  <a:srgbClr val="0F172E"/>
                </a:solidFill>
                <a:latin typeface="Calibri"/>
              </a:rPr>
              <a:t>Commit</a:t>
            </a:r>
          </a:p>
        </p:txBody>
      </p:sp>
      <p:sp>
        <p:nvSpPr>
          <p:cNvPr id="46" name="TextBox 45"/>
          <p:cNvSpPr txBox="1"/>
          <p:nvPr/>
        </p:nvSpPr>
        <p:spPr>
          <a:xfrm>
            <a:off x="5504688" y="3547871"/>
            <a:ext cx="2011680" cy="237744"/>
          </a:xfrm>
          <a:prstGeom prst="rect">
            <a:avLst/>
          </a:prstGeom>
          <a:noFill/>
        </p:spPr>
        <p:txBody>
          <a:bodyPr wrap="square" lIns="0" rIns="0" tIns="0" bIns="0" anchor="t">
            <a:spAutoFit/>
          </a:bodyPr>
          <a:lstStyle/>
          <a:p>
            <a:pPr algn="l">
              <a:lnSpc>
                <a:spcPct val="115000"/>
              </a:lnSpc>
            </a:pPr>
            <a:r>
              <a:rPr sz="1050" b="0" i="0">
                <a:solidFill>
                  <a:srgbClr val="0F172E"/>
                </a:solidFill>
                <a:latin typeface="Calibri"/>
              </a:rPr>
              <a:t>Unlimited</a:t>
            </a:r>
          </a:p>
        </p:txBody>
      </p:sp>
      <p:sp>
        <p:nvSpPr>
          <p:cNvPr id="47" name="TextBox 46"/>
          <p:cNvSpPr txBox="1"/>
          <p:nvPr/>
        </p:nvSpPr>
        <p:spPr>
          <a:xfrm>
            <a:off x="7699248" y="3547871"/>
            <a:ext cx="1463040" cy="237744"/>
          </a:xfrm>
          <a:prstGeom prst="rect">
            <a:avLst/>
          </a:prstGeom>
          <a:noFill/>
        </p:spPr>
        <p:txBody>
          <a:bodyPr wrap="square" lIns="0" rIns="0" tIns="0" bIns="0" anchor="t">
            <a:spAutoFit/>
          </a:bodyPr>
          <a:lstStyle/>
          <a:p>
            <a:pPr algn="l">
              <a:lnSpc>
                <a:spcPct val="115000"/>
              </a:lnSpc>
            </a:pPr>
            <a:r>
              <a:rPr sz="1050" b="0" i="0">
                <a:solidFill>
                  <a:srgbClr val="0F172E"/>
                </a:solidFill>
                <a:latin typeface="Calibri"/>
              </a:rPr>
              <a:t>Unlimited</a:t>
            </a:r>
          </a:p>
        </p:txBody>
      </p:sp>
      <p:sp>
        <p:nvSpPr>
          <p:cNvPr id="48" name="TextBox 47"/>
          <p:cNvSpPr txBox="1"/>
          <p:nvPr/>
        </p:nvSpPr>
        <p:spPr>
          <a:xfrm>
            <a:off x="548640" y="3886199"/>
            <a:ext cx="5486400" cy="237744"/>
          </a:xfrm>
          <a:prstGeom prst="rect">
            <a:avLst/>
          </a:prstGeom>
          <a:noFill/>
        </p:spPr>
        <p:txBody>
          <a:bodyPr wrap="square" lIns="0" rIns="0" tIns="0" bIns="0" anchor="t">
            <a:spAutoFit/>
          </a:bodyPr>
          <a:lstStyle/>
          <a:p>
            <a:pPr algn="l">
              <a:lnSpc>
                <a:spcPct val="115000"/>
              </a:lnSpc>
            </a:pPr>
            <a:r>
              <a:rPr sz="1000" b="1" i="0">
                <a:solidFill>
                  <a:srgbClr val="7C3AED"/>
                </a:solidFill>
                <a:latin typeface="Calibri"/>
              </a:rPr>
              <a:t>SELLER PLANS  ·  PER ORG, PER MONTH (ANNUAL)</a:t>
            </a:r>
          </a:p>
        </p:txBody>
      </p:sp>
      <p:sp>
        <p:nvSpPr>
          <p:cNvPr id="49" name="Rectangle 48"/>
          <p:cNvSpPr/>
          <p:nvPr/>
        </p:nvSpPr>
        <p:spPr>
          <a:xfrm>
            <a:off x="548640" y="4160519"/>
            <a:ext cx="1737360" cy="256032"/>
          </a:xfrm>
          <a:prstGeom prst="rect">
            <a:avLst/>
          </a:prstGeom>
          <a:solidFill>
            <a:srgbClr val="0A14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58368" y="4197095"/>
            <a:ext cx="1554480" cy="219456"/>
          </a:xfrm>
          <a:prstGeom prst="rect">
            <a:avLst/>
          </a:prstGeom>
          <a:noFill/>
        </p:spPr>
        <p:txBody>
          <a:bodyPr wrap="square" lIns="0" rIns="0" tIns="0" bIns="0" anchor="t">
            <a:spAutoFit/>
          </a:bodyPr>
          <a:lstStyle/>
          <a:p>
            <a:pPr algn="l">
              <a:lnSpc>
                <a:spcPct val="115000"/>
              </a:lnSpc>
            </a:pPr>
            <a:r>
              <a:rPr sz="950" b="1" i="0">
                <a:solidFill>
                  <a:srgbClr val="F4B400"/>
                </a:solidFill>
                <a:latin typeface="Calibri"/>
              </a:rPr>
              <a:t>Tier</a:t>
            </a:r>
          </a:p>
        </p:txBody>
      </p:sp>
      <p:sp>
        <p:nvSpPr>
          <p:cNvPr id="51" name="Rectangle 50"/>
          <p:cNvSpPr/>
          <p:nvPr/>
        </p:nvSpPr>
        <p:spPr>
          <a:xfrm>
            <a:off x="2286000" y="4160519"/>
            <a:ext cx="1371600" cy="256032"/>
          </a:xfrm>
          <a:prstGeom prst="rect">
            <a:avLst/>
          </a:prstGeom>
          <a:solidFill>
            <a:srgbClr val="0A14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395728" y="4197095"/>
            <a:ext cx="1188720" cy="219456"/>
          </a:xfrm>
          <a:prstGeom prst="rect">
            <a:avLst/>
          </a:prstGeom>
          <a:noFill/>
        </p:spPr>
        <p:txBody>
          <a:bodyPr wrap="square" lIns="0" rIns="0" tIns="0" bIns="0" anchor="t">
            <a:spAutoFit/>
          </a:bodyPr>
          <a:lstStyle/>
          <a:p>
            <a:pPr algn="l">
              <a:lnSpc>
                <a:spcPct val="115000"/>
              </a:lnSpc>
            </a:pPr>
            <a:r>
              <a:rPr sz="950" b="1" i="0">
                <a:solidFill>
                  <a:srgbClr val="F4B400"/>
                </a:solidFill>
                <a:latin typeface="Calibri"/>
              </a:rPr>
              <a:t>Price / mo</a:t>
            </a:r>
          </a:p>
        </p:txBody>
      </p:sp>
      <p:sp>
        <p:nvSpPr>
          <p:cNvPr id="53" name="Rectangle 52"/>
          <p:cNvSpPr/>
          <p:nvPr/>
        </p:nvSpPr>
        <p:spPr>
          <a:xfrm>
            <a:off x="3657600" y="4160519"/>
            <a:ext cx="1737360" cy="256032"/>
          </a:xfrm>
          <a:prstGeom prst="rect">
            <a:avLst/>
          </a:prstGeom>
          <a:solidFill>
            <a:srgbClr val="0A14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767328" y="4197095"/>
            <a:ext cx="1554480" cy="219456"/>
          </a:xfrm>
          <a:prstGeom prst="rect">
            <a:avLst/>
          </a:prstGeom>
          <a:noFill/>
        </p:spPr>
        <p:txBody>
          <a:bodyPr wrap="square" lIns="0" rIns="0" tIns="0" bIns="0" anchor="t">
            <a:spAutoFit/>
          </a:bodyPr>
          <a:lstStyle/>
          <a:p>
            <a:pPr algn="l">
              <a:lnSpc>
                <a:spcPct val="115000"/>
              </a:lnSpc>
            </a:pPr>
            <a:r>
              <a:rPr sz="950" b="1" i="0">
                <a:solidFill>
                  <a:srgbClr val="F4B400"/>
                </a:solidFill>
                <a:latin typeface="Calibri"/>
              </a:rPr>
              <a:t>AI budget</a:t>
            </a:r>
          </a:p>
        </p:txBody>
      </p:sp>
      <p:sp>
        <p:nvSpPr>
          <p:cNvPr id="55" name="Rectangle 54"/>
          <p:cNvSpPr/>
          <p:nvPr/>
        </p:nvSpPr>
        <p:spPr>
          <a:xfrm>
            <a:off x="5394960" y="4160519"/>
            <a:ext cx="2194560" cy="256032"/>
          </a:xfrm>
          <a:prstGeom prst="rect">
            <a:avLst/>
          </a:prstGeom>
          <a:solidFill>
            <a:srgbClr val="0A14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504688" y="4197095"/>
            <a:ext cx="2011680" cy="219456"/>
          </a:xfrm>
          <a:prstGeom prst="rect">
            <a:avLst/>
          </a:prstGeom>
          <a:noFill/>
        </p:spPr>
        <p:txBody>
          <a:bodyPr wrap="square" lIns="0" rIns="0" tIns="0" bIns="0" anchor="t">
            <a:spAutoFit/>
          </a:bodyPr>
          <a:lstStyle/>
          <a:p>
            <a:pPr algn="l">
              <a:lnSpc>
                <a:spcPct val="115000"/>
              </a:lnSpc>
            </a:pPr>
            <a:r>
              <a:rPr sz="950" b="1" i="0">
                <a:solidFill>
                  <a:srgbClr val="F4B400"/>
                </a:solidFill>
                <a:latin typeface="Calibri"/>
              </a:rPr>
              <a:t>Invited bids</a:t>
            </a:r>
          </a:p>
        </p:txBody>
      </p:sp>
      <p:sp>
        <p:nvSpPr>
          <p:cNvPr id="57" name="Rectangle 56"/>
          <p:cNvSpPr/>
          <p:nvPr/>
        </p:nvSpPr>
        <p:spPr>
          <a:xfrm>
            <a:off x="7589520" y="4160519"/>
            <a:ext cx="1645920" cy="256032"/>
          </a:xfrm>
          <a:prstGeom prst="rect">
            <a:avLst/>
          </a:prstGeom>
          <a:solidFill>
            <a:srgbClr val="0A14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699248" y="4197095"/>
            <a:ext cx="1463040" cy="219456"/>
          </a:xfrm>
          <a:prstGeom prst="rect">
            <a:avLst/>
          </a:prstGeom>
          <a:noFill/>
        </p:spPr>
        <p:txBody>
          <a:bodyPr wrap="square" lIns="0" rIns="0" tIns="0" bIns="0" anchor="t">
            <a:spAutoFit/>
          </a:bodyPr>
          <a:lstStyle/>
          <a:p>
            <a:pPr algn="l">
              <a:lnSpc>
                <a:spcPct val="115000"/>
              </a:lnSpc>
            </a:pPr>
            <a:r>
              <a:rPr sz="950" b="1" i="0">
                <a:solidFill>
                  <a:srgbClr val="F4B400"/>
                </a:solidFill>
                <a:latin typeface="Calibri"/>
              </a:rPr>
              <a:t>Seats</a:t>
            </a:r>
          </a:p>
        </p:txBody>
      </p:sp>
      <p:sp>
        <p:nvSpPr>
          <p:cNvPr id="59" name="Rectangle 58"/>
          <p:cNvSpPr/>
          <p:nvPr/>
        </p:nvSpPr>
        <p:spPr>
          <a:xfrm>
            <a:off x="548640" y="4416551"/>
            <a:ext cx="8686800" cy="27432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58368" y="4462271"/>
            <a:ext cx="1554480" cy="237744"/>
          </a:xfrm>
          <a:prstGeom prst="rect">
            <a:avLst/>
          </a:prstGeom>
          <a:noFill/>
        </p:spPr>
        <p:txBody>
          <a:bodyPr wrap="square" lIns="0" rIns="0" tIns="0" bIns="0" anchor="t">
            <a:spAutoFit/>
          </a:bodyPr>
          <a:lstStyle/>
          <a:p>
            <a:pPr algn="l">
              <a:lnSpc>
                <a:spcPct val="115000"/>
              </a:lnSpc>
            </a:pPr>
            <a:r>
              <a:rPr sz="1050" b="1" i="0">
                <a:solidFill>
                  <a:srgbClr val="0F172E"/>
                </a:solidFill>
                <a:latin typeface="Calibri"/>
              </a:rPr>
              <a:t>Free</a:t>
            </a:r>
          </a:p>
        </p:txBody>
      </p:sp>
      <p:sp>
        <p:nvSpPr>
          <p:cNvPr id="61" name="TextBox 60"/>
          <p:cNvSpPr txBox="1"/>
          <p:nvPr/>
        </p:nvSpPr>
        <p:spPr>
          <a:xfrm>
            <a:off x="2395728" y="4462271"/>
            <a:ext cx="1188720" cy="237744"/>
          </a:xfrm>
          <a:prstGeom prst="rect">
            <a:avLst/>
          </a:prstGeom>
          <a:noFill/>
        </p:spPr>
        <p:txBody>
          <a:bodyPr wrap="square" lIns="0" rIns="0" tIns="0" bIns="0" anchor="t">
            <a:spAutoFit/>
          </a:bodyPr>
          <a:lstStyle/>
          <a:p>
            <a:pPr algn="l">
              <a:lnSpc>
                <a:spcPct val="115000"/>
              </a:lnSpc>
            </a:pPr>
            <a:r>
              <a:rPr sz="1050" b="1" i="0">
                <a:solidFill>
                  <a:srgbClr val="7C3AED"/>
                </a:solidFill>
                <a:latin typeface="Calibri"/>
              </a:rPr>
              <a:t>$0</a:t>
            </a:r>
          </a:p>
        </p:txBody>
      </p:sp>
      <p:sp>
        <p:nvSpPr>
          <p:cNvPr id="62" name="TextBox 61"/>
          <p:cNvSpPr txBox="1"/>
          <p:nvPr/>
        </p:nvSpPr>
        <p:spPr>
          <a:xfrm>
            <a:off x="3767328" y="4462271"/>
            <a:ext cx="1554480" cy="237744"/>
          </a:xfrm>
          <a:prstGeom prst="rect">
            <a:avLst/>
          </a:prstGeom>
          <a:noFill/>
        </p:spPr>
        <p:txBody>
          <a:bodyPr wrap="square" lIns="0" rIns="0" tIns="0" bIns="0" anchor="t">
            <a:spAutoFit/>
          </a:bodyPr>
          <a:lstStyle/>
          <a:p>
            <a:pPr algn="l">
              <a:lnSpc>
                <a:spcPct val="115000"/>
              </a:lnSpc>
            </a:pPr>
            <a:r>
              <a:rPr sz="1050" b="0" i="0">
                <a:solidFill>
                  <a:srgbClr val="0F172E"/>
                </a:solidFill>
                <a:latin typeface="Calibri"/>
              </a:rPr>
              <a:t>$5</a:t>
            </a:r>
          </a:p>
        </p:txBody>
      </p:sp>
      <p:sp>
        <p:nvSpPr>
          <p:cNvPr id="63" name="TextBox 62"/>
          <p:cNvSpPr txBox="1"/>
          <p:nvPr/>
        </p:nvSpPr>
        <p:spPr>
          <a:xfrm>
            <a:off x="5504688" y="4462271"/>
            <a:ext cx="2011680" cy="237744"/>
          </a:xfrm>
          <a:prstGeom prst="rect">
            <a:avLst/>
          </a:prstGeom>
          <a:noFill/>
        </p:spPr>
        <p:txBody>
          <a:bodyPr wrap="square" lIns="0" rIns="0" tIns="0" bIns="0" anchor="t">
            <a:spAutoFit/>
          </a:bodyPr>
          <a:lstStyle/>
          <a:p>
            <a:pPr algn="l">
              <a:lnSpc>
                <a:spcPct val="115000"/>
              </a:lnSpc>
            </a:pPr>
            <a:r>
              <a:rPr sz="1050" b="0" i="0">
                <a:solidFill>
                  <a:srgbClr val="0F172E"/>
                </a:solidFill>
                <a:latin typeface="Calibri"/>
              </a:rPr>
              <a:t>1 concurrent</a:t>
            </a:r>
          </a:p>
        </p:txBody>
      </p:sp>
      <p:sp>
        <p:nvSpPr>
          <p:cNvPr id="64" name="TextBox 63"/>
          <p:cNvSpPr txBox="1"/>
          <p:nvPr/>
        </p:nvSpPr>
        <p:spPr>
          <a:xfrm>
            <a:off x="7699248" y="4462271"/>
            <a:ext cx="1463040" cy="237744"/>
          </a:xfrm>
          <a:prstGeom prst="rect">
            <a:avLst/>
          </a:prstGeom>
          <a:noFill/>
        </p:spPr>
        <p:txBody>
          <a:bodyPr wrap="square" lIns="0" rIns="0" tIns="0" bIns="0" anchor="t">
            <a:spAutoFit/>
          </a:bodyPr>
          <a:lstStyle/>
          <a:p>
            <a:pPr algn="l">
              <a:lnSpc>
                <a:spcPct val="115000"/>
              </a:lnSpc>
            </a:pPr>
            <a:r>
              <a:rPr sz="1050" b="0" i="0">
                <a:solidFill>
                  <a:srgbClr val="0F172E"/>
                </a:solidFill>
                <a:latin typeface="Calibri"/>
              </a:rPr>
              <a:t>Unlimited</a:t>
            </a:r>
          </a:p>
        </p:txBody>
      </p:sp>
      <p:sp>
        <p:nvSpPr>
          <p:cNvPr id="65" name="Rectangle 64"/>
          <p:cNvSpPr/>
          <p:nvPr/>
        </p:nvSpPr>
        <p:spPr>
          <a:xfrm>
            <a:off x="548640" y="4690871"/>
            <a:ext cx="8686800" cy="274320"/>
          </a:xfrm>
          <a:prstGeom prst="rect">
            <a:avLst/>
          </a:prstGeom>
          <a:solidFill>
            <a:srgbClr val="ECF1FA"/>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58368" y="4736591"/>
            <a:ext cx="1554480" cy="237744"/>
          </a:xfrm>
          <a:prstGeom prst="rect">
            <a:avLst/>
          </a:prstGeom>
          <a:noFill/>
        </p:spPr>
        <p:txBody>
          <a:bodyPr wrap="square" lIns="0" rIns="0" tIns="0" bIns="0" anchor="t">
            <a:spAutoFit/>
          </a:bodyPr>
          <a:lstStyle/>
          <a:p>
            <a:pPr algn="l">
              <a:lnSpc>
                <a:spcPct val="115000"/>
              </a:lnSpc>
            </a:pPr>
            <a:r>
              <a:rPr sz="1050" b="1" i="0">
                <a:solidFill>
                  <a:srgbClr val="0F172E"/>
                </a:solidFill>
                <a:latin typeface="Calibri"/>
              </a:rPr>
              <a:t>Starter</a:t>
            </a:r>
          </a:p>
        </p:txBody>
      </p:sp>
      <p:sp>
        <p:nvSpPr>
          <p:cNvPr id="67" name="TextBox 66"/>
          <p:cNvSpPr txBox="1"/>
          <p:nvPr/>
        </p:nvSpPr>
        <p:spPr>
          <a:xfrm>
            <a:off x="2395728" y="4736591"/>
            <a:ext cx="1188720" cy="237744"/>
          </a:xfrm>
          <a:prstGeom prst="rect">
            <a:avLst/>
          </a:prstGeom>
          <a:noFill/>
        </p:spPr>
        <p:txBody>
          <a:bodyPr wrap="square" lIns="0" rIns="0" tIns="0" bIns="0" anchor="t">
            <a:spAutoFit/>
          </a:bodyPr>
          <a:lstStyle/>
          <a:p>
            <a:pPr algn="l">
              <a:lnSpc>
                <a:spcPct val="115000"/>
              </a:lnSpc>
            </a:pPr>
            <a:r>
              <a:rPr sz="1050" b="1" i="0">
                <a:solidFill>
                  <a:srgbClr val="7C3AED"/>
                </a:solidFill>
                <a:latin typeface="Calibri"/>
              </a:rPr>
              <a:t>$149</a:t>
            </a:r>
          </a:p>
        </p:txBody>
      </p:sp>
      <p:sp>
        <p:nvSpPr>
          <p:cNvPr id="68" name="TextBox 67"/>
          <p:cNvSpPr txBox="1"/>
          <p:nvPr/>
        </p:nvSpPr>
        <p:spPr>
          <a:xfrm>
            <a:off x="3767328" y="4736591"/>
            <a:ext cx="1554480" cy="237744"/>
          </a:xfrm>
          <a:prstGeom prst="rect">
            <a:avLst/>
          </a:prstGeom>
          <a:noFill/>
        </p:spPr>
        <p:txBody>
          <a:bodyPr wrap="square" lIns="0" rIns="0" tIns="0" bIns="0" anchor="t">
            <a:spAutoFit/>
          </a:bodyPr>
          <a:lstStyle/>
          <a:p>
            <a:pPr algn="l">
              <a:lnSpc>
                <a:spcPct val="115000"/>
              </a:lnSpc>
            </a:pPr>
            <a:r>
              <a:rPr sz="1050" b="0" i="0">
                <a:solidFill>
                  <a:srgbClr val="0F172E"/>
                </a:solidFill>
                <a:latin typeface="Calibri"/>
              </a:rPr>
              <a:t>$30</a:t>
            </a:r>
          </a:p>
        </p:txBody>
      </p:sp>
      <p:sp>
        <p:nvSpPr>
          <p:cNvPr id="69" name="TextBox 68"/>
          <p:cNvSpPr txBox="1"/>
          <p:nvPr/>
        </p:nvSpPr>
        <p:spPr>
          <a:xfrm>
            <a:off x="5504688" y="4736591"/>
            <a:ext cx="2011680" cy="237744"/>
          </a:xfrm>
          <a:prstGeom prst="rect">
            <a:avLst/>
          </a:prstGeom>
          <a:noFill/>
        </p:spPr>
        <p:txBody>
          <a:bodyPr wrap="square" lIns="0" rIns="0" tIns="0" bIns="0" anchor="t">
            <a:spAutoFit/>
          </a:bodyPr>
          <a:lstStyle/>
          <a:p>
            <a:pPr algn="l">
              <a:lnSpc>
                <a:spcPct val="115000"/>
              </a:lnSpc>
            </a:pPr>
            <a:r>
              <a:rPr sz="1050" b="0" i="0">
                <a:solidFill>
                  <a:srgbClr val="0F172E"/>
                </a:solidFill>
                <a:latin typeface="Calibri"/>
              </a:rPr>
              <a:t>3 concurrent</a:t>
            </a:r>
          </a:p>
        </p:txBody>
      </p:sp>
      <p:sp>
        <p:nvSpPr>
          <p:cNvPr id="70" name="TextBox 69"/>
          <p:cNvSpPr txBox="1"/>
          <p:nvPr/>
        </p:nvSpPr>
        <p:spPr>
          <a:xfrm>
            <a:off x="7699248" y="4736591"/>
            <a:ext cx="1463040" cy="237744"/>
          </a:xfrm>
          <a:prstGeom prst="rect">
            <a:avLst/>
          </a:prstGeom>
          <a:noFill/>
        </p:spPr>
        <p:txBody>
          <a:bodyPr wrap="square" lIns="0" rIns="0" tIns="0" bIns="0" anchor="t">
            <a:spAutoFit/>
          </a:bodyPr>
          <a:lstStyle/>
          <a:p>
            <a:pPr algn="l">
              <a:lnSpc>
                <a:spcPct val="115000"/>
              </a:lnSpc>
            </a:pPr>
            <a:r>
              <a:rPr sz="1050" b="0" i="0">
                <a:solidFill>
                  <a:srgbClr val="0F172E"/>
                </a:solidFill>
                <a:latin typeface="Calibri"/>
              </a:rPr>
              <a:t>Unlimited</a:t>
            </a:r>
          </a:p>
        </p:txBody>
      </p:sp>
      <p:sp>
        <p:nvSpPr>
          <p:cNvPr id="71" name="Rectangle 70"/>
          <p:cNvSpPr/>
          <p:nvPr/>
        </p:nvSpPr>
        <p:spPr>
          <a:xfrm>
            <a:off x="548640" y="4965191"/>
            <a:ext cx="8686800" cy="27432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58368" y="5010911"/>
            <a:ext cx="1554480" cy="237744"/>
          </a:xfrm>
          <a:prstGeom prst="rect">
            <a:avLst/>
          </a:prstGeom>
          <a:noFill/>
        </p:spPr>
        <p:txBody>
          <a:bodyPr wrap="square" lIns="0" rIns="0" tIns="0" bIns="0" anchor="t">
            <a:spAutoFit/>
          </a:bodyPr>
          <a:lstStyle/>
          <a:p>
            <a:pPr algn="l">
              <a:lnSpc>
                <a:spcPct val="115000"/>
              </a:lnSpc>
            </a:pPr>
            <a:r>
              <a:rPr sz="1050" b="1" i="0">
                <a:solidFill>
                  <a:srgbClr val="0F172E"/>
                </a:solidFill>
                <a:latin typeface="Calibri"/>
              </a:rPr>
              <a:t>Growth</a:t>
            </a:r>
          </a:p>
        </p:txBody>
      </p:sp>
      <p:sp>
        <p:nvSpPr>
          <p:cNvPr id="73" name="TextBox 72"/>
          <p:cNvSpPr txBox="1"/>
          <p:nvPr/>
        </p:nvSpPr>
        <p:spPr>
          <a:xfrm>
            <a:off x="2395728" y="5010911"/>
            <a:ext cx="1188720" cy="237744"/>
          </a:xfrm>
          <a:prstGeom prst="rect">
            <a:avLst/>
          </a:prstGeom>
          <a:noFill/>
        </p:spPr>
        <p:txBody>
          <a:bodyPr wrap="square" lIns="0" rIns="0" tIns="0" bIns="0" anchor="t">
            <a:spAutoFit/>
          </a:bodyPr>
          <a:lstStyle/>
          <a:p>
            <a:pPr algn="l">
              <a:lnSpc>
                <a:spcPct val="115000"/>
              </a:lnSpc>
            </a:pPr>
            <a:r>
              <a:rPr sz="1050" b="1" i="0">
                <a:solidFill>
                  <a:srgbClr val="7C3AED"/>
                </a:solidFill>
                <a:latin typeface="Calibri"/>
              </a:rPr>
              <a:t>$499</a:t>
            </a:r>
          </a:p>
        </p:txBody>
      </p:sp>
      <p:sp>
        <p:nvSpPr>
          <p:cNvPr id="74" name="TextBox 73"/>
          <p:cNvSpPr txBox="1"/>
          <p:nvPr/>
        </p:nvSpPr>
        <p:spPr>
          <a:xfrm>
            <a:off x="3767328" y="5010911"/>
            <a:ext cx="1554480" cy="237744"/>
          </a:xfrm>
          <a:prstGeom prst="rect">
            <a:avLst/>
          </a:prstGeom>
          <a:noFill/>
        </p:spPr>
        <p:txBody>
          <a:bodyPr wrap="square" lIns="0" rIns="0" tIns="0" bIns="0" anchor="t">
            <a:spAutoFit/>
          </a:bodyPr>
          <a:lstStyle/>
          <a:p>
            <a:pPr algn="l">
              <a:lnSpc>
                <a:spcPct val="115000"/>
              </a:lnSpc>
            </a:pPr>
            <a:r>
              <a:rPr sz="1050" b="0" i="0">
                <a:solidFill>
                  <a:srgbClr val="0F172E"/>
                </a:solidFill>
                <a:latin typeface="Calibri"/>
              </a:rPr>
              <a:t>$200</a:t>
            </a:r>
          </a:p>
        </p:txBody>
      </p:sp>
      <p:sp>
        <p:nvSpPr>
          <p:cNvPr id="75" name="TextBox 74"/>
          <p:cNvSpPr txBox="1"/>
          <p:nvPr/>
        </p:nvSpPr>
        <p:spPr>
          <a:xfrm>
            <a:off x="5504688" y="5010911"/>
            <a:ext cx="2011680" cy="237744"/>
          </a:xfrm>
          <a:prstGeom prst="rect">
            <a:avLst/>
          </a:prstGeom>
          <a:noFill/>
        </p:spPr>
        <p:txBody>
          <a:bodyPr wrap="square" lIns="0" rIns="0" tIns="0" bIns="0" anchor="t">
            <a:spAutoFit/>
          </a:bodyPr>
          <a:lstStyle/>
          <a:p>
            <a:pPr algn="l">
              <a:lnSpc>
                <a:spcPct val="115000"/>
              </a:lnSpc>
            </a:pPr>
            <a:r>
              <a:rPr sz="1050" b="0" i="0">
                <a:solidFill>
                  <a:srgbClr val="0F172E"/>
                </a:solidFill>
                <a:latin typeface="Calibri"/>
              </a:rPr>
              <a:t>15 concurrent</a:t>
            </a:r>
          </a:p>
        </p:txBody>
      </p:sp>
      <p:sp>
        <p:nvSpPr>
          <p:cNvPr id="76" name="TextBox 75"/>
          <p:cNvSpPr txBox="1"/>
          <p:nvPr/>
        </p:nvSpPr>
        <p:spPr>
          <a:xfrm>
            <a:off x="7699248" y="5010911"/>
            <a:ext cx="1463040" cy="237744"/>
          </a:xfrm>
          <a:prstGeom prst="rect">
            <a:avLst/>
          </a:prstGeom>
          <a:noFill/>
        </p:spPr>
        <p:txBody>
          <a:bodyPr wrap="square" lIns="0" rIns="0" tIns="0" bIns="0" anchor="t">
            <a:spAutoFit/>
          </a:bodyPr>
          <a:lstStyle/>
          <a:p>
            <a:pPr algn="l">
              <a:lnSpc>
                <a:spcPct val="115000"/>
              </a:lnSpc>
            </a:pPr>
            <a:r>
              <a:rPr sz="1050" b="0" i="0">
                <a:solidFill>
                  <a:srgbClr val="0F172E"/>
                </a:solidFill>
                <a:latin typeface="Calibri"/>
              </a:rPr>
              <a:t>Unlimited</a:t>
            </a:r>
          </a:p>
        </p:txBody>
      </p:sp>
      <p:sp>
        <p:nvSpPr>
          <p:cNvPr id="77" name="Rectangle 76"/>
          <p:cNvSpPr/>
          <p:nvPr/>
        </p:nvSpPr>
        <p:spPr>
          <a:xfrm>
            <a:off x="548640" y="5239511"/>
            <a:ext cx="8686800" cy="274320"/>
          </a:xfrm>
          <a:prstGeom prst="rect">
            <a:avLst/>
          </a:prstGeom>
          <a:solidFill>
            <a:srgbClr val="ECF1FA"/>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58368" y="5285231"/>
            <a:ext cx="1554480" cy="237744"/>
          </a:xfrm>
          <a:prstGeom prst="rect">
            <a:avLst/>
          </a:prstGeom>
          <a:noFill/>
        </p:spPr>
        <p:txBody>
          <a:bodyPr wrap="square" lIns="0" rIns="0" tIns="0" bIns="0" anchor="t">
            <a:spAutoFit/>
          </a:bodyPr>
          <a:lstStyle/>
          <a:p>
            <a:pPr algn="l">
              <a:lnSpc>
                <a:spcPct val="115000"/>
              </a:lnSpc>
            </a:pPr>
            <a:r>
              <a:rPr sz="1050" b="1" i="0">
                <a:solidFill>
                  <a:srgbClr val="0F172E"/>
                </a:solidFill>
                <a:latin typeface="Calibri"/>
              </a:rPr>
              <a:t>Scale</a:t>
            </a:r>
          </a:p>
        </p:txBody>
      </p:sp>
      <p:sp>
        <p:nvSpPr>
          <p:cNvPr id="79" name="TextBox 78"/>
          <p:cNvSpPr txBox="1"/>
          <p:nvPr/>
        </p:nvSpPr>
        <p:spPr>
          <a:xfrm>
            <a:off x="2395728" y="5285231"/>
            <a:ext cx="1188720" cy="237744"/>
          </a:xfrm>
          <a:prstGeom prst="rect">
            <a:avLst/>
          </a:prstGeom>
          <a:noFill/>
        </p:spPr>
        <p:txBody>
          <a:bodyPr wrap="square" lIns="0" rIns="0" tIns="0" bIns="0" anchor="t">
            <a:spAutoFit/>
          </a:bodyPr>
          <a:lstStyle/>
          <a:p>
            <a:pPr algn="l">
              <a:lnSpc>
                <a:spcPct val="115000"/>
              </a:lnSpc>
            </a:pPr>
            <a:r>
              <a:rPr sz="1050" b="1" i="0">
                <a:solidFill>
                  <a:srgbClr val="7C3AED"/>
                </a:solidFill>
                <a:latin typeface="Calibri"/>
              </a:rPr>
              <a:t>$1,499</a:t>
            </a:r>
          </a:p>
        </p:txBody>
      </p:sp>
      <p:sp>
        <p:nvSpPr>
          <p:cNvPr id="80" name="TextBox 79"/>
          <p:cNvSpPr txBox="1"/>
          <p:nvPr/>
        </p:nvSpPr>
        <p:spPr>
          <a:xfrm>
            <a:off x="3767328" y="5285231"/>
            <a:ext cx="1554480" cy="237744"/>
          </a:xfrm>
          <a:prstGeom prst="rect">
            <a:avLst/>
          </a:prstGeom>
          <a:noFill/>
        </p:spPr>
        <p:txBody>
          <a:bodyPr wrap="square" lIns="0" rIns="0" tIns="0" bIns="0" anchor="t">
            <a:spAutoFit/>
          </a:bodyPr>
          <a:lstStyle/>
          <a:p>
            <a:pPr algn="l">
              <a:lnSpc>
                <a:spcPct val="115000"/>
              </a:lnSpc>
            </a:pPr>
            <a:r>
              <a:rPr sz="1050" b="0" i="0">
                <a:solidFill>
                  <a:srgbClr val="0F172E"/>
                </a:solidFill>
                <a:latin typeface="Calibri"/>
              </a:rPr>
              <a:t>$600</a:t>
            </a:r>
          </a:p>
        </p:txBody>
      </p:sp>
      <p:sp>
        <p:nvSpPr>
          <p:cNvPr id="81" name="TextBox 80"/>
          <p:cNvSpPr txBox="1"/>
          <p:nvPr/>
        </p:nvSpPr>
        <p:spPr>
          <a:xfrm>
            <a:off x="5504688" y="5285231"/>
            <a:ext cx="2011680" cy="237744"/>
          </a:xfrm>
          <a:prstGeom prst="rect">
            <a:avLst/>
          </a:prstGeom>
          <a:noFill/>
        </p:spPr>
        <p:txBody>
          <a:bodyPr wrap="square" lIns="0" rIns="0" tIns="0" bIns="0" anchor="t">
            <a:spAutoFit/>
          </a:bodyPr>
          <a:lstStyle/>
          <a:p>
            <a:pPr algn="l">
              <a:lnSpc>
                <a:spcPct val="115000"/>
              </a:lnSpc>
            </a:pPr>
            <a:r>
              <a:rPr sz="1050" b="0" i="0">
                <a:solidFill>
                  <a:srgbClr val="0F172E"/>
                </a:solidFill>
                <a:latin typeface="Calibri"/>
              </a:rPr>
              <a:t>Unlimited</a:t>
            </a:r>
          </a:p>
        </p:txBody>
      </p:sp>
      <p:sp>
        <p:nvSpPr>
          <p:cNvPr id="82" name="TextBox 81"/>
          <p:cNvSpPr txBox="1"/>
          <p:nvPr/>
        </p:nvSpPr>
        <p:spPr>
          <a:xfrm>
            <a:off x="7699248" y="5285231"/>
            <a:ext cx="1463040" cy="237744"/>
          </a:xfrm>
          <a:prstGeom prst="rect">
            <a:avLst/>
          </a:prstGeom>
          <a:noFill/>
        </p:spPr>
        <p:txBody>
          <a:bodyPr wrap="square" lIns="0" rIns="0" tIns="0" bIns="0" anchor="t">
            <a:spAutoFit/>
          </a:bodyPr>
          <a:lstStyle/>
          <a:p>
            <a:pPr algn="l">
              <a:lnSpc>
                <a:spcPct val="115000"/>
              </a:lnSpc>
            </a:pPr>
            <a:r>
              <a:rPr sz="1050" b="0" i="0">
                <a:solidFill>
                  <a:srgbClr val="0F172E"/>
                </a:solidFill>
                <a:latin typeface="Calibri"/>
              </a:rPr>
              <a:t>Unlimited</a:t>
            </a:r>
          </a:p>
        </p:txBody>
      </p:sp>
      <p:sp>
        <p:nvSpPr>
          <p:cNvPr id="83" name="Rectangle 82"/>
          <p:cNvSpPr/>
          <p:nvPr/>
        </p:nvSpPr>
        <p:spPr>
          <a:xfrm>
            <a:off x="548640" y="5513831"/>
            <a:ext cx="8686800" cy="27432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58368" y="5559551"/>
            <a:ext cx="1554480" cy="237744"/>
          </a:xfrm>
          <a:prstGeom prst="rect">
            <a:avLst/>
          </a:prstGeom>
          <a:noFill/>
        </p:spPr>
        <p:txBody>
          <a:bodyPr wrap="square" lIns="0" rIns="0" tIns="0" bIns="0" anchor="t">
            <a:spAutoFit/>
          </a:bodyPr>
          <a:lstStyle/>
          <a:p>
            <a:pPr algn="l">
              <a:lnSpc>
                <a:spcPct val="115000"/>
              </a:lnSpc>
            </a:pPr>
            <a:r>
              <a:rPr sz="1050" b="1" i="0">
                <a:solidFill>
                  <a:srgbClr val="0F172E"/>
                </a:solidFill>
                <a:latin typeface="Calibri"/>
              </a:rPr>
              <a:t>Enterprise</a:t>
            </a:r>
          </a:p>
        </p:txBody>
      </p:sp>
      <p:sp>
        <p:nvSpPr>
          <p:cNvPr id="85" name="TextBox 84"/>
          <p:cNvSpPr txBox="1"/>
          <p:nvPr/>
        </p:nvSpPr>
        <p:spPr>
          <a:xfrm>
            <a:off x="2395728" y="5559551"/>
            <a:ext cx="1188720" cy="237744"/>
          </a:xfrm>
          <a:prstGeom prst="rect">
            <a:avLst/>
          </a:prstGeom>
          <a:noFill/>
        </p:spPr>
        <p:txBody>
          <a:bodyPr wrap="square" lIns="0" rIns="0" tIns="0" bIns="0" anchor="t">
            <a:spAutoFit/>
          </a:bodyPr>
          <a:lstStyle/>
          <a:p>
            <a:pPr algn="l">
              <a:lnSpc>
                <a:spcPct val="115000"/>
              </a:lnSpc>
            </a:pPr>
            <a:r>
              <a:rPr sz="1050" b="1" i="0">
                <a:solidFill>
                  <a:srgbClr val="7C3AED"/>
                </a:solidFill>
                <a:latin typeface="Calibri"/>
              </a:rPr>
              <a:t>Custom*</a:t>
            </a:r>
          </a:p>
        </p:txBody>
      </p:sp>
      <p:sp>
        <p:nvSpPr>
          <p:cNvPr id="86" name="TextBox 85"/>
          <p:cNvSpPr txBox="1"/>
          <p:nvPr/>
        </p:nvSpPr>
        <p:spPr>
          <a:xfrm>
            <a:off x="3767328" y="5559551"/>
            <a:ext cx="1554480" cy="237744"/>
          </a:xfrm>
          <a:prstGeom prst="rect">
            <a:avLst/>
          </a:prstGeom>
          <a:noFill/>
        </p:spPr>
        <p:txBody>
          <a:bodyPr wrap="square" lIns="0" rIns="0" tIns="0" bIns="0" anchor="t">
            <a:spAutoFit/>
          </a:bodyPr>
          <a:lstStyle/>
          <a:p>
            <a:pPr algn="l">
              <a:lnSpc>
                <a:spcPct val="115000"/>
              </a:lnSpc>
            </a:pPr>
            <a:r>
              <a:rPr sz="1050" b="0" i="0">
                <a:solidFill>
                  <a:srgbClr val="0F172E"/>
                </a:solidFill>
                <a:latin typeface="Calibri"/>
              </a:rPr>
              <a:t>Commit</a:t>
            </a:r>
          </a:p>
        </p:txBody>
      </p:sp>
      <p:sp>
        <p:nvSpPr>
          <p:cNvPr id="87" name="TextBox 86"/>
          <p:cNvSpPr txBox="1"/>
          <p:nvPr/>
        </p:nvSpPr>
        <p:spPr>
          <a:xfrm>
            <a:off x="5504688" y="5559551"/>
            <a:ext cx="2011680" cy="237744"/>
          </a:xfrm>
          <a:prstGeom prst="rect">
            <a:avLst/>
          </a:prstGeom>
          <a:noFill/>
        </p:spPr>
        <p:txBody>
          <a:bodyPr wrap="square" lIns="0" rIns="0" tIns="0" bIns="0" anchor="t">
            <a:spAutoFit/>
          </a:bodyPr>
          <a:lstStyle/>
          <a:p>
            <a:pPr algn="l">
              <a:lnSpc>
                <a:spcPct val="115000"/>
              </a:lnSpc>
            </a:pPr>
            <a:r>
              <a:rPr sz="1050" b="0" i="0">
                <a:solidFill>
                  <a:srgbClr val="0F172E"/>
                </a:solidFill>
                <a:latin typeface="Calibri"/>
              </a:rPr>
              <a:t>Unlimited</a:t>
            </a:r>
          </a:p>
        </p:txBody>
      </p:sp>
      <p:sp>
        <p:nvSpPr>
          <p:cNvPr id="88" name="TextBox 87"/>
          <p:cNvSpPr txBox="1"/>
          <p:nvPr/>
        </p:nvSpPr>
        <p:spPr>
          <a:xfrm>
            <a:off x="7699248" y="5559551"/>
            <a:ext cx="1463040" cy="237744"/>
          </a:xfrm>
          <a:prstGeom prst="rect">
            <a:avLst/>
          </a:prstGeom>
          <a:noFill/>
        </p:spPr>
        <p:txBody>
          <a:bodyPr wrap="square" lIns="0" rIns="0" tIns="0" bIns="0" anchor="t">
            <a:spAutoFit/>
          </a:bodyPr>
          <a:lstStyle/>
          <a:p>
            <a:pPr algn="l">
              <a:lnSpc>
                <a:spcPct val="115000"/>
              </a:lnSpc>
            </a:pPr>
            <a:r>
              <a:rPr sz="1050" b="0" i="0">
                <a:solidFill>
                  <a:srgbClr val="0F172E"/>
                </a:solidFill>
                <a:latin typeface="Calibri"/>
              </a:rPr>
              <a:t>Unlimited</a:t>
            </a:r>
          </a:p>
        </p:txBody>
      </p:sp>
      <p:sp>
        <p:nvSpPr>
          <p:cNvPr id="89" name="TextBox 88"/>
          <p:cNvSpPr txBox="1"/>
          <p:nvPr/>
        </p:nvSpPr>
        <p:spPr>
          <a:xfrm>
            <a:off x="548640" y="5843015"/>
            <a:ext cx="11094415" cy="201168"/>
          </a:xfrm>
          <a:prstGeom prst="rect">
            <a:avLst/>
          </a:prstGeom>
          <a:noFill/>
        </p:spPr>
        <p:txBody>
          <a:bodyPr wrap="square" lIns="0" rIns="0" tIns="0" bIns="0" anchor="t">
            <a:spAutoFit/>
          </a:bodyPr>
          <a:lstStyle/>
          <a:p>
            <a:pPr algn="l">
              <a:lnSpc>
                <a:spcPct val="115000"/>
              </a:lnSpc>
            </a:pPr>
            <a:r>
              <a:rPr sz="900" b="0" i="1">
                <a:solidFill>
                  <a:srgbClr val="4A5573"/>
                </a:solidFill>
                <a:latin typeface="Calibri"/>
              </a:rPr>
              <a:t>*Enterprise: SSO/SCIM · DPA · ≥$12K/yr AI commit · custom integration.  $3K/mo floor.</a:t>
            </a:r>
          </a:p>
        </p:txBody>
      </p:sp>
      <p:cxnSp>
        <p:nvCxnSpPr>
          <p:cNvPr id="90" name="Connector 89"/>
          <p:cNvCxnSpPr/>
          <p:nvPr/>
        </p:nvCxnSpPr>
        <p:spPr>
          <a:xfrm>
            <a:off x="548640" y="6355080"/>
            <a:ext cx="11094415" cy="0"/>
          </a:xfrm>
          <a:prstGeom prst="line">
            <a:avLst/>
          </a:prstGeom>
          <a:ln w="9525">
            <a:solidFill>
              <a:srgbClr val="D8DFEE"/>
            </a:solidFill>
          </a:ln>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548640" y="6437376"/>
            <a:ext cx="3657600" cy="274320"/>
          </a:xfrm>
          <a:prstGeom prst="rect">
            <a:avLst/>
          </a:prstGeom>
          <a:noFill/>
        </p:spPr>
        <p:txBody>
          <a:bodyPr wrap="square" lIns="0" rIns="0" tIns="0" bIns="0" anchor="t">
            <a:spAutoFit/>
          </a:bodyPr>
          <a:lstStyle/>
          <a:p>
            <a:pPr algn="l">
              <a:lnSpc>
                <a:spcPct val="115000"/>
              </a:lnSpc>
            </a:pPr>
            <a:r>
              <a:rPr sz="900" b="1" i="0">
                <a:solidFill>
                  <a:srgbClr val="4A5573"/>
                </a:solidFill>
                <a:latin typeface="Calibri"/>
              </a:rPr>
              <a:t>SOURCERA  ·  BUSINESS MODEL</a:t>
            </a:r>
          </a:p>
        </p:txBody>
      </p:sp>
      <p:sp>
        <p:nvSpPr>
          <p:cNvPr id="92" name="TextBox 91"/>
          <p:cNvSpPr txBox="1"/>
          <p:nvPr/>
        </p:nvSpPr>
        <p:spPr>
          <a:xfrm>
            <a:off x="10362895" y="6437376"/>
            <a:ext cx="1280160" cy="274320"/>
          </a:xfrm>
          <a:prstGeom prst="rect">
            <a:avLst/>
          </a:prstGeom>
          <a:noFill/>
        </p:spPr>
        <p:txBody>
          <a:bodyPr wrap="square" lIns="0" rIns="0" tIns="0" bIns="0" anchor="t">
            <a:spAutoFit/>
          </a:bodyPr>
          <a:lstStyle/>
          <a:p>
            <a:pPr algn="r">
              <a:lnSpc>
                <a:spcPct val="115000"/>
              </a:lnSpc>
            </a:pPr>
            <a:r>
              <a:rPr sz="900" b="0" i="0">
                <a:solidFill>
                  <a:srgbClr val="4A5573"/>
                </a:solidFill>
                <a:latin typeface="Calibri"/>
              </a:rPr>
              <a:t>10 / 19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21792"/>
            <a:ext cx="365760" cy="73152"/>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548640"/>
            <a:ext cx="9144000" cy="274320"/>
          </a:xfrm>
          <a:prstGeom prst="rect">
            <a:avLst/>
          </a:prstGeom>
          <a:noFill/>
        </p:spPr>
        <p:txBody>
          <a:bodyPr wrap="square" lIns="0" rIns="0" tIns="0" bIns="0" anchor="t">
            <a:spAutoFit/>
          </a:bodyPr>
          <a:lstStyle/>
          <a:p>
            <a:pPr algn="l">
              <a:lnSpc>
                <a:spcPct val="115000"/>
              </a:lnSpc>
            </a:pPr>
            <a:r>
              <a:rPr sz="1000" b="1" i="0">
                <a:solidFill>
                  <a:srgbClr val="4A7BFF"/>
                </a:solidFill>
                <a:latin typeface="Calibri"/>
              </a:rPr>
              <a:t>REVENUE &amp; UNIT ECONOMICS</a:t>
            </a:r>
          </a:p>
        </p:txBody>
      </p:sp>
      <p:sp>
        <p:nvSpPr>
          <p:cNvPr id="5" name="TextBox 4"/>
          <p:cNvSpPr txBox="1"/>
          <p:nvPr/>
        </p:nvSpPr>
        <p:spPr>
          <a:xfrm>
            <a:off x="548640" y="822960"/>
            <a:ext cx="10972800" cy="822960"/>
          </a:xfrm>
          <a:prstGeom prst="rect">
            <a:avLst/>
          </a:prstGeom>
          <a:noFill/>
        </p:spPr>
        <p:txBody>
          <a:bodyPr wrap="square" lIns="0" rIns="0" tIns="0" bIns="0" anchor="t">
            <a:spAutoFit/>
          </a:bodyPr>
          <a:lstStyle/>
          <a:p>
            <a:pPr algn="l">
              <a:lnSpc>
                <a:spcPct val="105000"/>
              </a:lnSpc>
            </a:pPr>
            <a:r>
              <a:rPr sz="3600" b="1" i="0">
                <a:solidFill>
                  <a:srgbClr val="0F172E"/>
                </a:solidFill>
                <a:latin typeface="Calibri"/>
              </a:rPr>
              <a:t>ARR per account × 90%+ blended gross margin.</a:t>
            </a:r>
          </a:p>
        </p:txBody>
      </p:sp>
      <p:sp>
        <p:nvSpPr>
          <p:cNvPr id="6" name="TextBox 5"/>
          <p:cNvSpPr txBox="1"/>
          <p:nvPr/>
        </p:nvSpPr>
        <p:spPr>
          <a:xfrm>
            <a:off x="548640" y="1508760"/>
            <a:ext cx="10972800" cy="457200"/>
          </a:xfrm>
          <a:prstGeom prst="rect">
            <a:avLst/>
          </a:prstGeom>
          <a:noFill/>
        </p:spPr>
        <p:txBody>
          <a:bodyPr wrap="square" lIns="0" rIns="0" tIns="0" bIns="0" anchor="t">
            <a:spAutoFit/>
          </a:bodyPr>
          <a:lstStyle/>
          <a:p>
            <a:pPr algn="l">
              <a:lnSpc>
                <a:spcPct val="125000"/>
              </a:lnSpc>
            </a:pPr>
            <a:r>
              <a:rPr sz="1500" b="0" i="0">
                <a:solidFill>
                  <a:srgbClr val="4A5573"/>
                </a:solidFill>
                <a:latin typeface="Calibri"/>
              </a:rPr>
              <a:t>Outcome-accounted AI is the structural margin floor. Rejected AI outputs cost Sourcera near zero.</a:t>
            </a:r>
          </a:p>
        </p:txBody>
      </p:sp>
      <p:sp>
        <p:nvSpPr>
          <p:cNvPr id="7" name="TextBox 6"/>
          <p:cNvSpPr txBox="1"/>
          <p:nvPr/>
        </p:nvSpPr>
        <p:spPr>
          <a:xfrm>
            <a:off x="548640" y="1828800"/>
            <a:ext cx="5852160" cy="274320"/>
          </a:xfrm>
          <a:prstGeom prst="rect">
            <a:avLst/>
          </a:prstGeom>
          <a:noFill/>
        </p:spPr>
        <p:txBody>
          <a:bodyPr wrap="square" lIns="0" rIns="0" tIns="0" bIns="0" anchor="t">
            <a:spAutoFit/>
          </a:bodyPr>
          <a:lstStyle/>
          <a:p>
            <a:pPr algn="l">
              <a:lnSpc>
                <a:spcPct val="115000"/>
              </a:lnSpc>
            </a:pPr>
            <a:r>
              <a:rPr sz="1000" b="1" i="0">
                <a:solidFill>
                  <a:srgbClr val="2E55D9"/>
                </a:solidFill>
                <a:latin typeface="Calibri"/>
              </a:rPr>
              <a:t>BUYER ARR PER ACCOUNT (ANNUAL)</a:t>
            </a:r>
          </a:p>
        </p:txBody>
      </p:sp>
      <p:sp>
        <p:nvSpPr>
          <p:cNvPr id="8" name="Rectangle 7"/>
          <p:cNvSpPr/>
          <p:nvPr/>
        </p:nvSpPr>
        <p:spPr>
          <a:xfrm>
            <a:off x="548640" y="2139696"/>
            <a:ext cx="1280160" cy="292608"/>
          </a:xfrm>
          <a:prstGeom prst="rect">
            <a:avLst/>
          </a:prstGeom>
          <a:solidFill>
            <a:srgbClr val="0A14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2176272"/>
            <a:ext cx="1097280" cy="256032"/>
          </a:xfrm>
          <a:prstGeom prst="rect">
            <a:avLst/>
          </a:prstGeom>
          <a:noFill/>
        </p:spPr>
        <p:txBody>
          <a:bodyPr wrap="square" lIns="0" rIns="0" tIns="0" bIns="0" anchor="t">
            <a:spAutoFit/>
          </a:bodyPr>
          <a:lstStyle/>
          <a:p>
            <a:pPr algn="l">
              <a:lnSpc>
                <a:spcPct val="115000"/>
              </a:lnSpc>
            </a:pPr>
            <a:r>
              <a:rPr sz="900" b="1" i="0">
                <a:solidFill>
                  <a:srgbClr val="F4B400"/>
                </a:solidFill>
                <a:latin typeface="Calibri"/>
              </a:rPr>
              <a:t>Tier</a:t>
            </a:r>
          </a:p>
        </p:txBody>
      </p:sp>
      <p:sp>
        <p:nvSpPr>
          <p:cNvPr id="10" name="Rectangle 9"/>
          <p:cNvSpPr/>
          <p:nvPr/>
        </p:nvSpPr>
        <p:spPr>
          <a:xfrm>
            <a:off x="1828800" y="2139696"/>
            <a:ext cx="1371600" cy="292608"/>
          </a:xfrm>
          <a:prstGeom prst="rect">
            <a:avLst/>
          </a:prstGeom>
          <a:solidFill>
            <a:srgbClr val="0A14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38528" y="2176272"/>
            <a:ext cx="1188720" cy="256032"/>
          </a:xfrm>
          <a:prstGeom prst="rect">
            <a:avLst/>
          </a:prstGeom>
          <a:noFill/>
        </p:spPr>
        <p:txBody>
          <a:bodyPr wrap="square" lIns="0" rIns="0" tIns="0" bIns="0" anchor="t">
            <a:spAutoFit/>
          </a:bodyPr>
          <a:lstStyle/>
          <a:p>
            <a:pPr algn="l">
              <a:lnSpc>
                <a:spcPct val="115000"/>
              </a:lnSpc>
            </a:pPr>
            <a:r>
              <a:rPr sz="900" b="1" i="0">
                <a:solidFill>
                  <a:srgbClr val="F4B400"/>
                </a:solidFill>
                <a:latin typeface="Calibri"/>
              </a:rPr>
              <a:t>Plan</a:t>
            </a:r>
          </a:p>
        </p:txBody>
      </p:sp>
      <p:sp>
        <p:nvSpPr>
          <p:cNvPr id="12" name="Rectangle 11"/>
          <p:cNvSpPr/>
          <p:nvPr/>
        </p:nvSpPr>
        <p:spPr>
          <a:xfrm>
            <a:off x="3200400" y="2139696"/>
            <a:ext cx="1554480" cy="292608"/>
          </a:xfrm>
          <a:prstGeom prst="rect">
            <a:avLst/>
          </a:prstGeom>
          <a:solidFill>
            <a:srgbClr val="0A14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10128" y="2176272"/>
            <a:ext cx="1371600" cy="256032"/>
          </a:xfrm>
          <a:prstGeom prst="rect">
            <a:avLst/>
          </a:prstGeom>
          <a:noFill/>
        </p:spPr>
        <p:txBody>
          <a:bodyPr wrap="square" lIns="0" rIns="0" tIns="0" bIns="0" anchor="t">
            <a:spAutoFit/>
          </a:bodyPr>
          <a:lstStyle/>
          <a:p>
            <a:pPr algn="l">
              <a:lnSpc>
                <a:spcPct val="115000"/>
              </a:lnSpc>
            </a:pPr>
            <a:r>
              <a:rPr sz="900" b="1" i="0">
                <a:solidFill>
                  <a:srgbClr val="F4B400"/>
                </a:solidFill>
                <a:latin typeface="Calibri"/>
              </a:rPr>
              <a:t>AI (value)</a:t>
            </a:r>
          </a:p>
        </p:txBody>
      </p:sp>
      <p:sp>
        <p:nvSpPr>
          <p:cNvPr id="14" name="Rectangle 13"/>
          <p:cNvSpPr/>
          <p:nvPr/>
        </p:nvSpPr>
        <p:spPr>
          <a:xfrm>
            <a:off x="4754880" y="2139696"/>
            <a:ext cx="1645920" cy="292608"/>
          </a:xfrm>
          <a:prstGeom prst="rect">
            <a:avLst/>
          </a:prstGeom>
          <a:solidFill>
            <a:srgbClr val="0A14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64608" y="2176272"/>
            <a:ext cx="1463040" cy="256032"/>
          </a:xfrm>
          <a:prstGeom prst="rect">
            <a:avLst/>
          </a:prstGeom>
          <a:noFill/>
        </p:spPr>
        <p:txBody>
          <a:bodyPr wrap="square" lIns="0" rIns="0" tIns="0" bIns="0" anchor="t">
            <a:spAutoFit/>
          </a:bodyPr>
          <a:lstStyle/>
          <a:p>
            <a:pPr algn="l">
              <a:lnSpc>
                <a:spcPct val="115000"/>
              </a:lnSpc>
            </a:pPr>
            <a:r>
              <a:rPr sz="900" b="1" i="0">
                <a:solidFill>
                  <a:srgbClr val="F4B400"/>
                </a:solidFill>
                <a:latin typeface="Calibri"/>
              </a:rPr>
              <a:t>Total ARR</a:t>
            </a:r>
          </a:p>
        </p:txBody>
      </p:sp>
      <p:sp>
        <p:nvSpPr>
          <p:cNvPr id="16" name="Rectangle 15"/>
          <p:cNvSpPr/>
          <p:nvPr/>
        </p:nvSpPr>
        <p:spPr>
          <a:xfrm>
            <a:off x="548640" y="2432304"/>
            <a:ext cx="5852160" cy="310896"/>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2487168"/>
            <a:ext cx="1097280" cy="256032"/>
          </a:xfrm>
          <a:prstGeom prst="rect">
            <a:avLst/>
          </a:prstGeom>
          <a:noFill/>
        </p:spPr>
        <p:txBody>
          <a:bodyPr wrap="square" lIns="0" rIns="0" tIns="0" bIns="0" anchor="t">
            <a:spAutoFit/>
          </a:bodyPr>
          <a:lstStyle/>
          <a:p>
            <a:pPr algn="l">
              <a:lnSpc>
                <a:spcPct val="115000"/>
              </a:lnSpc>
            </a:pPr>
            <a:r>
              <a:rPr sz="1050" b="1" i="0">
                <a:solidFill>
                  <a:srgbClr val="0F172E"/>
                </a:solidFill>
                <a:latin typeface="Calibri"/>
              </a:rPr>
              <a:t>Starter</a:t>
            </a:r>
          </a:p>
        </p:txBody>
      </p:sp>
      <p:sp>
        <p:nvSpPr>
          <p:cNvPr id="18" name="TextBox 17"/>
          <p:cNvSpPr txBox="1"/>
          <p:nvPr/>
        </p:nvSpPr>
        <p:spPr>
          <a:xfrm>
            <a:off x="1938528" y="2487168"/>
            <a:ext cx="1188720" cy="256032"/>
          </a:xfrm>
          <a:prstGeom prst="rect">
            <a:avLst/>
          </a:prstGeom>
          <a:noFill/>
        </p:spPr>
        <p:txBody>
          <a:bodyPr wrap="square" lIns="0" rIns="0" tIns="0" bIns="0" anchor="t">
            <a:spAutoFit/>
          </a:bodyPr>
          <a:lstStyle/>
          <a:p>
            <a:pPr algn="l">
              <a:lnSpc>
                <a:spcPct val="115000"/>
              </a:lnSpc>
            </a:pPr>
            <a:r>
              <a:rPr sz="1050" b="0" i="0">
                <a:solidFill>
                  <a:srgbClr val="0F172E"/>
                </a:solidFill>
                <a:latin typeface="Calibri"/>
              </a:rPr>
              <a:t>$3,600</a:t>
            </a:r>
          </a:p>
        </p:txBody>
      </p:sp>
      <p:sp>
        <p:nvSpPr>
          <p:cNvPr id="19" name="TextBox 18"/>
          <p:cNvSpPr txBox="1"/>
          <p:nvPr/>
        </p:nvSpPr>
        <p:spPr>
          <a:xfrm>
            <a:off x="3310128" y="2487168"/>
            <a:ext cx="1371600" cy="256032"/>
          </a:xfrm>
          <a:prstGeom prst="rect">
            <a:avLst/>
          </a:prstGeom>
          <a:noFill/>
        </p:spPr>
        <p:txBody>
          <a:bodyPr wrap="square" lIns="0" rIns="0" tIns="0" bIns="0" anchor="t">
            <a:spAutoFit/>
          </a:bodyPr>
          <a:lstStyle/>
          <a:p>
            <a:pPr algn="l">
              <a:lnSpc>
                <a:spcPct val="115000"/>
              </a:lnSpc>
            </a:pPr>
            <a:r>
              <a:rPr sz="1050" b="0" i="0">
                <a:solidFill>
                  <a:srgbClr val="0F172E"/>
                </a:solidFill>
                <a:latin typeface="Calibri"/>
              </a:rPr>
              <a:t>$600</a:t>
            </a:r>
          </a:p>
        </p:txBody>
      </p:sp>
      <p:sp>
        <p:nvSpPr>
          <p:cNvPr id="20" name="TextBox 19"/>
          <p:cNvSpPr txBox="1"/>
          <p:nvPr/>
        </p:nvSpPr>
        <p:spPr>
          <a:xfrm>
            <a:off x="4864608" y="2487168"/>
            <a:ext cx="1463040" cy="256032"/>
          </a:xfrm>
          <a:prstGeom prst="rect">
            <a:avLst/>
          </a:prstGeom>
          <a:noFill/>
        </p:spPr>
        <p:txBody>
          <a:bodyPr wrap="square" lIns="0" rIns="0" tIns="0" bIns="0" anchor="t">
            <a:spAutoFit/>
          </a:bodyPr>
          <a:lstStyle/>
          <a:p>
            <a:pPr algn="l">
              <a:lnSpc>
                <a:spcPct val="115000"/>
              </a:lnSpc>
            </a:pPr>
            <a:r>
              <a:rPr sz="1050" b="1" i="0">
                <a:solidFill>
                  <a:srgbClr val="2E55D9"/>
                </a:solidFill>
                <a:latin typeface="Calibri"/>
              </a:rPr>
              <a:t>$4,200</a:t>
            </a:r>
          </a:p>
        </p:txBody>
      </p:sp>
      <p:sp>
        <p:nvSpPr>
          <p:cNvPr id="21" name="Rectangle 20"/>
          <p:cNvSpPr/>
          <p:nvPr/>
        </p:nvSpPr>
        <p:spPr>
          <a:xfrm>
            <a:off x="548640" y="2743200"/>
            <a:ext cx="5852160" cy="310896"/>
          </a:xfrm>
          <a:prstGeom prst="rect">
            <a:avLst/>
          </a:prstGeom>
          <a:solidFill>
            <a:srgbClr val="ECF1FA"/>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2798064"/>
            <a:ext cx="1097280" cy="256032"/>
          </a:xfrm>
          <a:prstGeom prst="rect">
            <a:avLst/>
          </a:prstGeom>
          <a:noFill/>
        </p:spPr>
        <p:txBody>
          <a:bodyPr wrap="square" lIns="0" rIns="0" tIns="0" bIns="0" anchor="t">
            <a:spAutoFit/>
          </a:bodyPr>
          <a:lstStyle/>
          <a:p>
            <a:pPr algn="l">
              <a:lnSpc>
                <a:spcPct val="115000"/>
              </a:lnSpc>
            </a:pPr>
            <a:r>
              <a:rPr sz="1050" b="1" i="0">
                <a:solidFill>
                  <a:srgbClr val="0F172E"/>
                </a:solidFill>
                <a:latin typeface="Calibri"/>
              </a:rPr>
              <a:t>Growth</a:t>
            </a:r>
          </a:p>
        </p:txBody>
      </p:sp>
      <p:sp>
        <p:nvSpPr>
          <p:cNvPr id="23" name="TextBox 22"/>
          <p:cNvSpPr txBox="1"/>
          <p:nvPr/>
        </p:nvSpPr>
        <p:spPr>
          <a:xfrm>
            <a:off x="1938528" y="2798064"/>
            <a:ext cx="1188720" cy="256032"/>
          </a:xfrm>
          <a:prstGeom prst="rect">
            <a:avLst/>
          </a:prstGeom>
          <a:noFill/>
        </p:spPr>
        <p:txBody>
          <a:bodyPr wrap="square" lIns="0" rIns="0" tIns="0" bIns="0" anchor="t">
            <a:spAutoFit/>
          </a:bodyPr>
          <a:lstStyle/>
          <a:p>
            <a:pPr algn="l">
              <a:lnSpc>
                <a:spcPct val="115000"/>
              </a:lnSpc>
            </a:pPr>
            <a:r>
              <a:rPr sz="1050" b="0" i="0">
                <a:solidFill>
                  <a:srgbClr val="0F172E"/>
                </a:solidFill>
                <a:latin typeface="Calibri"/>
              </a:rPr>
              <a:t>$9,600</a:t>
            </a:r>
          </a:p>
        </p:txBody>
      </p:sp>
      <p:sp>
        <p:nvSpPr>
          <p:cNvPr id="24" name="TextBox 23"/>
          <p:cNvSpPr txBox="1"/>
          <p:nvPr/>
        </p:nvSpPr>
        <p:spPr>
          <a:xfrm>
            <a:off x="3310128" y="2798064"/>
            <a:ext cx="1371600" cy="256032"/>
          </a:xfrm>
          <a:prstGeom prst="rect">
            <a:avLst/>
          </a:prstGeom>
          <a:noFill/>
        </p:spPr>
        <p:txBody>
          <a:bodyPr wrap="square" lIns="0" rIns="0" tIns="0" bIns="0" anchor="t">
            <a:spAutoFit/>
          </a:bodyPr>
          <a:lstStyle/>
          <a:p>
            <a:pPr algn="l">
              <a:lnSpc>
                <a:spcPct val="115000"/>
              </a:lnSpc>
            </a:pPr>
            <a:r>
              <a:rPr sz="1050" b="0" i="0">
                <a:solidFill>
                  <a:srgbClr val="0F172E"/>
                </a:solidFill>
                <a:latin typeface="Calibri"/>
              </a:rPr>
              <a:t>$3,600</a:t>
            </a:r>
          </a:p>
        </p:txBody>
      </p:sp>
      <p:sp>
        <p:nvSpPr>
          <p:cNvPr id="25" name="TextBox 24"/>
          <p:cNvSpPr txBox="1"/>
          <p:nvPr/>
        </p:nvSpPr>
        <p:spPr>
          <a:xfrm>
            <a:off x="4864608" y="2798064"/>
            <a:ext cx="1463040" cy="256032"/>
          </a:xfrm>
          <a:prstGeom prst="rect">
            <a:avLst/>
          </a:prstGeom>
          <a:noFill/>
        </p:spPr>
        <p:txBody>
          <a:bodyPr wrap="square" lIns="0" rIns="0" tIns="0" bIns="0" anchor="t">
            <a:spAutoFit/>
          </a:bodyPr>
          <a:lstStyle/>
          <a:p>
            <a:pPr algn="l">
              <a:lnSpc>
                <a:spcPct val="115000"/>
              </a:lnSpc>
            </a:pPr>
            <a:r>
              <a:rPr sz="1050" b="1" i="0">
                <a:solidFill>
                  <a:srgbClr val="2E55D9"/>
                </a:solidFill>
                <a:latin typeface="Calibri"/>
              </a:rPr>
              <a:t>$13,200</a:t>
            </a:r>
          </a:p>
        </p:txBody>
      </p:sp>
      <p:sp>
        <p:nvSpPr>
          <p:cNvPr id="26" name="Rectangle 25"/>
          <p:cNvSpPr/>
          <p:nvPr/>
        </p:nvSpPr>
        <p:spPr>
          <a:xfrm>
            <a:off x="548640" y="3054096"/>
            <a:ext cx="5852160" cy="310896"/>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 y="3108960"/>
            <a:ext cx="1097280" cy="256032"/>
          </a:xfrm>
          <a:prstGeom prst="rect">
            <a:avLst/>
          </a:prstGeom>
          <a:noFill/>
        </p:spPr>
        <p:txBody>
          <a:bodyPr wrap="square" lIns="0" rIns="0" tIns="0" bIns="0" anchor="t">
            <a:spAutoFit/>
          </a:bodyPr>
          <a:lstStyle/>
          <a:p>
            <a:pPr algn="l">
              <a:lnSpc>
                <a:spcPct val="115000"/>
              </a:lnSpc>
            </a:pPr>
            <a:r>
              <a:rPr sz="1050" b="1" i="0">
                <a:solidFill>
                  <a:srgbClr val="0F172E"/>
                </a:solidFill>
                <a:latin typeface="Calibri"/>
              </a:rPr>
              <a:t>Scale</a:t>
            </a:r>
          </a:p>
        </p:txBody>
      </p:sp>
      <p:sp>
        <p:nvSpPr>
          <p:cNvPr id="28" name="TextBox 27"/>
          <p:cNvSpPr txBox="1"/>
          <p:nvPr/>
        </p:nvSpPr>
        <p:spPr>
          <a:xfrm>
            <a:off x="1938528" y="3108960"/>
            <a:ext cx="1188720" cy="256032"/>
          </a:xfrm>
          <a:prstGeom prst="rect">
            <a:avLst/>
          </a:prstGeom>
          <a:noFill/>
        </p:spPr>
        <p:txBody>
          <a:bodyPr wrap="square" lIns="0" rIns="0" tIns="0" bIns="0" anchor="t">
            <a:spAutoFit/>
          </a:bodyPr>
          <a:lstStyle/>
          <a:p>
            <a:pPr algn="l">
              <a:lnSpc>
                <a:spcPct val="115000"/>
              </a:lnSpc>
            </a:pPr>
            <a:r>
              <a:rPr sz="1050" b="0" i="0">
                <a:solidFill>
                  <a:srgbClr val="0F172E"/>
                </a:solidFill>
                <a:latin typeface="Calibri"/>
              </a:rPr>
              <a:t>$24,000</a:t>
            </a:r>
          </a:p>
        </p:txBody>
      </p:sp>
      <p:sp>
        <p:nvSpPr>
          <p:cNvPr id="29" name="TextBox 28"/>
          <p:cNvSpPr txBox="1"/>
          <p:nvPr/>
        </p:nvSpPr>
        <p:spPr>
          <a:xfrm>
            <a:off x="3310128" y="3108960"/>
            <a:ext cx="1371600" cy="256032"/>
          </a:xfrm>
          <a:prstGeom prst="rect">
            <a:avLst/>
          </a:prstGeom>
          <a:noFill/>
        </p:spPr>
        <p:txBody>
          <a:bodyPr wrap="square" lIns="0" rIns="0" tIns="0" bIns="0" anchor="t">
            <a:spAutoFit/>
          </a:bodyPr>
          <a:lstStyle/>
          <a:p>
            <a:pPr algn="l">
              <a:lnSpc>
                <a:spcPct val="115000"/>
              </a:lnSpc>
            </a:pPr>
            <a:r>
              <a:rPr sz="1050" b="0" i="0">
                <a:solidFill>
                  <a:srgbClr val="0F172E"/>
                </a:solidFill>
                <a:latin typeface="Calibri"/>
              </a:rPr>
              <a:t>$9,600</a:t>
            </a:r>
          </a:p>
        </p:txBody>
      </p:sp>
      <p:sp>
        <p:nvSpPr>
          <p:cNvPr id="30" name="TextBox 29"/>
          <p:cNvSpPr txBox="1"/>
          <p:nvPr/>
        </p:nvSpPr>
        <p:spPr>
          <a:xfrm>
            <a:off x="4864608" y="3108960"/>
            <a:ext cx="1463040" cy="256032"/>
          </a:xfrm>
          <a:prstGeom prst="rect">
            <a:avLst/>
          </a:prstGeom>
          <a:noFill/>
        </p:spPr>
        <p:txBody>
          <a:bodyPr wrap="square" lIns="0" rIns="0" tIns="0" bIns="0" anchor="t">
            <a:spAutoFit/>
          </a:bodyPr>
          <a:lstStyle/>
          <a:p>
            <a:pPr algn="l">
              <a:lnSpc>
                <a:spcPct val="115000"/>
              </a:lnSpc>
            </a:pPr>
            <a:r>
              <a:rPr sz="1050" b="1" i="0">
                <a:solidFill>
                  <a:srgbClr val="2E55D9"/>
                </a:solidFill>
                <a:latin typeface="Calibri"/>
              </a:rPr>
              <a:t>$33,600</a:t>
            </a:r>
          </a:p>
        </p:txBody>
      </p:sp>
      <p:sp>
        <p:nvSpPr>
          <p:cNvPr id="31" name="Rectangle 30"/>
          <p:cNvSpPr/>
          <p:nvPr/>
        </p:nvSpPr>
        <p:spPr>
          <a:xfrm>
            <a:off x="548640" y="3364992"/>
            <a:ext cx="5852160" cy="310896"/>
          </a:xfrm>
          <a:prstGeom prst="rect">
            <a:avLst/>
          </a:prstGeom>
          <a:solidFill>
            <a:srgbClr val="ECF1FA"/>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 y="3419856"/>
            <a:ext cx="1097280" cy="256032"/>
          </a:xfrm>
          <a:prstGeom prst="rect">
            <a:avLst/>
          </a:prstGeom>
          <a:noFill/>
        </p:spPr>
        <p:txBody>
          <a:bodyPr wrap="square" lIns="0" rIns="0" tIns="0" bIns="0" anchor="t">
            <a:spAutoFit/>
          </a:bodyPr>
          <a:lstStyle/>
          <a:p>
            <a:pPr algn="l">
              <a:lnSpc>
                <a:spcPct val="115000"/>
              </a:lnSpc>
            </a:pPr>
            <a:r>
              <a:rPr sz="1050" b="1" i="0">
                <a:solidFill>
                  <a:srgbClr val="0F172E"/>
                </a:solidFill>
                <a:latin typeface="Calibri"/>
              </a:rPr>
              <a:t>Enterprise</a:t>
            </a:r>
          </a:p>
        </p:txBody>
      </p:sp>
      <p:sp>
        <p:nvSpPr>
          <p:cNvPr id="33" name="TextBox 32"/>
          <p:cNvSpPr txBox="1"/>
          <p:nvPr/>
        </p:nvSpPr>
        <p:spPr>
          <a:xfrm>
            <a:off x="1938528" y="3419856"/>
            <a:ext cx="1188720" cy="256032"/>
          </a:xfrm>
          <a:prstGeom prst="rect">
            <a:avLst/>
          </a:prstGeom>
          <a:noFill/>
        </p:spPr>
        <p:txBody>
          <a:bodyPr wrap="square" lIns="0" rIns="0" tIns="0" bIns="0" anchor="t">
            <a:spAutoFit/>
          </a:bodyPr>
          <a:lstStyle/>
          <a:p>
            <a:pPr algn="l">
              <a:lnSpc>
                <a:spcPct val="115000"/>
              </a:lnSpc>
            </a:pPr>
            <a:r>
              <a:rPr sz="1050" b="0" i="0">
                <a:solidFill>
                  <a:srgbClr val="0F172E"/>
                </a:solidFill>
                <a:latin typeface="Calibri"/>
              </a:rPr>
              <a:t>$36,000+</a:t>
            </a:r>
          </a:p>
        </p:txBody>
      </p:sp>
      <p:sp>
        <p:nvSpPr>
          <p:cNvPr id="34" name="TextBox 33"/>
          <p:cNvSpPr txBox="1"/>
          <p:nvPr/>
        </p:nvSpPr>
        <p:spPr>
          <a:xfrm>
            <a:off x="3310128" y="3419856"/>
            <a:ext cx="1371600" cy="256032"/>
          </a:xfrm>
          <a:prstGeom prst="rect">
            <a:avLst/>
          </a:prstGeom>
          <a:noFill/>
        </p:spPr>
        <p:txBody>
          <a:bodyPr wrap="square" lIns="0" rIns="0" tIns="0" bIns="0" anchor="t">
            <a:spAutoFit/>
          </a:bodyPr>
          <a:lstStyle/>
          <a:p>
            <a:pPr algn="l">
              <a:lnSpc>
                <a:spcPct val="115000"/>
              </a:lnSpc>
            </a:pPr>
            <a:r>
              <a:rPr sz="1050" b="0" i="0">
                <a:solidFill>
                  <a:srgbClr val="0F172E"/>
                </a:solidFill>
                <a:latin typeface="Calibri"/>
              </a:rPr>
              <a:t>Commit</a:t>
            </a:r>
          </a:p>
        </p:txBody>
      </p:sp>
      <p:sp>
        <p:nvSpPr>
          <p:cNvPr id="35" name="TextBox 34"/>
          <p:cNvSpPr txBox="1"/>
          <p:nvPr/>
        </p:nvSpPr>
        <p:spPr>
          <a:xfrm>
            <a:off x="4864608" y="3419856"/>
            <a:ext cx="1463040" cy="256032"/>
          </a:xfrm>
          <a:prstGeom prst="rect">
            <a:avLst/>
          </a:prstGeom>
          <a:noFill/>
        </p:spPr>
        <p:txBody>
          <a:bodyPr wrap="square" lIns="0" rIns="0" tIns="0" bIns="0" anchor="t">
            <a:spAutoFit/>
          </a:bodyPr>
          <a:lstStyle/>
          <a:p>
            <a:pPr algn="l">
              <a:lnSpc>
                <a:spcPct val="115000"/>
              </a:lnSpc>
            </a:pPr>
            <a:r>
              <a:rPr sz="1050" b="1" i="0">
                <a:solidFill>
                  <a:srgbClr val="2E55D9"/>
                </a:solidFill>
                <a:latin typeface="Calibri"/>
              </a:rPr>
              <a:t>$48K–$250K+</a:t>
            </a:r>
          </a:p>
        </p:txBody>
      </p:sp>
      <p:sp>
        <p:nvSpPr>
          <p:cNvPr id="36" name="TextBox 35"/>
          <p:cNvSpPr txBox="1"/>
          <p:nvPr/>
        </p:nvSpPr>
        <p:spPr>
          <a:xfrm>
            <a:off x="548640" y="4041648"/>
            <a:ext cx="5852160" cy="274320"/>
          </a:xfrm>
          <a:prstGeom prst="rect">
            <a:avLst/>
          </a:prstGeom>
          <a:noFill/>
        </p:spPr>
        <p:txBody>
          <a:bodyPr wrap="square" lIns="0" rIns="0" tIns="0" bIns="0" anchor="t">
            <a:spAutoFit/>
          </a:bodyPr>
          <a:lstStyle/>
          <a:p>
            <a:pPr algn="l">
              <a:lnSpc>
                <a:spcPct val="115000"/>
              </a:lnSpc>
            </a:pPr>
            <a:r>
              <a:rPr sz="1000" b="1" i="0">
                <a:solidFill>
                  <a:srgbClr val="7C3AED"/>
                </a:solidFill>
                <a:latin typeface="Calibri"/>
              </a:rPr>
              <a:t>SELLER ARR PER ACCOUNT (ANNUAL)</a:t>
            </a:r>
          </a:p>
        </p:txBody>
      </p:sp>
      <p:sp>
        <p:nvSpPr>
          <p:cNvPr id="37" name="Rectangle 36"/>
          <p:cNvSpPr/>
          <p:nvPr/>
        </p:nvSpPr>
        <p:spPr>
          <a:xfrm>
            <a:off x="548640" y="4352544"/>
            <a:ext cx="1280160" cy="292608"/>
          </a:xfrm>
          <a:prstGeom prst="rect">
            <a:avLst/>
          </a:prstGeom>
          <a:solidFill>
            <a:srgbClr val="0A14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8368" y="4389120"/>
            <a:ext cx="1097280" cy="256032"/>
          </a:xfrm>
          <a:prstGeom prst="rect">
            <a:avLst/>
          </a:prstGeom>
          <a:noFill/>
        </p:spPr>
        <p:txBody>
          <a:bodyPr wrap="square" lIns="0" rIns="0" tIns="0" bIns="0" anchor="t">
            <a:spAutoFit/>
          </a:bodyPr>
          <a:lstStyle/>
          <a:p>
            <a:pPr algn="l">
              <a:lnSpc>
                <a:spcPct val="115000"/>
              </a:lnSpc>
            </a:pPr>
            <a:r>
              <a:rPr sz="900" b="1" i="0">
                <a:solidFill>
                  <a:srgbClr val="F4B400"/>
                </a:solidFill>
                <a:latin typeface="Calibri"/>
              </a:rPr>
              <a:t>Tier</a:t>
            </a:r>
          </a:p>
        </p:txBody>
      </p:sp>
      <p:sp>
        <p:nvSpPr>
          <p:cNvPr id="39" name="Rectangle 38"/>
          <p:cNvSpPr/>
          <p:nvPr/>
        </p:nvSpPr>
        <p:spPr>
          <a:xfrm>
            <a:off x="1828800" y="4352544"/>
            <a:ext cx="1371600" cy="292608"/>
          </a:xfrm>
          <a:prstGeom prst="rect">
            <a:avLst/>
          </a:prstGeom>
          <a:solidFill>
            <a:srgbClr val="0A14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938528" y="4389120"/>
            <a:ext cx="1188720" cy="256032"/>
          </a:xfrm>
          <a:prstGeom prst="rect">
            <a:avLst/>
          </a:prstGeom>
          <a:noFill/>
        </p:spPr>
        <p:txBody>
          <a:bodyPr wrap="square" lIns="0" rIns="0" tIns="0" bIns="0" anchor="t">
            <a:spAutoFit/>
          </a:bodyPr>
          <a:lstStyle/>
          <a:p>
            <a:pPr algn="l">
              <a:lnSpc>
                <a:spcPct val="115000"/>
              </a:lnSpc>
            </a:pPr>
            <a:r>
              <a:rPr sz="900" b="1" i="0">
                <a:solidFill>
                  <a:srgbClr val="F4B400"/>
                </a:solidFill>
                <a:latin typeface="Calibri"/>
              </a:rPr>
              <a:t>Plan</a:t>
            </a:r>
          </a:p>
        </p:txBody>
      </p:sp>
      <p:sp>
        <p:nvSpPr>
          <p:cNvPr id="41" name="Rectangle 40"/>
          <p:cNvSpPr/>
          <p:nvPr/>
        </p:nvSpPr>
        <p:spPr>
          <a:xfrm>
            <a:off x="3200400" y="4352544"/>
            <a:ext cx="1554480" cy="292608"/>
          </a:xfrm>
          <a:prstGeom prst="rect">
            <a:avLst/>
          </a:prstGeom>
          <a:solidFill>
            <a:srgbClr val="0A14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310128" y="4389120"/>
            <a:ext cx="1371600" cy="256032"/>
          </a:xfrm>
          <a:prstGeom prst="rect">
            <a:avLst/>
          </a:prstGeom>
          <a:noFill/>
        </p:spPr>
        <p:txBody>
          <a:bodyPr wrap="square" lIns="0" rIns="0" tIns="0" bIns="0" anchor="t">
            <a:spAutoFit/>
          </a:bodyPr>
          <a:lstStyle/>
          <a:p>
            <a:pPr algn="l">
              <a:lnSpc>
                <a:spcPct val="115000"/>
              </a:lnSpc>
            </a:pPr>
            <a:r>
              <a:rPr sz="900" b="1" i="0">
                <a:solidFill>
                  <a:srgbClr val="F4B400"/>
                </a:solidFill>
                <a:latin typeface="Calibri"/>
              </a:rPr>
              <a:t>AI (value)</a:t>
            </a:r>
          </a:p>
        </p:txBody>
      </p:sp>
      <p:sp>
        <p:nvSpPr>
          <p:cNvPr id="43" name="Rectangle 42"/>
          <p:cNvSpPr/>
          <p:nvPr/>
        </p:nvSpPr>
        <p:spPr>
          <a:xfrm>
            <a:off x="4754880" y="4352544"/>
            <a:ext cx="1645920" cy="292608"/>
          </a:xfrm>
          <a:prstGeom prst="rect">
            <a:avLst/>
          </a:prstGeom>
          <a:solidFill>
            <a:srgbClr val="0A14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864608" y="4389120"/>
            <a:ext cx="1463040" cy="256032"/>
          </a:xfrm>
          <a:prstGeom prst="rect">
            <a:avLst/>
          </a:prstGeom>
          <a:noFill/>
        </p:spPr>
        <p:txBody>
          <a:bodyPr wrap="square" lIns="0" rIns="0" tIns="0" bIns="0" anchor="t">
            <a:spAutoFit/>
          </a:bodyPr>
          <a:lstStyle/>
          <a:p>
            <a:pPr algn="l">
              <a:lnSpc>
                <a:spcPct val="115000"/>
              </a:lnSpc>
            </a:pPr>
            <a:r>
              <a:rPr sz="900" b="1" i="0">
                <a:solidFill>
                  <a:srgbClr val="F4B400"/>
                </a:solidFill>
                <a:latin typeface="Calibri"/>
              </a:rPr>
              <a:t>Total ARR</a:t>
            </a:r>
          </a:p>
        </p:txBody>
      </p:sp>
      <p:sp>
        <p:nvSpPr>
          <p:cNvPr id="45" name="Rectangle 44"/>
          <p:cNvSpPr/>
          <p:nvPr/>
        </p:nvSpPr>
        <p:spPr>
          <a:xfrm>
            <a:off x="548640" y="4645152"/>
            <a:ext cx="5852160" cy="310896"/>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58368" y="4700016"/>
            <a:ext cx="1097280" cy="256032"/>
          </a:xfrm>
          <a:prstGeom prst="rect">
            <a:avLst/>
          </a:prstGeom>
          <a:noFill/>
        </p:spPr>
        <p:txBody>
          <a:bodyPr wrap="square" lIns="0" rIns="0" tIns="0" bIns="0" anchor="t">
            <a:spAutoFit/>
          </a:bodyPr>
          <a:lstStyle/>
          <a:p>
            <a:pPr algn="l">
              <a:lnSpc>
                <a:spcPct val="115000"/>
              </a:lnSpc>
            </a:pPr>
            <a:r>
              <a:rPr sz="1050" b="1" i="0">
                <a:solidFill>
                  <a:srgbClr val="0F172E"/>
                </a:solidFill>
                <a:latin typeface="Calibri"/>
              </a:rPr>
              <a:t>Starter</a:t>
            </a:r>
          </a:p>
        </p:txBody>
      </p:sp>
      <p:sp>
        <p:nvSpPr>
          <p:cNvPr id="47" name="TextBox 46"/>
          <p:cNvSpPr txBox="1"/>
          <p:nvPr/>
        </p:nvSpPr>
        <p:spPr>
          <a:xfrm>
            <a:off x="1938528" y="4700016"/>
            <a:ext cx="1188720" cy="256032"/>
          </a:xfrm>
          <a:prstGeom prst="rect">
            <a:avLst/>
          </a:prstGeom>
          <a:noFill/>
        </p:spPr>
        <p:txBody>
          <a:bodyPr wrap="square" lIns="0" rIns="0" tIns="0" bIns="0" anchor="t">
            <a:spAutoFit/>
          </a:bodyPr>
          <a:lstStyle/>
          <a:p>
            <a:pPr algn="l">
              <a:lnSpc>
                <a:spcPct val="115000"/>
              </a:lnSpc>
            </a:pPr>
            <a:r>
              <a:rPr sz="1050" b="0" i="0">
                <a:solidFill>
                  <a:srgbClr val="0F172E"/>
                </a:solidFill>
                <a:latin typeface="Calibri"/>
              </a:rPr>
              <a:t>$1,800</a:t>
            </a:r>
          </a:p>
        </p:txBody>
      </p:sp>
      <p:sp>
        <p:nvSpPr>
          <p:cNvPr id="48" name="TextBox 47"/>
          <p:cNvSpPr txBox="1"/>
          <p:nvPr/>
        </p:nvSpPr>
        <p:spPr>
          <a:xfrm>
            <a:off x="3310128" y="4700016"/>
            <a:ext cx="1371600" cy="256032"/>
          </a:xfrm>
          <a:prstGeom prst="rect">
            <a:avLst/>
          </a:prstGeom>
          <a:noFill/>
        </p:spPr>
        <p:txBody>
          <a:bodyPr wrap="square" lIns="0" rIns="0" tIns="0" bIns="0" anchor="t">
            <a:spAutoFit/>
          </a:bodyPr>
          <a:lstStyle/>
          <a:p>
            <a:pPr algn="l">
              <a:lnSpc>
                <a:spcPct val="115000"/>
              </a:lnSpc>
            </a:pPr>
            <a:r>
              <a:rPr sz="1050" b="0" i="0">
                <a:solidFill>
                  <a:srgbClr val="0F172E"/>
                </a:solidFill>
                <a:latin typeface="Calibri"/>
              </a:rPr>
              <a:t>$360</a:t>
            </a:r>
          </a:p>
        </p:txBody>
      </p:sp>
      <p:sp>
        <p:nvSpPr>
          <p:cNvPr id="49" name="TextBox 48"/>
          <p:cNvSpPr txBox="1"/>
          <p:nvPr/>
        </p:nvSpPr>
        <p:spPr>
          <a:xfrm>
            <a:off x="4864608" y="4700016"/>
            <a:ext cx="1463040" cy="256032"/>
          </a:xfrm>
          <a:prstGeom prst="rect">
            <a:avLst/>
          </a:prstGeom>
          <a:noFill/>
        </p:spPr>
        <p:txBody>
          <a:bodyPr wrap="square" lIns="0" rIns="0" tIns="0" bIns="0" anchor="t">
            <a:spAutoFit/>
          </a:bodyPr>
          <a:lstStyle/>
          <a:p>
            <a:pPr algn="l">
              <a:lnSpc>
                <a:spcPct val="115000"/>
              </a:lnSpc>
            </a:pPr>
            <a:r>
              <a:rPr sz="1050" b="1" i="0">
                <a:solidFill>
                  <a:srgbClr val="7C3AED"/>
                </a:solidFill>
                <a:latin typeface="Calibri"/>
              </a:rPr>
              <a:t>$2,160</a:t>
            </a:r>
          </a:p>
        </p:txBody>
      </p:sp>
      <p:sp>
        <p:nvSpPr>
          <p:cNvPr id="50" name="Rectangle 49"/>
          <p:cNvSpPr/>
          <p:nvPr/>
        </p:nvSpPr>
        <p:spPr>
          <a:xfrm>
            <a:off x="548640" y="4956048"/>
            <a:ext cx="5852160" cy="310896"/>
          </a:xfrm>
          <a:prstGeom prst="rect">
            <a:avLst/>
          </a:prstGeom>
          <a:solidFill>
            <a:srgbClr val="ECF1FA"/>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58368" y="5010912"/>
            <a:ext cx="1097280" cy="256032"/>
          </a:xfrm>
          <a:prstGeom prst="rect">
            <a:avLst/>
          </a:prstGeom>
          <a:noFill/>
        </p:spPr>
        <p:txBody>
          <a:bodyPr wrap="square" lIns="0" rIns="0" tIns="0" bIns="0" anchor="t">
            <a:spAutoFit/>
          </a:bodyPr>
          <a:lstStyle/>
          <a:p>
            <a:pPr algn="l">
              <a:lnSpc>
                <a:spcPct val="115000"/>
              </a:lnSpc>
            </a:pPr>
            <a:r>
              <a:rPr sz="1050" b="1" i="0">
                <a:solidFill>
                  <a:srgbClr val="0F172E"/>
                </a:solidFill>
                <a:latin typeface="Calibri"/>
              </a:rPr>
              <a:t>Growth</a:t>
            </a:r>
          </a:p>
        </p:txBody>
      </p:sp>
      <p:sp>
        <p:nvSpPr>
          <p:cNvPr id="52" name="TextBox 51"/>
          <p:cNvSpPr txBox="1"/>
          <p:nvPr/>
        </p:nvSpPr>
        <p:spPr>
          <a:xfrm>
            <a:off x="1938528" y="5010912"/>
            <a:ext cx="1188720" cy="256032"/>
          </a:xfrm>
          <a:prstGeom prst="rect">
            <a:avLst/>
          </a:prstGeom>
          <a:noFill/>
        </p:spPr>
        <p:txBody>
          <a:bodyPr wrap="square" lIns="0" rIns="0" tIns="0" bIns="0" anchor="t">
            <a:spAutoFit/>
          </a:bodyPr>
          <a:lstStyle/>
          <a:p>
            <a:pPr algn="l">
              <a:lnSpc>
                <a:spcPct val="115000"/>
              </a:lnSpc>
            </a:pPr>
            <a:r>
              <a:rPr sz="1050" b="0" i="0">
                <a:solidFill>
                  <a:srgbClr val="0F172E"/>
                </a:solidFill>
                <a:latin typeface="Calibri"/>
              </a:rPr>
              <a:t>$5,988</a:t>
            </a:r>
          </a:p>
        </p:txBody>
      </p:sp>
      <p:sp>
        <p:nvSpPr>
          <p:cNvPr id="53" name="TextBox 52"/>
          <p:cNvSpPr txBox="1"/>
          <p:nvPr/>
        </p:nvSpPr>
        <p:spPr>
          <a:xfrm>
            <a:off x="3310128" y="5010912"/>
            <a:ext cx="1371600" cy="256032"/>
          </a:xfrm>
          <a:prstGeom prst="rect">
            <a:avLst/>
          </a:prstGeom>
          <a:noFill/>
        </p:spPr>
        <p:txBody>
          <a:bodyPr wrap="square" lIns="0" rIns="0" tIns="0" bIns="0" anchor="t">
            <a:spAutoFit/>
          </a:bodyPr>
          <a:lstStyle/>
          <a:p>
            <a:pPr algn="l">
              <a:lnSpc>
                <a:spcPct val="115000"/>
              </a:lnSpc>
            </a:pPr>
            <a:r>
              <a:rPr sz="1050" b="0" i="0">
                <a:solidFill>
                  <a:srgbClr val="0F172E"/>
                </a:solidFill>
                <a:latin typeface="Calibri"/>
              </a:rPr>
              <a:t>$2,400</a:t>
            </a:r>
          </a:p>
        </p:txBody>
      </p:sp>
      <p:sp>
        <p:nvSpPr>
          <p:cNvPr id="54" name="TextBox 53"/>
          <p:cNvSpPr txBox="1"/>
          <p:nvPr/>
        </p:nvSpPr>
        <p:spPr>
          <a:xfrm>
            <a:off x="4864608" y="5010912"/>
            <a:ext cx="1463040" cy="256032"/>
          </a:xfrm>
          <a:prstGeom prst="rect">
            <a:avLst/>
          </a:prstGeom>
          <a:noFill/>
        </p:spPr>
        <p:txBody>
          <a:bodyPr wrap="square" lIns="0" rIns="0" tIns="0" bIns="0" anchor="t">
            <a:spAutoFit/>
          </a:bodyPr>
          <a:lstStyle/>
          <a:p>
            <a:pPr algn="l">
              <a:lnSpc>
                <a:spcPct val="115000"/>
              </a:lnSpc>
            </a:pPr>
            <a:r>
              <a:rPr sz="1050" b="1" i="0">
                <a:solidFill>
                  <a:srgbClr val="7C3AED"/>
                </a:solidFill>
                <a:latin typeface="Calibri"/>
              </a:rPr>
              <a:t>$8,388</a:t>
            </a:r>
          </a:p>
        </p:txBody>
      </p:sp>
      <p:sp>
        <p:nvSpPr>
          <p:cNvPr id="55" name="Rectangle 54"/>
          <p:cNvSpPr/>
          <p:nvPr/>
        </p:nvSpPr>
        <p:spPr>
          <a:xfrm>
            <a:off x="548640" y="5266944"/>
            <a:ext cx="5852160" cy="310896"/>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58368" y="5321808"/>
            <a:ext cx="1097280" cy="256032"/>
          </a:xfrm>
          <a:prstGeom prst="rect">
            <a:avLst/>
          </a:prstGeom>
          <a:noFill/>
        </p:spPr>
        <p:txBody>
          <a:bodyPr wrap="square" lIns="0" rIns="0" tIns="0" bIns="0" anchor="t">
            <a:spAutoFit/>
          </a:bodyPr>
          <a:lstStyle/>
          <a:p>
            <a:pPr algn="l">
              <a:lnSpc>
                <a:spcPct val="115000"/>
              </a:lnSpc>
            </a:pPr>
            <a:r>
              <a:rPr sz="1050" b="1" i="0">
                <a:solidFill>
                  <a:srgbClr val="0F172E"/>
                </a:solidFill>
                <a:latin typeface="Calibri"/>
              </a:rPr>
              <a:t>Scale</a:t>
            </a:r>
          </a:p>
        </p:txBody>
      </p:sp>
      <p:sp>
        <p:nvSpPr>
          <p:cNvPr id="57" name="TextBox 56"/>
          <p:cNvSpPr txBox="1"/>
          <p:nvPr/>
        </p:nvSpPr>
        <p:spPr>
          <a:xfrm>
            <a:off x="1938528" y="5321808"/>
            <a:ext cx="1188720" cy="256032"/>
          </a:xfrm>
          <a:prstGeom prst="rect">
            <a:avLst/>
          </a:prstGeom>
          <a:noFill/>
        </p:spPr>
        <p:txBody>
          <a:bodyPr wrap="square" lIns="0" rIns="0" tIns="0" bIns="0" anchor="t">
            <a:spAutoFit/>
          </a:bodyPr>
          <a:lstStyle/>
          <a:p>
            <a:pPr algn="l">
              <a:lnSpc>
                <a:spcPct val="115000"/>
              </a:lnSpc>
            </a:pPr>
            <a:r>
              <a:rPr sz="1050" b="0" i="0">
                <a:solidFill>
                  <a:srgbClr val="0F172E"/>
                </a:solidFill>
                <a:latin typeface="Calibri"/>
              </a:rPr>
              <a:t>$17,988</a:t>
            </a:r>
          </a:p>
        </p:txBody>
      </p:sp>
      <p:sp>
        <p:nvSpPr>
          <p:cNvPr id="58" name="TextBox 57"/>
          <p:cNvSpPr txBox="1"/>
          <p:nvPr/>
        </p:nvSpPr>
        <p:spPr>
          <a:xfrm>
            <a:off x="3310128" y="5321808"/>
            <a:ext cx="1371600" cy="256032"/>
          </a:xfrm>
          <a:prstGeom prst="rect">
            <a:avLst/>
          </a:prstGeom>
          <a:noFill/>
        </p:spPr>
        <p:txBody>
          <a:bodyPr wrap="square" lIns="0" rIns="0" tIns="0" bIns="0" anchor="t">
            <a:spAutoFit/>
          </a:bodyPr>
          <a:lstStyle/>
          <a:p>
            <a:pPr algn="l">
              <a:lnSpc>
                <a:spcPct val="115000"/>
              </a:lnSpc>
            </a:pPr>
            <a:r>
              <a:rPr sz="1050" b="0" i="0">
                <a:solidFill>
                  <a:srgbClr val="0F172E"/>
                </a:solidFill>
                <a:latin typeface="Calibri"/>
              </a:rPr>
              <a:t>$7,200</a:t>
            </a:r>
          </a:p>
        </p:txBody>
      </p:sp>
      <p:sp>
        <p:nvSpPr>
          <p:cNvPr id="59" name="TextBox 58"/>
          <p:cNvSpPr txBox="1"/>
          <p:nvPr/>
        </p:nvSpPr>
        <p:spPr>
          <a:xfrm>
            <a:off x="4864608" y="5321808"/>
            <a:ext cx="1463040" cy="256032"/>
          </a:xfrm>
          <a:prstGeom prst="rect">
            <a:avLst/>
          </a:prstGeom>
          <a:noFill/>
        </p:spPr>
        <p:txBody>
          <a:bodyPr wrap="square" lIns="0" rIns="0" tIns="0" bIns="0" anchor="t">
            <a:spAutoFit/>
          </a:bodyPr>
          <a:lstStyle/>
          <a:p>
            <a:pPr algn="l">
              <a:lnSpc>
                <a:spcPct val="115000"/>
              </a:lnSpc>
            </a:pPr>
            <a:r>
              <a:rPr sz="1050" b="1" i="0">
                <a:solidFill>
                  <a:srgbClr val="7C3AED"/>
                </a:solidFill>
                <a:latin typeface="Calibri"/>
              </a:rPr>
              <a:t>$25,188</a:t>
            </a:r>
          </a:p>
        </p:txBody>
      </p:sp>
      <p:sp>
        <p:nvSpPr>
          <p:cNvPr id="60" name="Rectangle 59"/>
          <p:cNvSpPr/>
          <p:nvPr/>
        </p:nvSpPr>
        <p:spPr>
          <a:xfrm>
            <a:off x="548640" y="5577840"/>
            <a:ext cx="5852160" cy="310896"/>
          </a:xfrm>
          <a:prstGeom prst="rect">
            <a:avLst/>
          </a:prstGeom>
          <a:solidFill>
            <a:srgbClr val="ECF1FA"/>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58368" y="5632704"/>
            <a:ext cx="1097280" cy="256032"/>
          </a:xfrm>
          <a:prstGeom prst="rect">
            <a:avLst/>
          </a:prstGeom>
          <a:noFill/>
        </p:spPr>
        <p:txBody>
          <a:bodyPr wrap="square" lIns="0" rIns="0" tIns="0" bIns="0" anchor="t">
            <a:spAutoFit/>
          </a:bodyPr>
          <a:lstStyle/>
          <a:p>
            <a:pPr algn="l">
              <a:lnSpc>
                <a:spcPct val="115000"/>
              </a:lnSpc>
            </a:pPr>
            <a:r>
              <a:rPr sz="1050" b="1" i="0">
                <a:solidFill>
                  <a:srgbClr val="0F172E"/>
                </a:solidFill>
                <a:latin typeface="Calibri"/>
              </a:rPr>
              <a:t>Enterprise</a:t>
            </a:r>
          </a:p>
        </p:txBody>
      </p:sp>
      <p:sp>
        <p:nvSpPr>
          <p:cNvPr id="62" name="TextBox 61"/>
          <p:cNvSpPr txBox="1"/>
          <p:nvPr/>
        </p:nvSpPr>
        <p:spPr>
          <a:xfrm>
            <a:off x="1938528" y="5632704"/>
            <a:ext cx="1188720" cy="256032"/>
          </a:xfrm>
          <a:prstGeom prst="rect">
            <a:avLst/>
          </a:prstGeom>
          <a:noFill/>
        </p:spPr>
        <p:txBody>
          <a:bodyPr wrap="square" lIns="0" rIns="0" tIns="0" bIns="0" anchor="t">
            <a:spAutoFit/>
          </a:bodyPr>
          <a:lstStyle/>
          <a:p>
            <a:pPr algn="l">
              <a:lnSpc>
                <a:spcPct val="115000"/>
              </a:lnSpc>
            </a:pPr>
            <a:r>
              <a:rPr sz="1050" b="0" i="0">
                <a:solidFill>
                  <a:srgbClr val="0F172E"/>
                </a:solidFill>
                <a:latin typeface="Calibri"/>
              </a:rPr>
              <a:t>$36,000+</a:t>
            </a:r>
          </a:p>
        </p:txBody>
      </p:sp>
      <p:sp>
        <p:nvSpPr>
          <p:cNvPr id="63" name="TextBox 62"/>
          <p:cNvSpPr txBox="1"/>
          <p:nvPr/>
        </p:nvSpPr>
        <p:spPr>
          <a:xfrm>
            <a:off x="3310128" y="5632704"/>
            <a:ext cx="1371600" cy="256032"/>
          </a:xfrm>
          <a:prstGeom prst="rect">
            <a:avLst/>
          </a:prstGeom>
          <a:noFill/>
        </p:spPr>
        <p:txBody>
          <a:bodyPr wrap="square" lIns="0" rIns="0" tIns="0" bIns="0" anchor="t">
            <a:spAutoFit/>
          </a:bodyPr>
          <a:lstStyle/>
          <a:p>
            <a:pPr algn="l">
              <a:lnSpc>
                <a:spcPct val="115000"/>
              </a:lnSpc>
            </a:pPr>
            <a:r>
              <a:rPr sz="1050" b="0" i="0">
                <a:solidFill>
                  <a:srgbClr val="0F172E"/>
                </a:solidFill>
                <a:latin typeface="Calibri"/>
              </a:rPr>
              <a:t>Commit</a:t>
            </a:r>
          </a:p>
        </p:txBody>
      </p:sp>
      <p:sp>
        <p:nvSpPr>
          <p:cNvPr id="64" name="TextBox 63"/>
          <p:cNvSpPr txBox="1"/>
          <p:nvPr/>
        </p:nvSpPr>
        <p:spPr>
          <a:xfrm>
            <a:off x="4864608" y="5632704"/>
            <a:ext cx="1463040" cy="256032"/>
          </a:xfrm>
          <a:prstGeom prst="rect">
            <a:avLst/>
          </a:prstGeom>
          <a:noFill/>
        </p:spPr>
        <p:txBody>
          <a:bodyPr wrap="square" lIns="0" rIns="0" tIns="0" bIns="0" anchor="t">
            <a:spAutoFit/>
          </a:bodyPr>
          <a:lstStyle/>
          <a:p>
            <a:pPr algn="l">
              <a:lnSpc>
                <a:spcPct val="115000"/>
              </a:lnSpc>
            </a:pPr>
            <a:r>
              <a:rPr sz="1050" b="1" i="0">
                <a:solidFill>
                  <a:srgbClr val="7C3AED"/>
                </a:solidFill>
                <a:latin typeface="Calibri"/>
              </a:rPr>
              <a:t>$48K–$250K+</a:t>
            </a:r>
          </a:p>
        </p:txBody>
      </p:sp>
      <p:sp>
        <p:nvSpPr>
          <p:cNvPr id="65" name="Rectangle 64"/>
          <p:cNvSpPr/>
          <p:nvPr/>
        </p:nvSpPr>
        <p:spPr>
          <a:xfrm>
            <a:off x="6858000" y="1828800"/>
            <a:ext cx="4892040" cy="4526280"/>
          </a:xfrm>
          <a:prstGeom prst="rect">
            <a:avLst/>
          </a:prstGeom>
          <a:solidFill>
            <a:srgbClr val="0A14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858000" y="1828800"/>
            <a:ext cx="73152" cy="4526280"/>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178040" y="2057400"/>
            <a:ext cx="4251960" cy="320040"/>
          </a:xfrm>
          <a:prstGeom prst="rect">
            <a:avLst/>
          </a:prstGeom>
          <a:noFill/>
        </p:spPr>
        <p:txBody>
          <a:bodyPr wrap="square" lIns="0" rIns="0" tIns="0" bIns="0" anchor="t">
            <a:spAutoFit/>
          </a:bodyPr>
          <a:lstStyle/>
          <a:p>
            <a:pPr algn="l">
              <a:lnSpc>
                <a:spcPct val="115000"/>
              </a:lnSpc>
            </a:pPr>
            <a:r>
              <a:rPr sz="1000" b="1" i="0">
                <a:solidFill>
                  <a:srgbClr val="F4B400"/>
                </a:solidFill>
                <a:latin typeface="Calibri"/>
              </a:rPr>
              <a:t>MARGIN ARCHITECTURE</a:t>
            </a:r>
          </a:p>
        </p:txBody>
      </p:sp>
      <p:sp>
        <p:nvSpPr>
          <p:cNvPr id="68" name="TextBox 67"/>
          <p:cNvSpPr txBox="1"/>
          <p:nvPr/>
        </p:nvSpPr>
        <p:spPr>
          <a:xfrm>
            <a:off x="7178040" y="2423160"/>
            <a:ext cx="4251960" cy="1005840"/>
          </a:xfrm>
          <a:prstGeom prst="rect">
            <a:avLst/>
          </a:prstGeom>
          <a:noFill/>
        </p:spPr>
        <p:txBody>
          <a:bodyPr wrap="square" lIns="0" rIns="0" tIns="0" bIns="0" anchor="t">
            <a:spAutoFit/>
          </a:bodyPr>
          <a:lstStyle/>
          <a:p>
            <a:pPr algn="l">
              <a:lnSpc>
                <a:spcPct val="100000"/>
              </a:lnSpc>
            </a:pPr>
            <a:r>
              <a:rPr sz="6800" b="1" i="0">
                <a:solidFill>
                  <a:srgbClr val="FFFFFF"/>
                </a:solidFill>
                <a:latin typeface="Calibri"/>
              </a:rPr>
              <a:t>≥ 90%</a:t>
            </a:r>
          </a:p>
        </p:txBody>
      </p:sp>
      <p:sp>
        <p:nvSpPr>
          <p:cNvPr id="69" name="TextBox 68"/>
          <p:cNvSpPr txBox="1"/>
          <p:nvPr/>
        </p:nvSpPr>
        <p:spPr>
          <a:xfrm>
            <a:off x="7178040" y="3429000"/>
            <a:ext cx="4251960" cy="320040"/>
          </a:xfrm>
          <a:prstGeom prst="rect">
            <a:avLst/>
          </a:prstGeom>
          <a:noFill/>
        </p:spPr>
        <p:txBody>
          <a:bodyPr wrap="square" lIns="0" rIns="0" tIns="0" bIns="0" anchor="t">
            <a:spAutoFit/>
          </a:bodyPr>
          <a:lstStyle/>
          <a:p>
            <a:pPr algn="l">
              <a:lnSpc>
                <a:spcPct val="115000"/>
              </a:lnSpc>
            </a:pPr>
            <a:r>
              <a:rPr sz="1200" b="0" i="0">
                <a:solidFill>
                  <a:srgbClr val="A8B2CC"/>
                </a:solidFill>
                <a:latin typeface="Calibri"/>
              </a:rPr>
              <a:t>blended gross margin target</a:t>
            </a:r>
          </a:p>
        </p:txBody>
      </p:sp>
      <p:sp>
        <p:nvSpPr>
          <p:cNvPr id="70" name="TextBox 69"/>
          <p:cNvSpPr txBox="1"/>
          <p:nvPr/>
        </p:nvSpPr>
        <p:spPr>
          <a:xfrm>
            <a:off x="7178040" y="3977640"/>
            <a:ext cx="1371600" cy="365760"/>
          </a:xfrm>
          <a:prstGeom prst="rect">
            <a:avLst/>
          </a:prstGeom>
          <a:noFill/>
        </p:spPr>
        <p:txBody>
          <a:bodyPr wrap="square" lIns="0" rIns="0" tIns="0" bIns="0" anchor="t">
            <a:spAutoFit/>
          </a:bodyPr>
          <a:lstStyle/>
          <a:p>
            <a:pPr algn="l">
              <a:lnSpc>
                <a:spcPct val="115000"/>
              </a:lnSpc>
            </a:pPr>
            <a:r>
              <a:rPr sz="2000" b="1" i="0">
                <a:solidFill>
                  <a:srgbClr val="F4B400"/>
                </a:solidFill>
                <a:latin typeface="Consolas"/>
              </a:rPr>
              <a:t>96%</a:t>
            </a:r>
          </a:p>
        </p:txBody>
      </p:sp>
      <p:sp>
        <p:nvSpPr>
          <p:cNvPr id="71" name="TextBox 70"/>
          <p:cNvSpPr txBox="1"/>
          <p:nvPr/>
        </p:nvSpPr>
        <p:spPr>
          <a:xfrm>
            <a:off x="8595360" y="4023360"/>
            <a:ext cx="2788920" cy="365760"/>
          </a:xfrm>
          <a:prstGeom prst="rect">
            <a:avLst/>
          </a:prstGeom>
          <a:noFill/>
        </p:spPr>
        <p:txBody>
          <a:bodyPr wrap="square" lIns="0" rIns="0" tIns="0" bIns="0" anchor="t">
            <a:spAutoFit/>
          </a:bodyPr>
          <a:lstStyle/>
          <a:p>
            <a:pPr algn="l">
              <a:lnSpc>
                <a:spcPct val="115000"/>
              </a:lnSpc>
            </a:pPr>
            <a:r>
              <a:rPr sz="1100" b="0" i="0">
                <a:solidFill>
                  <a:srgbClr val="E8EDF7"/>
                </a:solidFill>
                <a:latin typeface="Calibri"/>
              </a:rPr>
              <a:t>gross margin at Starter</a:t>
            </a:r>
          </a:p>
        </p:txBody>
      </p:sp>
      <p:sp>
        <p:nvSpPr>
          <p:cNvPr id="72" name="TextBox 71"/>
          <p:cNvSpPr txBox="1"/>
          <p:nvPr/>
        </p:nvSpPr>
        <p:spPr>
          <a:xfrm>
            <a:off x="7178040" y="4480560"/>
            <a:ext cx="1371600" cy="365760"/>
          </a:xfrm>
          <a:prstGeom prst="rect">
            <a:avLst/>
          </a:prstGeom>
          <a:noFill/>
        </p:spPr>
        <p:txBody>
          <a:bodyPr wrap="square" lIns="0" rIns="0" tIns="0" bIns="0" anchor="t">
            <a:spAutoFit/>
          </a:bodyPr>
          <a:lstStyle/>
          <a:p>
            <a:pPr algn="l">
              <a:lnSpc>
                <a:spcPct val="115000"/>
              </a:lnSpc>
            </a:pPr>
            <a:r>
              <a:rPr sz="2000" b="1" i="0">
                <a:solidFill>
                  <a:srgbClr val="F4B400"/>
                </a:solidFill>
                <a:latin typeface="Consolas"/>
              </a:rPr>
              <a:t>~91%</a:t>
            </a:r>
          </a:p>
        </p:txBody>
      </p:sp>
      <p:sp>
        <p:nvSpPr>
          <p:cNvPr id="73" name="TextBox 72"/>
          <p:cNvSpPr txBox="1"/>
          <p:nvPr/>
        </p:nvSpPr>
        <p:spPr>
          <a:xfrm>
            <a:off x="8595360" y="4526280"/>
            <a:ext cx="2788920" cy="365760"/>
          </a:xfrm>
          <a:prstGeom prst="rect">
            <a:avLst/>
          </a:prstGeom>
          <a:noFill/>
        </p:spPr>
        <p:txBody>
          <a:bodyPr wrap="square" lIns="0" rIns="0" tIns="0" bIns="0" anchor="t">
            <a:spAutoFit/>
          </a:bodyPr>
          <a:lstStyle/>
          <a:p>
            <a:pPr algn="l">
              <a:lnSpc>
                <a:spcPct val="115000"/>
              </a:lnSpc>
            </a:pPr>
            <a:r>
              <a:rPr sz="1100" b="0" i="0">
                <a:solidFill>
                  <a:srgbClr val="E8EDF7"/>
                </a:solidFill>
                <a:latin typeface="Calibri"/>
              </a:rPr>
              <a:t>blended at Year-1 exit mix</a:t>
            </a:r>
          </a:p>
        </p:txBody>
      </p:sp>
      <p:sp>
        <p:nvSpPr>
          <p:cNvPr id="74" name="TextBox 73"/>
          <p:cNvSpPr txBox="1"/>
          <p:nvPr/>
        </p:nvSpPr>
        <p:spPr>
          <a:xfrm>
            <a:off x="7178040" y="4983480"/>
            <a:ext cx="1371600" cy="365760"/>
          </a:xfrm>
          <a:prstGeom prst="rect">
            <a:avLst/>
          </a:prstGeom>
          <a:noFill/>
        </p:spPr>
        <p:txBody>
          <a:bodyPr wrap="square" lIns="0" rIns="0" tIns="0" bIns="0" anchor="t">
            <a:spAutoFit/>
          </a:bodyPr>
          <a:lstStyle/>
          <a:p>
            <a:pPr algn="l">
              <a:lnSpc>
                <a:spcPct val="115000"/>
              </a:lnSpc>
            </a:pPr>
            <a:r>
              <a:rPr sz="2000" b="1" i="0">
                <a:solidFill>
                  <a:srgbClr val="F4B400"/>
                </a:solidFill>
                <a:latin typeface="Consolas"/>
              </a:rPr>
              <a:t>1.05×</a:t>
            </a:r>
          </a:p>
        </p:txBody>
      </p:sp>
      <p:sp>
        <p:nvSpPr>
          <p:cNvPr id="75" name="TextBox 74"/>
          <p:cNvSpPr txBox="1"/>
          <p:nvPr/>
        </p:nvSpPr>
        <p:spPr>
          <a:xfrm>
            <a:off x="8595360" y="5029200"/>
            <a:ext cx="2788920" cy="365760"/>
          </a:xfrm>
          <a:prstGeom prst="rect">
            <a:avLst/>
          </a:prstGeom>
          <a:noFill/>
        </p:spPr>
        <p:txBody>
          <a:bodyPr wrap="square" lIns="0" rIns="0" tIns="0" bIns="0" anchor="t">
            <a:spAutoFit/>
          </a:bodyPr>
          <a:lstStyle/>
          <a:p>
            <a:pPr algn="l">
              <a:lnSpc>
                <a:spcPct val="115000"/>
              </a:lnSpc>
            </a:pPr>
            <a:r>
              <a:rPr sz="1100" b="0" i="0">
                <a:solidFill>
                  <a:srgbClr val="E8EDF7"/>
                </a:solidFill>
                <a:latin typeface="Calibri"/>
              </a:rPr>
              <a:t>cost of rejected AI outputs — near-zero margin burn</a:t>
            </a:r>
          </a:p>
        </p:txBody>
      </p:sp>
      <p:sp>
        <p:nvSpPr>
          <p:cNvPr id="76" name="TextBox 75"/>
          <p:cNvSpPr txBox="1"/>
          <p:nvPr/>
        </p:nvSpPr>
        <p:spPr>
          <a:xfrm>
            <a:off x="7178040" y="5486400"/>
            <a:ext cx="1371600" cy="365760"/>
          </a:xfrm>
          <a:prstGeom prst="rect">
            <a:avLst/>
          </a:prstGeom>
          <a:noFill/>
        </p:spPr>
        <p:txBody>
          <a:bodyPr wrap="square" lIns="0" rIns="0" tIns="0" bIns="0" anchor="t">
            <a:spAutoFit/>
          </a:bodyPr>
          <a:lstStyle/>
          <a:p>
            <a:pPr algn="l">
              <a:lnSpc>
                <a:spcPct val="115000"/>
              </a:lnSpc>
            </a:pPr>
            <a:r>
              <a:rPr sz="2000" b="1" i="0">
                <a:solidFill>
                  <a:srgbClr val="F4B400"/>
                </a:solidFill>
                <a:latin typeface="Consolas"/>
              </a:rPr>
              <a:t>$0</a:t>
            </a:r>
          </a:p>
        </p:txBody>
      </p:sp>
      <p:sp>
        <p:nvSpPr>
          <p:cNvPr id="77" name="TextBox 76"/>
          <p:cNvSpPr txBox="1"/>
          <p:nvPr/>
        </p:nvSpPr>
        <p:spPr>
          <a:xfrm>
            <a:off x="8595360" y="5532120"/>
            <a:ext cx="2788920" cy="365760"/>
          </a:xfrm>
          <a:prstGeom prst="rect">
            <a:avLst/>
          </a:prstGeom>
          <a:noFill/>
        </p:spPr>
        <p:txBody>
          <a:bodyPr wrap="square" lIns="0" rIns="0" tIns="0" bIns="0" anchor="t">
            <a:spAutoFit/>
          </a:bodyPr>
          <a:lstStyle/>
          <a:p>
            <a:pPr algn="l">
              <a:lnSpc>
                <a:spcPct val="115000"/>
              </a:lnSpc>
            </a:pPr>
            <a:r>
              <a:rPr sz="1100" b="0" i="0">
                <a:solidFill>
                  <a:srgbClr val="E8EDF7"/>
                </a:solidFill>
                <a:latin typeface="Calibri"/>
              </a:rPr>
              <a:t>seat-count exposure — no per-seat revenue lost to collab</a:t>
            </a:r>
          </a:p>
        </p:txBody>
      </p:sp>
      <p:cxnSp>
        <p:nvCxnSpPr>
          <p:cNvPr id="78" name="Connector 77"/>
          <p:cNvCxnSpPr/>
          <p:nvPr/>
        </p:nvCxnSpPr>
        <p:spPr>
          <a:xfrm>
            <a:off x="548640" y="6355080"/>
            <a:ext cx="11094415" cy="0"/>
          </a:xfrm>
          <a:prstGeom prst="line">
            <a:avLst/>
          </a:prstGeom>
          <a:ln w="9525">
            <a:solidFill>
              <a:srgbClr val="D8DFEE"/>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548640" y="6437376"/>
            <a:ext cx="3657600" cy="274320"/>
          </a:xfrm>
          <a:prstGeom prst="rect">
            <a:avLst/>
          </a:prstGeom>
          <a:noFill/>
        </p:spPr>
        <p:txBody>
          <a:bodyPr wrap="square" lIns="0" rIns="0" tIns="0" bIns="0" anchor="t">
            <a:spAutoFit/>
          </a:bodyPr>
          <a:lstStyle/>
          <a:p>
            <a:pPr algn="l">
              <a:lnSpc>
                <a:spcPct val="115000"/>
              </a:lnSpc>
            </a:pPr>
            <a:r>
              <a:rPr sz="900" b="1" i="0">
                <a:solidFill>
                  <a:srgbClr val="4A5573"/>
                </a:solidFill>
                <a:latin typeface="Calibri"/>
              </a:rPr>
              <a:t>SOURCERA  ·  REVENUE MODEL</a:t>
            </a:r>
          </a:p>
        </p:txBody>
      </p:sp>
      <p:sp>
        <p:nvSpPr>
          <p:cNvPr id="80" name="TextBox 79"/>
          <p:cNvSpPr txBox="1"/>
          <p:nvPr/>
        </p:nvSpPr>
        <p:spPr>
          <a:xfrm>
            <a:off x="10362895" y="6437376"/>
            <a:ext cx="1280160" cy="274320"/>
          </a:xfrm>
          <a:prstGeom prst="rect">
            <a:avLst/>
          </a:prstGeom>
          <a:noFill/>
        </p:spPr>
        <p:txBody>
          <a:bodyPr wrap="square" lIns="0" rIns="0" tIns="0" bIns="0" anchor="t">
            <a:spAutoFit/>
          </a:bodyPr>
          <a:lstStyle/>
          <a:p>
            <a:pPr algn="r">
              <a:lnSpc>
                <a:spcPct val="115000"/>
              </a:lnSpc>
            </a:pPr>
            <a:r>
              <a:rPr sz="900" b="0" i="0">
                <a:solidFill>
                  <a:srgbClr val="4A5573"/>
                </a:solidFill>
                <a:latin typeface="Calibri"/>
              </a:rPr>
              <a:t>11 / 19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21792"/>
            <a:ext cx="365760" cy="73152"/>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548640"/>
            <a:ext cx="9144000" cy="274320"/>
          </a:xfrm>
          <a:prstGeom prst="rect">
            <a:avLst/>
          </a:prstGeom>
          <a:noFill/>
        </p:spPr>
        <p:txBody>
          <a:bodyPr wrap="square" lIns="0" rIns="0" tIns="0" bIns="0" anchor="t">
            <a:spAutoFit/>
          </a:bodyPr>
          <a:lstStyle/>
          <a:p>
            <a:pPr algn="l">
              <a:lnSpc>
                <a:spcPct val="115000"/>
              </a:lnSpc>
            </a:pPr>
            <a:r>
              <a:rPr sz="1000" b="1" i="0">
                <a:solidFill>
                  <a:srgbClr val="4A7BFF"/>
                </a:solidFill>
                <a:latin typeface="Calibri"/>
              </a:rPr>
              <a:t>MARKET SIZE</a:t>
            </a:r>
          </a:p>
        </p:txBody>
      </p:sp>
      <p:sp>
        <p:nvSpPr>
          <p:cNvPr id="5" name="TextBox 4"/>
          <p:cNvSpPr txBox="1"/>
          <p:nvPr/>
        </p:nvSpPr>
        <p:spPr>
          <a:xfrm>
            <a:off x="548640" y="822960"/>
            <a:ext cx="10972800" cy="822960"/>
          </a:xfrm>
          <a:prstGeom prst="rect">
            <a:avLst/>
          </a:prstGeom>
          <a:noFill/>
        </p:spPr>
        <p:txBody>
          <a:bodyPr wrap="square" lIns="0" rIns="0" tIns="0" bIns="0" anchor="t">
            <a:spAutoFit/>
          </a:bodyPr>
          <a:lstStyle/>
          <a:p>
            <a:pPr algn="l">
              <a:lnSpc>
                <a:spcPct val="105000"/>
              </a:lnSpc>
            </a:pPr>
            <a:r>
              <a:rPr sz="3600" b="1" i="0">
                <a:solidFill>
                  <a:srgbClr val="0F172E"/>
                </a:solidFill>
                <a:latin typeface="Calibri"/>
              </a:rPr>
              <a:t>$1B+ SAM. Bottoms-up. Defensible.</a:t>
            </a:r>
          </a:p>
        </p:txBody>
      </p:sp>
      <p:sp>
        <p:nvSpPr>
          <p:cNvPr id="6" name="TextBox 5"/>
          <p:cNvSpPr txBox="1"/>
          <p:nvPr/>
        </p:nvSpPr>
        <p:spPr>
          <a:xfrm>
            <a:off x="548640" y="1508760"/>
            <a:ext cx="10972800" cy="457200"/>
          </a:xfrm>
          <a:prstGeom prst="rect">
            <a:avLst/>
          </a:prstGeom>
          <a:noFill/>
        </p:spPr>
        <p:txBody>
          <a:bodyPr wrap="square" lIns="0" rIns="0" tIns="0" bIns="0" anchor="t">
            <a:spAutoFit/>
          </a:bodyPr>
          <a:lstStyle/>
          <a:p>
            <a:pPr algn="l">
              <a:lnSpc>
                <a:spcPct val="125000"/>
              </a:lnSpc>
            </a:pPr>
            <a:r>
              <a:rPr sz="1500" b="0" i="0">
                <a:solidFill>
                  <a:srgbClr val="4A5573"/>
                </a:solidFill>
                <a:latin typeface="Calibri"/>
              </a:rPr>
              <a:t>Addressable on both sides of the platform — with no product bundling either account off by over-counting.</a:t>
            </a:r>
          </a:p>
        </p:txBody>
      </p:sp>
      <p:sp>
        <p:nvSpPr>
          <p:cNvPr id="7" name="Rectangle 6"/>
          <p:cNvSpPr/>
          <p:nvPr/>
        </p:nvSpPr>
        <p:spPr>
          <a:xfrm>
            <a:off x="548640" y="1874519"/>
            <a:ext cx="5577840" cy="393192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874519"/>
            <a:ext cx="5577840" cy="73152"/>
          </a:xfrm>
          <a:prstGeom prst="rect">
            <a:avLst/>
          </a:prstGeom>
          <a:solidFill>
            <a:srgbClr val="2E5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075687"/>
            <a:ext cx="5120640" cy="365760"/>
          </a:xfrm>
          <a:prstGeom prst="rect">
            <a:avLst/>
          </a:prstGeom>
          <a:noFill/>
        </p:spPr>
        <p:txBody>
          <a:bodyPr wrap="square" lIns="0" rIns="0" tIns="0" bIns="0" anchor="t">
            <a:spAutoFit/>
          </a:bodyPr>
          <a:lstStyle/>
          <a:p>
            <a:pPr algn="l">
              <a:lnSpc>
                <a:spcPct val="115000"/>
              </a:lnSpc>
            </a:pPr>
            <a:r>
              <a:rPr sz="1200" b="1" i="0">
                <a:solidFill>
                  <a:srgbClr val="0F172E"/>
                </a:solidFill>
                <a:latin typeface="Calibri"/>
              </a:rPr>
              <a:t>BUYER SIDE — Software Evaluation Platform addressable accounts</a:t>
            </a:r>
          </a:p>
        </p:txBody>
      </p:sp>
      <p:sp>
        <p:nvSpPr>
          <p:cNvPr id="10" name="TextBox 9"/>
          <p:cNvSpPr txBox="1"/>
          <p:nvPr/>
        </p:nvSpPr>
        <p:spPr>
          <a:xfrm>
            <a:off x="868680" y="2560319"/>
            <a:ext cx="5029200" cy="256032"/>
          </a:xfrm>
          <a:prstGeom prst="rect">
            <a:avLst/>
          </a:prstGeom>
          <a:noFill/>
        </p:spPr>
        <p:txBody>
          <a:bodyPr wrap="square" lIns="0" rIns="0" tIns="0" bIns="0" anchor="t">
            <a:spAutoFit/>
          </a:bodyPr>
          <a:lstStyle/>
          <a:p>
            <a:pPr algn="l">
              <a:lnSpc>
                <a:spcPct val="115000"/>
              </a:lnSpc>
            </a:pPr>
            <a:r>
              <a:rPr sz="1000" b="1" i="0">
                <a:solidFill>
                  <a:srgbClr val="4A5573"/>
                </a:solidFill>
                <a:latin typeface="Calibri"/>
              </a:rPr>
              <a:t>Mid-market + enterprise orgs (target geos, 200–20K emp)</a:t>
            </a:r>
          </a:p>
        </p:txBody>
      </p:sp>
      <p:sp>
        <p:nvSpPr>
          <p:cNvPr id="11" name="TextBox 10"/>
          <p:cNvSpPr txBox="1"/>
          <p:nvPr/>
        </p:nvSpPr>
        <p:spPr>
          <a:xfrm>
            <a:off x="868680" y="2788919"/>
            <a:ext cx="2377440" cy="320040"/>
          </a:xfrm>
          <a:prstGeom prst="rect">
            <a:avLst/>
          </a:prstGeom>
          <a:noFill/>
        </p:spPr>
        <p:txBody>
          <a:bodyPr wrap="square" lIns="0" rIns="0" tIns="0" bIns="0" anchor="t">
            <a:spAutoFit/>
          </a:bodyPr>
          <a:lstStyle/>
          <a:p>
            <a:pPr algn="l">
              <a:lnSpc>
                <a:spcPct val="115000"/>
              </a:lnSpc>
            </a:pPr>
            <a:r>
              <a:rPr sz="1800" b="1" i="0">
                <a:solidFill>
                  <a:srgbClr val="0F172E"/>
                </a:solidFill>
                <a:latin typeface="Calibri"/>
              </a:rPr>
              <a:t>~500,000</a:t>
            </a:r>
          </a:p>
        </p:txBody>
      </p:sp>
      <p:sp>
        <p:nvSpPr>
          <p:cNvPr id="12" name="TextBox 11"/>
          <p:cNvSpPr txBox="1"/>
          <p:nvPr/>
        </p:nvSpPr>
        <p:spPr>
          <a:xfrm>
            <a:off x="3337560" y="2852927"/>
            <a:ext cx="2560320" cy="274320"/>
          </a:xfrm>
          <a:prstGeom prst="rect">
            <a:avLst/>
          </a:prstGeom>
          <a:noFill/>
        </p:spPr>
        <p:txBody>
          <a:bodyPr wrap="square" lIns="0" rIns="0" tIns="0" bIns="0" anchor="t">
            <a:spAutoFit/>
          </a:bodyPr>
          <a:lstStyle/>
          <a:p>
            <a:pPr algn="r">
              <a:lnSpc>
                <a:spcPct val="115000"/>
              </a:lnSpc>
            </a:pPr>
            <a:r>
              <a:rPr sz="1100" b="0" i="0">
                <a:solidFill>
                  <a:srgbClr val="2E55D9"/>
                </a:solidFill>
                <a:latin typeface="Consolas"/>
              </a:rPr>
              <a:t>start</a:t>
            </a:r>
          </a:p>
        </p:txBody>
      </p:sp>
      <p:sp>
        <p:nvSpPr>
          <p:cNvPr id="13" name="TextBox 12"/>
          <p:cNvSpPr txBox="1"/>
          <p:nvPr/>
        </p:nvSpPr>
        <p:spPr>
          <a:xfrm>
            <a:off x="868680" y="3108959"/>
            <a:ext cx="5029200" cy="237744"/>
          </a:xfrm>
          <a:prstGeom prst="rect">
            <a:avLst/>
          </a:prstGeom>
          <a:noFill/>
        </p:spPr>
        <p:txBody>
          <a:bodyPr wrap="square" lIns="0" rIns="0" tIns="0" bIns="0" anchor="t">
            <a:spAutoFit/>
          </a:bodyPr>
          <a:lstStyle/>
          <a:p>
            <a:pPr algn="l">
              <a:lnSpc>
                <a:spcPct val="115000"/>
              </a:lnSpc>
            </a:pPr>
            <a:r>
              <a:rPr sz="950" b="0" i="1">
                <a:solidFill>
                  <a:srgbClr val="4A5573"/>
                </a:solidFill>
                <a:latin typeface="Calibri"/>
              </a:rPr>
              <a:t>US, EU, APAC anchored</a:t>
            </a:r>
          </a:p>
        </p:txBody>
      </p:sp>
      <p:sp>
        <p:nvSpPr>
          <p:cNvPr id="14" name="TextBox 13"/>
          <p:cNvSpPr txBox="1"/>
          <p:nvPr/>
        </p:nvSpPr>
        <p:spPr>
          <a:xfrm>
            <a:off x="868680" y="3337559"/>
            <a:ext cx="5029200" cy="256032"/>
          </a:xfrm>
          <a:prstGeom prst="rect">
            <a:avLst/>
          </a:prstGeom>
          <a:noFill/>
        </p:spPr>
        <p:txBody>
          <a:bodyPr wrap="square" lIns="0" rIns="0" tIns="0" bIns="0" anchor="t">
            <a:spAutoFit/>
          </a:bodyPr>
          <a:lstStyle/>
          <a:p>
            <a:pPr algn="l">
              <a:lnSpc>
                <a:spcPct val="115000"/>
              </a:lnSpc>
            </a:pPr>
            <a:r>
              <a:rPr sz="1000" b="1" i="0">
                <a:solidFill>
                  <a:srgbClr val="4A5573"/>
                </a:solidFill>
                <a:latin typeface="Calibri"/>
              </a:rPr>
              <a:t>× running ≥2 structured software evals/year</a:t>
            </a:r>
          </a:p>
        </p:txBody>
      </p:sp>
      <p:sp>
        <p:nvSpPr>
          <p:cNvPr id="15" name="TextBox 14"/>
          <p:cNvSpPr txBox="1"/>
          <p:nvPr/>
        </p:nvSpPr>
        <p:spPr>
          <a:xfrm>
            <a:off x="868680" y="3566159"/>
            <a:ext cx="2377440" cy="320040"/>
          </a:xfrm>
          <a:prstGeom prst="rect">
            <a:avLst/>
          </a:prstGeom>
          <a:noFill/>
        </p:spPr>
        <p:txBody>
          <a:bodyPr wrap="square" lIns="0" rIns="0" tIns="0" bIns="0" anchor="t">
            <a:spAutoFit/>
          </a:bodyPr>
          <a:lstStyle/>
          <a:p>
            <a:pPr algn="l">
              <a:lnSpc>
                <a:spcPct val="115000"/>
              </a:lnSpc>
            </a:pPr>
            <a:r>
              <a:rPr sz="1800" b="1" i="0">
                <a:solidFill>
                  <a:srgbClr val="0F172E"/>
                </a:solidFill>
                <a:latin typeface="Calibri"/>
              </a:rPr>
              <a:t>~250,000</a:t>
            </a:r>
          </a:p>
        </p:txBody>
      </p:sp>
      <p:sp>
        <p:nvSpPr>
          <p:cNvPr id="16" name="TextBox 15"/>
          <p:cNvSpPr txBox="1"/>
          <p:nvPr/>
        </p:nvSpPr>
        <p:spPr>
          <a:xfrm>
            <a:off x="3337560" y="3630167"/>
            <a:ext cx="2560320" cy="274320"/>
          </a:xfrm>
          <a:prstGeom prst="rect">
            <a:avLst/>
          </a:prstGeom>
          <a:noFill/>
        </p:spPr>
        <p:txBody>
          <a:bodyPr wrap="square" lIns="0" rIns="0" tIns="0" bIns="0" anchor="t">
            <a:spAutoFit/>
          </a:bodyPr>
          <a:lstStyle/>
          <a:p>
            <a:pPr algn="r">
              <a:lnSpc>
                <a:spcPct val="115000"/>
              </a:lnSpc>
            </a:pPr>
            <a:r>
              <a:rPr sz="1100" b="0" i="0">
                <a:solidFill>
                  <a:srgbClr val="2E55D9"/>
                </a:solidFill>
                <a:latin typeface="Consolas"/>
              </a:rPr>
              <a:t>× 50%</a:t>
            </a:r>
          </a:p>
        </p:txBody>
      </p:sp>
      <p:sp>
        <p:nvSpPr>
          <p:cNvPr id="17" name="TextBox 16"/>
          <p:cNvSpPr txBox="1"/>
          <p:nvPr/>
        </p:nvSpPr>
        <p:spPr>
          <a:xfrm>
            <a:off x="868680" y="3886199"/>
            <a:ext cx="5029200" cy="237744"/>
          </a:xfrm>
          <a:prstGeom prst="rect">
            <a:avLst/>
          </a:prstGeom>
          <a:noFill/>
        </p:spPr>
        <p:txBody>
          <a:bodyPr wrap="square" lIns="0" rIns="0" tIns="0" bIns="0" anchor="t">
            <a:spAutoFit/>
          </a:bodyPr>
          <a:lstStyle/>
          <a:p>
            <a:pPr algn="l">
              <a:lnSpc>
                <a:spcPct val="115000"/>
              </a:lnSpc>
            </a:pPr>
            <a:r>
              <a:rPr sz="950" b="0" i="1">
                <a:solidFill>
                  <a:srgbClr val="4A5573"/>
                </a:solidFill>
                <a:latin typeface="Calibri"/>
              </a:rPr>
              <a:t>ICP trigger per GTM_POSITIONING §1.1</a:t>
            </a:r>
          </a:p>
        </p:txBody>
      </p:sp>
      <p:sp>
        <p:nvSpPr>
          <p:cNvPr id="18" name="TextBox 17"/>
          <p:cNvSpPr txBox="1"/>
          <p:nvPr/>
        </p:nvSpPr>
        <p:spPr>
          <a:xfrm>
            <a:off x="868680" y="4114799"/>
            <a:ext cx="5029200" cy="256032"/>
          </a:xfrm>
          <a:prstGeom prst="rect">
            <a:avLst/>
          </a:prstGeom>
          <a:noFill/>
        </p:spPr>
        <p:txBody>
          <a:bodyPr wrap="square" lIns="0" rIns="0" tIns="0" bIns="0" anchor="t">
            <a:spAutoFit/>
          </a:bodyPr>
          <a:lstStyle/>
          <a:p>
            <a:pPr algn="l">
              <a:lnSpc>
                <a:spcPct val="115000"/>
              </a:lnSpc>
            </a:pPr>
            <a:r>
              <a:rPr sz="1000" b="1" i="0">
                <a:solidFill>
                  <a:srgbClr val="4A5573"/>
                </a:solidFill>
                <a:latin typeface="Calibri"/>
              </a:rPr>
              <a:t>× willing to pay for evaluation tooling (attach rate)</a:t>
            </a:r>
          </a:p>
        </p:txBody>
      </p:sp>
      <p:sp>
        <p:nvSpPr>
          <p:cNvPr id="19" name="TextBox 18"/>
          <p:cNvSpPr txBox="1"/>
          <p:nvPr/>
        </p:nvSpPr>
        <p:spPr>
          <a:xfrm>
            <a:off x="868680" y="4343399"/>
            <a:ext cx="2377440" cy="320040"/>
          </a:xfrm>
          <a:prstGeom prst="rect">
            <a:avLst/>
          </a:prstGeom>
          <a:noFill/>
        </p:spPr>
        <p:txBody>
          <a:bodyPr wrap="square" lIns="0" rIns="0" tIns="0" bIns="0" anchor="t">
            <a:spAutoFit/>
          </a:bodyPr>
          <a:lstStyle/>
          <a:p>
            <a:pPr algn="l">
              <a:lnSpc>
                <a:spcPct val="115000"/>
              </a:lnSpc>
            </a:pPr>
            <a:r>
              <a:rPr sz="1800" b="1" i="0">
                <a:solidFill>
                  <a:srgbClr val="0F172E"/>
                </a:solidFill>
                <a:latin typeface="Calibri"/>
              </a:rPr>
              <a:t>~100,000</a:t>
            </a:r>
          </a:p>
        </p:txBody>
      </p:sp>
      <p:sp>
        <p:nvSpPr>
          <p:cNvPr id="20" name="TextBox 19"/>
          <p:cNvSpPr txBox="1"/>
          <p:nvPr/>
        </p:nvSpPr>
        <p:spPr>
          <a:xfrm>
            <a:off x="3337560" y="4407407"/>
            <a:ext cx="2560320" cy="274320"/>
          </a:xfrm>
          <a:prstGeom prst="rect">
            <a:avLst/>
          </a:prstGeom>
          <a:noFill/>
        </p:spPr>
        <p:txBody>
          <a:bodyPr wrap="square" lIns="0" rIns="0" tIns="0" bIns="0" anchor="t">
            <a:spAutoFit/>
          </a:bodyPr>
          <a:lstStyle/>
          <a:p>
            <a:pPr algn="r">
              <a:lnSpc>
                <a:spcPct val="115000"/>
              </a:lnSpc>
            </a:pPr>
            <a:r>
              <a:rPr sz="1100" b="0" i="0">
                <a:solidFill>
                  <a:srgbClr val="2E55D9"/>
                </a:solidFill>
                <a:latin typeface="Consolas"/>
              </a:rPr>
              <a:t>× 40%</a:t>
            </a:r>
          </a:p>
        </p:txBody>
      </p:sp>
      <p:sp>
        <p:nvSpPr>
          <p:cNvPr id="21" name="TextBox 20"/>
          <p:cNvSpPr txBox="1"/>
          <p:nvPr/>
        </p:nvSpPr>
        <p:spPr>
          <a:xfrm>
            <a:off x="868680" y="4663439"/>
            <a:ext cx="5029200" cy="237744"/>
          </a:xfrm>
          <a:prstGeom prst="rect">
            <a:avLst/>
          </a:prstGeom>
          <a:noFill/>
        </p:spPr>
        <p:txBody>
          <a:bodyPr wrap="square" lIns="0" rIns="0" tIns="0" bIns="0" anchor="t">
            <a:spAutoFit/>
          </a:bodyPr>
          <a:lstStyle/>
          <a:p>
            <a:pPr algn="l">
              <a:lnSpc>
                <a:spcPct val="115000"/>
              </a:lnSpc>
            </a:pPr>
            <a:r>
              <a:rPr sz="950" b="0" i="1">
                <a:solidFill>
                  <a:srgbClr val="4A5573"/>
                </a:solidFill>
                <a:latin typeface="Calibri"/>
              </a:rPr>
              <a:t>Conservative, anchored to procurement-tech ratio</a:t>
            </a:r>
          </a:p>
        </p:txBody>
      </p:sp>
      <p:sp>
        <p:nvSpPr>
          <p:cNvPr id="22" name="TextBox 21"/>
          <p:cNvSpPr txBox="1"/>
          <p:nvPr/>
        </p:nvSpPr>
        <p:spPr>
          <a:xfrm>
            <a:off x="868680" y="4892039"/>
            <a:ext cx="5029200" cy="256032"/>
          </a:xfrm>
          <a:prstGeom prst="rect">
            <a:avLst/>
          </a:prstGeom>
          <a:noFill/>
        </p:spPr>
        <p:txBody>
          <a:bodyPr wrap="square" lIns="0" rIns="0" tIns="0" bIns="0" anchor="t">
            <a:spAutoFit/>
          </a:bodyPr>
          <a:lstStyle/>
          <a:p>
            <a:pPr algn="l">
              <a:lnSpc>
                <a:spcPct val="115000"/>
              </a:lnSpc>
            </a:pPr>
            <a:r>
              <a:rPr sz="1000" b="1" i="0">
                <a:solidFill>
                  <a:srgbClr val="4A5573"/>
                </a:solidFill>
                <a:latin typeface="Calibri"/>
              </a:rPr>
              <a:t>= Buyer SAM at $8K avg ARR</a:t>
            </a:r>
          </a:p>
        </p:txBody>
      </p:sp>
      <p:sp>
        <p:nvSpPr>
          <p:cNvPr id="23" name="TextBox 22"/>
          <p:cNvSpPr txBox="1"/>
          <p:nvPr/>
        </p:nvSpPr>
        <p:spPr>
          <a:xfrm>
            <a:off x="868680" y="5120639"/>
            <a:ext cx="2377440" cy="320040"/>
          </a:xfrm>
          <a:prstGeom prst="rect">
            <a:avLst/>
          </a:prstGeom>
          <a:noFill/>
        </p:spPr>
        <p:txBody>
          <a:bodyPr wrap="square" lIns="0" rIns="0" tIns="0" bIns="0" anchor="t">
            <a:spAutoFit/>
          </a:bodyPr>
          <a:lstStyle/>
          <a:p>
            <a:pPr algn="l">
              <a:lnSpc>
                <a:spcPct val="115000"/>
              </a:lnSpc>
            </a:pPr>
            <a:r>
              <a:rPr sz="1800" b="1" i="0">
                <a:solidFill>
                  <a:srgbClr val="0F172E"/>
                </a:solidFill>
                <a:latin typeface="Calibri"/>
              </a:rPr>
              <a:t>$800M</a:t>
            </a:r>
          </a:p>
        </p:txBody>
      </p:sp>
      <p:sp>
        <p:nvSpPr>
          <p:cNvPr id="24" name="TextBox 23"/>
          <p:cNvSpPr txBox="1"/>
          <p:nvPr/>
        </p:nvSpPr>
        <p:spPr>
          <a:xfrm>
            <a:off x="3337560" y="5184647"/>
            <a:ext cx="2560320" cy="274320"/>
          </a:xfrm>
          <a:prstGeom prst="rect">
            <a:avLst/>
          </a:prstGeom>
          <a:noFill/>
        </p:spPr>
        <p:txBody>
          <a:bodyPr wrap="square" lIns="0" rIns="0" tIns="0" bIns="0" anchor="t">
            <a:spAutoFit/>
          </a:bodyPr>
          <a:lstStyle/>
          <a:p>
            <a:pPr algn="r">
              <a:lnSpc>
                <a:spcPct val="115000"/>
              </a:lnSpc>
            </a:pPr>
            <a:r>
              <a:rPr sz="1100" b="0" i="0">
                <a:solidFill>
                  <a:srgbClr val="2E55D9"/>
                </a:solidFill>
                <a:latin typeface="Consolas"/>
              </a:rPr>
              <a:t>attach</a:t>
            </a:r>
          </a:p>
        </p:txBody>
      </p:sp>
      <p:sp>
        <p:nvSpPr>
          <p:cNvPr id="25" name="TextBox 24"/>
          <p:cNvSpPr txBox="1"/>
          <p:nvPr/>
        </p:nvSpPr>
        <p:spPr>
          <a:xfrm>
            <a:off x="868680" y="5440679"/>
            <a:ext cx="5029200" cy="237744"/>
          </a:xfrm>
          <a:prstGeom prst="rect">
            <a:avLst/>
          </a:prstGeom>
          <a:noFill/>
        </p:spPr>
        <p:txBody>
          <a:bodyPr wrap="square" lIns="0" rIns="0" tIns="0" bIns="0" anchor="t">
            <a:spAutoFit/>
          </a:bodyPr>
          <a:lstStyle/>
          <a:p>
            <a:pPr algn="l">
              <a:lnSpc>
                <a:spcPct val="115000"/>
              </a:lnSpc>
            </a:pPr>
            <a:r>
              <a:rPr sz="950" b="0" i="1">
                <a:solidFill>
                  <a:srgbClr val="4A5573"/>
                </a:solidFill>
                <a:latin typeface="Calibri"/>
              </a:rPr>
              <a:t>Blend of Starter / Growth / Scale at exit mix</a:t>
            </a:r>
          </a:p>
        </p:txBody>
      </p:sp>
      <p:sp>
        <p:nvSpPr>
          <p:cNvPr id="26" name="Rectangle 25"/>
          <p:cNvSpPr/>
          <p:nvPr/>
        </p:nvSpPr>
        <p:spPr>
          <a:xfrm>
            <a:off x="6263640" y="1874519"/>
            <a:ext cx="5577840" cy="393192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63640" y="1874519"/>
            <a:ext cx="5577840" cy="731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0" y="2075687"/>
            <a:ext cx="5120640" cy="365760"/>
          </a:xfrm>
          <a:prstGeom prst="rect">
            <a:avLst/>
          </a:prstGeom>
          <a:noFill/>
        </p:spPr>
        <p:txBody>
          <a:bodyPr wrap="square" lIns="0" rIns="0" tIns="0" bIns="0" anchor="t">
            <a:spAutoFit/>
          </a:bodyPr>
          <a:lstStyle/>
          <a:p>
            <a:pPr algn="l">
              <a:lnSpc>
                <a:spcPct val="115000"/>
              </a:lnSpc>
            </a:pPr>
            <a:r>
              <a:rPr sz="1200" b="1" i="0">
                <a:solidFill>
                  <a:srgbClr val="0F172E"/>
                </a:solidFill>
                <a:latin typeface="Calibri"/>
              </a:rPr>
              <a:t>SELLER SIDE — RFP response + discovery addressable accounts</a:t>
            </a:r>
          </a:p>
        </p:txBody>
      </p:sp>
      <p:sp>
        <p:nvSpPr>
          <p:cNvPr id="29" name="TextBox 28"/>
          <p:cNvSpPr txBox="1"/>
          <p:nvPr/>
        </p:nvSpPr>
        <p:spPr>
          <a:xfrm>
            <a:off x="6583680" y="2560319"/>
            <a:ext cx="5029200" cy="256032"/>
          </a:xfrm>
          <a:prstGeom prst="rect">
            <a:avLst/>
          </a:prstGeom>
          <a:noFill/>
        </p:spPr>
        <p:txBody>
          <a:bodyPr wrap="square" lIns="0" rIns="0" tIns="0" bIns="0" anchor="t">
            <a:spAutoFit/>
          </a:bodyPr>
          <a:lstStyle/>
          <a:p>
            <a:pPr algn="l">
              <a:lnSpc>
                <a:spcPct val="115000"/>
              </a:lnSpc>
            </a:pPr>
            <a:r>
              <a:rPr sz="1000" b="1" i="0">
                <a:solidFill>
                  <a:srgbClr val="4A5573"/>
                </a:solidFill>
                <a:latin typeface="Calibri"/>
              </a:rPr>
              <a:t>B2B SaaS + regulated-vertical vendors globally</a:t>
            </a:r>
          </a:p>
        </p:txBody>
      </p:sp>
      <p:sp>
        <p:nvSpPr>
          <p:cNvPr id="30" name="TextBox 29"/>
          <p:cNvSpPr txBox="1"/>
          <p:nvPr/>
        </p:nvSpPr>
        <p:spPr>
          <a:xfrm>
            <a:off x="6583680" y="2788919"/>
            <a:ext cx="2377440" cy="320040"/>
          </a:xfrm>
          <a:prstGeom prst="rect">
            <a:avLst/>
          </a:prstGeom>
          <a:noFill/>
        </p:spPr>
        <p:txBody>
          <a:bodyPr wrap="square" lIns="0" rIns="0" tIns="0" bIns="0" anchor="t">
            <a:spAutoFit/>
          </a:bodyPr>
          <a:lstStyle/>
          <a:p>
            <a:pPr algn="l">
              <a:lnSpc>
                <a:spcPct val="115000"/>
              </a:lnSpc>
            </a:pPr>
            <a:r>
              <a:rPr sz="1800" b="1" i="0">
                <a:solidFill>
                  <a:srgbClr val="0F172E"/>
                </a:solidFill>
                <a:latin typeface="Calibri"/>
              </a:rPr>
              <a:t>~200,000</a:t>
            </a:r>
          </a:p>
        </p:txBody>
      </p:sp>
      <p:sp>
        <p:nvSpPr>
          <p:cNvPr id="31" name="TextBox 30"/>
          <p:cNvSpPr txBox="1"/>
          <p:nvPr/>
        </p:nvSpPr>
        <p:spPr>
          <a:xfrm>
            <a:off x="9052560" y="2852927"/>
            <a:ext cx="2560320" cy="274320"/>
          </a:xfrm>
          <a:prstGeom prst="rect">
            <a:avLst/>
          </a:prstGeom>
          <a:noFill/>
        </p:spPr>
        <p:txBody>
          <a:bodyPr wrap="square" lIns="0" rIns="0" tIns="0" bIns="0" anchor="t">
            <a:spAutoFit/>
          </a:bodyPr>
          <a:lstStyle/>
          <a:p>
            <a:pPr algn="r">
              <a:lnSpc>
                <a:spcPct val="115000"/>
              </a:lnSpc>
            </a:pPr>
            <a:r>
              <a:rPr sz="1100" b="0" i="0">
                <a:solidFill>
                  <a:srgbClr val="7C3AED"/>
                </a:solidFill>
                <a:latin typeface="Consolas"/>
              </a:rPr>
              <a:t>start</a:t>
            </a:r>
          </a:p>
        </p:txBody>
      </p:sp>
      <p:sp>
        <p:nvSpPr>
          <p:cNvPr id="32" name="TextBox 31"/>
          <p:cNvSpPr txBox="1"/>
          <p:nvPr/>
        </p:nvSpPr>
        <p:spPr>
          <a:xfrm>
            <a:off x="6583680" y="3108959"/>
            <a:ext cx="5029200" cy="237744"/>
          </a:xfrm>
          <a:prstGeom prst="rect">
            <a:avLst/>
          </a:prstGeom>
          <a:noFill/>
        </p:spPr>
        <p:txBody>
          <a:bodyPr wrap="square" lIns="0" rIns="0" tIns="0" bIns="0" anchor="t">
            <a:spAutoFit/>
          </a:bodyPr>
          <a:lstStyle/>
          <a:p>
            <a:pPr algn="l">
              <a:lnSpc>
                <a:spcPct val="115000"/>
              </a:lnSpc>
            </a:pPr>
            <a:r>
              <a:rPr sz="950" b="0" i="1">
                <a:solidFill>
                  <a:srgbClr val="4A5573"/>
                </a:solidFill>
                <a:latin typeface="Calibri"/>
              </a:rPr>
              <a:t>Venture-backed + bootstrapped, $1M+ ARR</a:t>
            </a:r>
          </a:p>
        </p:txBody>
      </p:sp>
      <p:sp>
        <p:nvSpPr>
          <p:cNvPr id="33" name="TextBox 32"/>
          <p:cNvSpPr txBox="1"/>
          <p:nvPr/>
        </p:nvSpPr>
        <p:spPr>
          <a:xfrm>
            <a:off x="6583680" y="3337559"/>
            <a:ext cx="5029200" cy="256032"/>
          </a:xfrm>
          <a:prstGeom prst="rect">
            <a:avLst/>
          </a:prstGeom>
          <a:noFill/>
        </p:spPr>
        <p:txBody>
          <a:bodyPr wrap="square" lIns="0" rIns="0" tIns="0" bIns="0" anchor="t">
            <a:spAutoFit/>
          </a:bodyPr>
          <a:lstStyle/>
          <a:p>
            <a:pPr algn="l">
              <a:lnSpc>
                <a:spcPct val="115000"/>
              </a:lnSpc>
            </a:pPr>
            <a:r>
              <a:rPr sz="1000" b="1" i="0">
                <a:solidFill>
                  <a:srgbClr val="4A5573"/>
                </a:solidFill>
                <a:latin typeface="Calibri"/>
              </a:rPr>
              <a:t>× with material RFP volume (≥10/yr)</a:t>
            </a:r>
          </a:p>
        </p:txBody>
      </p:sp>
      <p:sp>
        <p:nvSpPr>
          <p:cNvPr id="34" name="TextBox 33"/>
          <p:cNvSpPr txBox="1"/>
          <p:nvPr/>
        </p:nvSpPr>
        <p:spPr>
          <a:xfrm>
            <a:off x="6583680" y="3566159"/>
            <a:ext cx="2377440" cy="320040"/>
          </a:xfrm>
          <a:prstGeom prst="rect">
            <a:avLst/>
          </a:prstGeom>
          <a:noFill/>
        </p:spPr>
        <p:txBody>
          <a:bodyPr wrap="square" lIns="0" rIns="0" tIns="0" bIns="0" anchor="t">
            <a:spAutoFit/>
          </a:bodyPr>
          <a:lstStyle/>
          <a:p>
            <a:pPr algn="l">
              <a:lnSpc>
                <a:spcPct val="115000"/>
              </a:lnSpc>
            </a:pPr>
            <a:r>
              <a:rPr sz="1800" b="1" i="0">
                <a:solidFill>
                  <a:srgbClr val="0F172E"/>
                </a:solidFill>
                <a:latin typeface="Calibri"/>
              </a:rPr>
              <a:t>~100,000</a:t>
            </a:r>
          </a:p>
        </p:txBody>
      </p:sp>
      <p:sp>
        <p:nvSpPr>
          <p:cNvPr id="35" name="TextBox 34"/>
          <p:cNvSpPr txBox="1"/>
          <p:nvPr/>
        </p:nvSpPr>
        <p:spPr>
          <a:xfrm>
            <a:off x="9052560" y="3630167"/>
            <a:ext cx="2560320" cy="274320"/>
          </a:xfrm>
          <a:prstGeom prst="rect">
            <a:avLst/>
          </a:prstGeom>
          <a:noFill/>
        </p:spPr>
        <p:txBody>
          <a:bodyPr wrap="square" lIns="0" rIns="0" tIns="0" bIns="0" anchor="t">
            <a:spAutoFit/>
          </a:bodyPr>
          <a:lstStyle/>
          <a:p>
            <a:pPr algn="r">
              <a:lnSpc>
                <a:spcPct val="115000"/>
              </a:lnSpc>
            </a:pPr>
            <a:r>
              <a:rPr sz="1100" b="0" i="0">
                <a:solidFill>
                  <a:srgbClr val="7C3AED"/>
                </a:solidFill>
                <a:latin typeface="Consolas"/>
              </a:rPr>
              <a:t>× 50%</a:t>
            </a:r>
          </a:p>
        </p:txBody>
      </p:sp>
      <p:sp>
        <p:nvSpPr>
          <p:cNvPr id="36" name="TextBox 35"/>
          <p:cNvSpPr txBox="1"/>
          <p:nvPr/>
        </p:nvSpPr>
        <p:spPr>
          <a:xfrm>
            <a:off x="6583680" y="3886199"/>
            <a:ext cx="5029200" cy="237744"/>
          </a:xfrm>
          <a:prstGeom prst="rect">
            <a:avLst/>
          </a:prstGeom>
          <a:noFill/>
        </p:spPr>
        <p:txBody>
          <a:bodyPr wrap="square" lIns="0" rIns="0" tIns="0" bIns="0" anchor="t">
            <a:spAutoFit/>
          </a:bodyPr>
          <a:lstStyle/>
          <a:p>
            <a:pPr algn="l">
              <a:lnSpc>
                <a:spcPct val="115000"/>
              </a:lnSpc>
            </a:pPr>
            <a:r>
              <a:rPr sz="950" b="0" i="1">
                <a:solidFill>
                  <a:srgbClr val="4A5573"/>
                </a:solidFill>
                <a:latin typeface="Calibri"/>
              </a:rPr>
              <a:t>Primary + Expansion ICP per §1.2.1</a:t>
            </a:r>
          </a:p>
        </p:txBody>
      </p:sp>
      <p:sp>
        <p:nvSpPr>
          <p:cNvPr id="37" name="TextBox 36"/>
          <p:cNvSpPr txBox="1"/>
          <p:nvPr/>
        </p:nvSpPr>
        <p:spPr>
          <a:xfrm>
            <a:off x="6583680" y="4114799"/>
            <a:ext cx="5029200" cy="256032"/>
          </a:xfrm>
          <a:prstGeom prst="rect">
            <a:avLst/>
          </a:prstGeom>
          <a:noFill/>
        </p:spPr>
        <p:txBody>
          <a:bodyPr wrap="square" lIns="0" rIns="0" tIns="0" bIns="0" anchor="t">
            <a:spAutoFit/>
          </a:bodyPr>
          <a:lstStyle/>
          <a:p>
            <a:pPr algn="l">
              <a:lnSpc>
                <a:spcPct val="115000"/>
              </a:lnSpc>
            </a:pPr>
            <a:r>
              <a:rPr sz="1000" b="1" i="0">
                <a:solidFill>
                  <a:srgbClr val="4A5573"/>
                </a:solidFill>
                <a:latin typeface="Calibri"/>
              </a:rPr>
              <a:t>× willing to pay (attach rate)</a:t>
            </a:r>
          </a:p>
        </p:txBody>
      </p:sp>
      <p:sp>
        <p:nvSpPr>
          <p:cNvPr id="38" name="TextBox 37"/>
          <p:cNvSpPr txBox="1"/>
          <p:nvPr/>
        </p:nvSpPr>
        <p:spPr>
          <a:xfrm>
            <a:off x="6583680" y="4343399"/>
            <a:ext cx="2377440" cy="320040"/>
          </a:xfrm>
          <a:prstGeom prst="rect">
            <a:avLst/>
          </a:prstGeom>
          <a:noFill/>
        </p:spPr>
        <p:txBody>
          <a:bodyPr wrap="square" lIns="0" rIns="0" tIns="0" bIns="0" anchor="t">
            <a:spAutoFit/>
          </a:bodyPr>
          <a:lstStyle/>
          <a:p>
            <a:pPr algn="l">
              <a:lnSpc>
                <a:spcPct val="115000"/>
              </a:lnSpc>
            </a:pPr>
            <a:r>
              <a:rPr sz="1800" b="1" i="0">
                <a:solidFill>
                  <a:srgbClr val="0F172E"/>
                </a:solidFill>
                <a:latin typeface="Calibri"/>
              </a:rPr>
              <a:t>~50,000</a:t>
            </a:r>
          </a:p>
        </p:txBody>
      </p:sp>
      <p:sp>
        <p:nvSpPr>
          <p:cNvPr id="39" name="TextBox 38"/>
          <p:cNvSpPr txBox="1"/>
          <p:nvPr/>
        </p:nvSpPr>
        <p:spPr>
          <a:xfrm>
            <a:off x="9052560" y="4407407"/>
            <a:ext cx="2560320" cy="274320"/>
          </a:xfrm>
          <a:prstGeom prst="rect">
            <a:avLst/>
          </a:prstGeom>
          <a:noFill/>
        </p:spPr>
        <p:txBody>
          <a:bodyPr wrap="square" lIns="0" rIns="0" tIns="0" bIns="0" anchor="t">
            <a:spAutoFit/>
          </a:bodyPr>
          <a:lstStyle/>
          <a:p>
            <a:pPr algn="r">
              <a:lnSpc>
                <a:spcPct val="115000"/>
              </a:lnSpc>
            </a:pPr>
            <a:r>
              <a:rPr sz="1100" b="0" i="0">
                <a:solidFill>
                  <a:srgbClr val="7C3AED"/>
                </a:solidFill>
                <a:latin typeface="Consolas"/>
              </a:rPr>
              <a:t>× 50%</a:t>
            </a:r>
          </a:p>
        </p:txBody>
      </p:sp>
      <p:sp>
        <p:nvSpPr>
          <p:cNvPr id="40" name="TextBox 39"/>
          <p:cNvSpPr txBox="1"/>
          <p:nvPr/>
        </p:nvSpPr>
        <p:spPr>
          <a:xfrm>
            <a:off x="6583680" y="4663439"/>
            <a:ext cx="5029200" cy="237744"/>
          </a:xfrm>
          <a:prstGeom prst="rect">
            <a:avLst/>
          </a:prstGeom>
          <a:noFill/>
        </p:spPr>
        <p:txBody>
          <a:bodyPr wrap="square" lIns="0" rIns="0" tIns="0" bIns="0" anchor="t">
            <a:spAutoFit/>
          </a:bodyPr>
          <a:lstStyle/>
          <a:p>
            <a:pPr algn="l">
              <a:lnSpc>
                <a:spcPct val="115000"/>
              </a:lnSpc>
            </a:pPr>
            <a:r>
              <a:rPr sz="950" b="0" i="1">
                <a:solidFill>
                  <a:srgbClr val="4A5573"/>
                </a:solidFill>
                <a:latin typeface="Calibri"/>
              </a:rPr>
              <a:t>Higher attach: forced-signup path lowers CAC</a:t>
            </a:r>
          </a:p>
        </p:txBody>
      </p:sp>
      <p:sp>
        <p:nvSpPr>
          <p:cNvPr id="41" name="TextBox 40"/>
          <p:cNvSpPr txBox="1"/>
          <p:nvPr/>
        </p:nvSpPr>
        <p:spPr>
          <a:xfrm>
            <a:off x="6583680" y="4892039"/>
            <a:ext cx="5029200" cy="256032"/>
          </a:xfrm>
          <a:prstGeom prst="rect">
            <a:avLst/>
          </a:prstGeom>
          <a:noFill/>
        </p:spPr>
        <p:txBody>
          <a:bodyPr wrap="square" lIns="0" rIns="0" tIns="0" bIns="0" anchor="t">
            <a:spAutoFit/>
          </a:bodyPr>
          <a:lstStyle/>
          <a:p>
            <a:pPr algn="l">
              <a:lnSpc>
                <a:spcPct val="115000"/>
              </a:lnSpc>
            </a:pPr>
            <a:r>
              <a:rPr sz="1000" b="1" i="0">
                <a:solidFill>
                  <a:srgbClr val="4A5573"/>
                </a:solidFill>
                <a:latin typeface="Calibri"/>
              </a:rPr>
              <a:t>= Seller SAM at $4K avg ARR</a:t>
            </a:r>
          </a:p>
        </p:txBody>
      </p:sp>
      <p:sp>
        <p:nvSpPr>
          <p:cNvPr id="42" name="TextBox 41"/>
          <p:cNvSpPr txBox="1"/>
          <p:nvPr/>
        </p:nvSpPr>
        <p:spPr>
          <a:xfrm>
            <a:off x="6583680" y="5120639"/>
            <a:ext cx="2377440" cy="320040"/>
          </a:xfrm>
          <a:prstGeom prst="rect">
            <a:avLst/>
          </a:prstGeom>
          <a:noFill/>
        </p:spPr>
        <p:txBody>
          <a:bodyPr wrap="square" lIns="0" rIns="0" tIns="0" bIns="0" anchor="t">
            <a:spAutoFit/>
          </a:bodyPr>
          <a:lstStyle/>
          <a:p>
            <a:pPr algn="l">
              <a:lnSpc>
                <a:spcPct val="115000"/>
              </a:lnSpc>
            </a:pPr>
            <a:r>
              <a:rPr sz="1800" b="1" i="0">
                <a:solidFill>
                  <a:srgbClr val="0F172E"/>
                </a:solidFill>
                <a:latin typeface="Calibri"/>
              </a:rPr>
              <a:t>$200M</a:t>
            </a:r>
          </a:p>
        </p:txBody>
      </p:sp>
      <p:sp>
        <p:nvSpPr>
          <p:cNvPr id="43" name="TextBox 42"/>
          <p:cNvSpPr txBox="1"/>
          <p:nvPr/>
        </p:nvSpPr>
        <p:spPr>
          <a:xfrm>
            <a:off x="9052560" y="5184647"/>
            <a:ext cx="2560320" cy="274320"/>
          </a:xfrm>
          <a:prstGeom prst="rect">
            <a:avLst/>
          </a:prstGeom>
          <a:noFill/>
        </p:spPr>
        <p:txBody>
          <a:bodyPr wrap="square" lIns="0" rIns="0" tIns="0" bIns="0" anchor="t">
            <a:spAutoFit/>
          </a:bodyPr>
          <a:lstStyle/>
          <a:p>
            <a:pPr algn="r">
              <a:lnSpc>
                <a:spcPct val="115000"/>
              </a:lnSpc>
            </a:pPr>
            <a:r>
              <a:rPr sz="1100" b="0" i="0">
                <a:solidFill>
                  <a:srgbClr val="7C3AED"/>
                </a:solidFill>
                <a:latin typeface="Consolas"/>
              </a:rPr>
              <a:t>attach</a:t>
            </a:r>
          </a:p>
        </p:txBody>
      </p:sp>
      <p:sp>
        <p:nvSpPr>
          <p:cNvPr id="44" name="TextBox 43"/>
          <p:cNvSpPr txBox="1"/>
          <p:nvPr/>
        </p:nvSpPr>
        <p:spPr>
          <a:xfrm>
            <a:off x="6583680" y="5440679"/>
            <a:ext cx="5029200" cy="237744"/>
          </a:xfrm>
          <a:prstGeom prst="rect">
            <a:avLst/>
          </a:prstGeom>
          <a:noFill/>
        </p:spPr>
        <p:txBody>
          <a:bodyPr wrap="square" lIns="0" rIns="0" tIns="0" bIns="0" anchor="t">
            <a:spAutoFit/>
          </a:bodyPr>
          <a:lstStyle/>
          <a:p>
            <a:pPr algn="l">
              <a:lnSpc>
                <a:spcPct val="115000"/>
              </a:lnSpc>
            </a:pPr>
            <a:r>
              <a:rPr sz="950" b="0" i="1">
                <a:solidFill>
                  <a:srgbClr val="4A5573"/>
                </a:solidFill>
                <a:latin typeface="Calibri"/>
              </a:rPr>
              <a:t>Blend of Starter / Growth / Scale at exit mix</a:t>
            </a:r>
          </a:p>
        </p:txBody>
      </p:sp>
      <p:sp>
        <p:nvSpPr>
          <p:cNvPr id="45" name="Rectangle 44"/>
          <p:cNvSpPr/>
          <p:nvPr/>
        </p:nvSpPr>
        <p:spPr>
          <a:xfrm>
            <a:off x="548640" y="5897880"/>
            <a:ext cx="11094415" cy="384048"/>
          </a:xfrm>
          <a:prstGeom prst="rect">
            <a:avLst/>
          </a:prstGeom>
          <a:solidFill>
            <a:srgbClr val="0A14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48640" y="5897880"/>
            <a:ext cx="73152" cy="384048"/>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31520" y="5971032"/>
            <a:ext cx="10911535" cy="256032"/>
          </a:xfrm>
          <a:prstGeom prst="rect">
            <a:avLst/>
          </a:prstGeom>
          <a:noFill/>
        </p:spPr>
        <p:txBody>
          <a:bodyPr wrap="square" lIns="0" rIns="0" tIns="0" bIns="0" anchor="t">
            <a:spAutoFit/>
          </a:bodyPr>
          <a:lstStyle/>
          <a:p>
            <a:pPr algn="l">
              <a:lnSpc>
                <a:spcPct val="120000"/>
              </a:lnSpc>
            </a:pPr>
            <a:r>
              <a:rPr sz="1100" b="1" i="0">
                <a:solidFill>
                  <a:srgbClr val="F4B400"/>
                </a:solidFill>
                <a:latin typeface="Calibri"/>
              </a:rPr>
              <a:t>YEAR-3 SOM  ·  </a:t>
            </a:r>
            <a:r>
              <a:rPr sz="1100" b="0" i="0">
                <a:solidFill>
                  <a:srgbClr val="FFFFFF"/>
                </a:solidFill>
                <a:latin typeface="Calibri"/>
              </a:rPr>
              <a:t>2,500 buyer accounts + 5,000 seller accounts  ·  </a:t>
            </a:r>
            <a:r>
              <a:rPr sz="1300" b="1" i="0">
                <a:solidFill>
                  <a:srgbClr val="F4B400"/>
                </a:solidFill>
                <a:latin typeface="Calibri"/>
              </a:rPr>
              <a:t>~$30M ARR</a:t>
            </a:r>
            <a:r>
              <a:rPr sz="1100" b="0" i="1">
                <a:solidFill>
                  <a:srgbClr val="A8B2CC"/>
                </a:solidFill>
                <a:latin typeface="Calibri"/>
              </a:rPr>
              <a:t>  ·  ≤3% of combined SAM.</a:t>
            </a:r>
          </a:p>
        </p:txBody>
      </p:sp>
      <p:cxnSp>
        <p:nvCxnSpPr>
          <p:cNvPr id="48" name="Connector 47"/>
          <p:cNvCxnSpPr/>
          <p:nvPr/>
        </p:nvCxnSpPr>
        <p:spPr>
          <a:xfrm>
            <a:off x="548640" y="6355080"/>
            <a:ext cx="11094415" cy="0"/>
          </a:xfrm>
          <a:prstGeom prst="line">
            <a:avLst/>
          </a:prstGeom>
          <a:ln w="9525">
            <a:solidFill>
              <a:srgbClr val="D8DFEE"/>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548640" y="6437376"/>
            <a:ext cx="3657600" cy="274320"/>
          </a:xfrm>
          <a:prstGeom prst="rect">
            <a:avLst/>
          </a:prstGeom>
          <a:noFill/>
        </p:spPr>
        <p:txBody>
          <a:bodyPr wrap="square" lIns="0" rIns="0" tIns="0" bIns="0" anchor="t">
            <a:spAutoFit/>
          </a:bodyPr>
          <a:lstStyle/>
          <a:p>
            <a:pPr algn="l">
              <a:lnSpc>
                <a:spcPct val="115000"/>
              </a:lnSpc>
            </a:pPr>
            <a:r>
              <a:rPr sz="900" b="1" i="0">
                <a:solidFill>
                  <a:srgbClr val="4A5573"/>
                </a:solidFill>
                <a:latin typeface="Calibri"/>
              </a:rPr>
              <a:t>SOURCERA  ·  MARKET SIZE</a:t>
            </a:r>
          </a:p>
        </p:txBody>
      </p:sp>
      <p:sp>
        <p:nvSpPr>
          <p:cNvPr id="50" name="TextBox 49"/>
          <p:cNvSpPr txBox="1"/>
          <p:nvPr/>
        </p:nvSpPr>
        <p:spPr>
          <a:xfrm>
            <a:off x="10362895" y="6437376"/>
            <a:ext cx="1280160" cy="274320"/>
          </a:xfrm>
          <a:prstGeom prst="rect">
            <a:avLst/>
          </a:prstGeom>
          <a:noFill/>
        </p:spPr>
        <p:txBody>
          <a:bodyPr wrap="square" lIns="0" rIns="0" tIns="0" bIns="0" anchor="t">
            <a:spAutoFit/>
          </a:bodyPr>
          <a:lstStyle/>
          <a:p>
            <a:pPr algn="r">
              <a:lnSpc>
                <a:spcPct val="115000"/>
              </a:lnSpc>
            </a:pPr>
            <a:r>
              <a:rPr sz="900" b="0" i="0">
                <a:solidFill>
                  <a:srgbClr val="4A5573"/>
                </a:solidFill>
                <a:latin typeface="Calibri"/>
              </a:rPr>
              <a:t>12 / 19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21792"/>
            <a:ext cx="365760" cy="73152"/>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548640"/>
            <a:ext cx="9144000" cy="274320"/>
          </a:xfrm>
          <a:prstGeom prst="rect">
            <a:avLst/>
          </a:prstGeom>
          <a:noFill/>
        </p:spPr>
        <p:txBody>
          <a:bodyPr wrap="square" lIns="0" rIns="0" tIns="0" bIns="0" anchor="t">
            <a:spAutoFit/>
          </a:bodyPr>
          <a:lstStyle/>
          <a:p>
            <a:pPr algn="l">
              <a:lnSpc>
                <a:spcPct val="115000"/>
              </a:lnSpc>
            </a:pPr>
            <a:r>
              <a:rPr sz="1000" b="1" i="0">
                <a:solidFill>
                  <a:srgbClr val="4A7BFF"/>
                </a:solidFill>
                <a:latin typeface="Calibri"/>
              </a:rPr>
              <a:t>COMPETITIVE LANDSCAPE</a:t>
            </a:r>
          </a:p>
        </p:txBody>
      </p:sp>
      <p:sp>
        <p:nvSpPr>
          <p:cNvPr id="5" name="TextBox 4"/>
          <p:cNvSpPr txBox="1"/>
          <p:nvPr/>
        </p:nvSpPr>
        <p:spPr>
          <a:xfrm>
            <a:off x="548640" y="822960"/>
            <a:ext cx="10972800" cy="822960"/>
          </a:xfrm>
          <a:prstGeom prst="rect">
            <a:avLst/>
          </a:prstGeom>
          <a:noFill/>
        </p:spPr>
        <p:txBody>
          <a:bodyPr wrap="square" lIns="0" rIns="0" tIns="0" bIns="0" anchor="t">
            <a:spAutoFit/>
          </a:bodyPr>
          <a:lstStyle/>
          <a:p>
            <a:pPr algn="l">
              <a:lnSpc>
                <a:spcPct val="105000"/>
              </a:lnSpc>
            </a:pPr>
            <a:r>
              <a:rPr sz="3600" b="1" i="0">
                <a:solidFill>
                  <a:srgbClr val="0F172E"/>
                </a:solidFill>
                <a:latin typeface="Calibri"/>
              </a:rPr>
              <a:t>One platform. Both sides. Full depth.</a:t>
            </a:r>
          </a:p>
        </p:txBody>
      </p:sp>
      <p:sp>
        <p:nvSpPr>
          <p:cNvPr id="6" name="TextBox 5"/>
          <p:cNvSpPr txBox="1"/>
          <p:nvPr/>
        </p:nvSpPr>
        <p:spPr>
          <a:xfrm>
            <a:off x="548640" y="1508760"/>
            <a:ext cx="10972800" cy="457200"/>
          </a:xfrm>
          <a:prstGeom prst="rect">
            <a:avLst/>
          </a:prstGeom>
          <a:noFill/>
        </p:spPr>
        <p:txBody>
          <a:bodyPr wrap="square" lIns="0" rIns="0" tIns="0" bIns="0" anchor="t">
            <a:spAutoFit/>
          </a:bodyPr>
          <a:lstStyle/>
          <a:p>
            <a:pPr algn="l">
              <a:lnSpc>
                <a:spcPct val="125000"/>
              </a:lnSpc>
            </a:pPr>
            <a:r>
              <a:rPr sz="1500" b="0" i="0">
                <a:solidFill>
                  <a:srgbClr val="4A5573"/>
                </a:solidFill>
                <a:latin typeface="Calibri"/>
              </a:rPr>
              <a:t>Each competitor is credible in their quadrant. None of them is in ours.</a:t>
            </a:r>
          </a:p>
        </p:txBody>
      </p:sp>
      <p:sp>
        <p:nvSpPr>
          <p:cNvPr id="7" name="Rectangle 6"/>
          <p:cNvSpPr/>
          <p:nvPr/>
        </p:nvSpPr>
        <p:spPr>
          <a:xfrm>
            <a:off x="914400" y="2103120"/>
            <a:ext cx="6583680" cy="3749039"/>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a:off x="4206240.0" y="2103120"/>
            <a:ext cx="0.0" cy="3749039"/>
          </a:xfrm>
          <a:prstGeom prst="line">
            <a:avLst/>
          </a:prstGeom>
          <a:ln w="9525">
            <a:solidFill>
              <a:srgbClr val="D8DFEE"/>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914400" y="3977639.5"/>
            <a:ext cx="6583680" cy="0.0"/>
          </a:xfrm>
          <a:prstGeom prst="line">
            <a:avLst/>
          </a:prstGeom>
          <a:ln w="9525">
            <a:solidFill>
              <a:srgbClr val="D8DFE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914400" y="5943599"/>
            <a:ext cx="6583680" cy="237744"/>
          </a:xfrm>
          <a:prstGeom prst="rect">
            <a:avLst/>
          </a:prstGeom>
          <a:noFill/>
        </p:spPr>
        <p:txBody>
          <a:bodyPr wrap="square" lIns="0" rIns="0" tIns="0" bIns="0" anchor="t">
            <a:spAutoFit/>
          </a:bodyPr>
          <a:lstStyle/>
          <a:p>
            <a:pPr algn="ctr">
              <a:lnSpc>
                <a:spcPct val="115000"/>
              </a:lnSpc>
            </a:pPr>
            <a:r>
              <a:rPr sz="1000" b="1" i="0">
                <a:solidFill>
                  <a:srgbClr val="4A5573"/>
                </a:solidFill>
                <a:latin typeface="Calibri"/>
              </a:rPr>
              <a:t>— TWO-SIDED COVERAGE →</a:t>
            </a:r>
          </a:p>
        </p:txBody>
      </p:sp>
      <p:sp>
        <p:nvSpPr>
          <p:cNvPr id="11" name="TextBox 10"/>
          <p:cNvSpPr txBox="1"/>
          <p:nvPr/>
        </p:nvSpPr>
        <p:spPr>
          <a:xfrm rot="16200000">
            <a:off x="1874519" y="3840479"/>
            <a:ext cx="3749039" cy="274320"/>
          </a:xfrm>
          <a:prstGeom prst="rect">
            <a:avLst/>
          </a:prstGeom>
          <a:noFill/>
        </p:spPr>
        <p:txBody>
          <a:bodyPr wrap="none" lIns="0" rIns="0" tIns="0" bIns="0" anchor="ctr">
            <a:spAutoFit/>
          </a:bodyPr>
          <a:lstStyle/>
          <a:p>
            <a:pPr algn="ctr"/>
            <a:r>
              <a:rPr sz="1000" b="1">
                <a:solidFill>
                  <a:srgbClr val="4A5573"/>
                </a:solidFill>
                <a:latin typeface="Calibri"/>
              </a:rPr>
              <a:t>— EVALUATION DEPTH →</a:t>
            </a:r>
          </a:p>
        </p:txBody>
      </p:sp>
      <p:sp>
        <p:nvSpPr>
          <p:cNvPr id="12" name="TextBox 11"/>
          <p:cNvSpPr txBox="1"/>
          <p:nvPr/>
        </p:nvSpPr>
        <p:spPr>
          <a:xfrm>
            <a:off x="1097280" y="2194560"/>
            <a:ext cx="2926080" cy="274320"/>
          </a:xfrm>
          <a:prstGeom prst="rect">
            <a:avLst/>
          </a:prstGeom>
          <a:noFill/>
        </p:spPr>
        <p:txBody>
          <a:bodyPr wrap="square" lIns="0" rIns="0" tIns="0" bIns="0" anchor="t">
            <a:spAutoFit/>
          </a:bodyPr>
          <a:lstStyle/>
          <a:p>
            <a:pPr algn="l">
              <a:lnSpc>
                <a:spcPct val="115000"/>
              </a:lnSpc>
            </a:pPr>
            <a:r>
              <a:rPr sz="900" b="1" i="0">
                <a:solidFill>
                  <a:srgbClr val="2E55D9"/>
                </a:solidFill>
                <a:latin typeface="Calibri"/>
              </a:rPr>
              <a:t>HIGH DEPTH  ·  SINGLE-SIDED</a:t>
            </a:r>
          </a:p>
        </p:txBody>
      </p:sp>
      <p:sp>
        <p:nvSpPr>
          <p:cNvPr id="13" name="TextBox 12"/>
          <p:cNvSpPr txBox="1"/>
          <p:nvPr/>
        </p:nvSpPr>
        <p:spPr>
          <a:xfrm>
            <a:off x="1097280" y="2468880"/>
            <a:ext cx="2926080" cy="274320"/>
          </a:xfrm>
          <a:prstGeom prst="rect">
            <a:avLst/>
          </a:prstGeom>
          <a:noFill/>
        </p:spPr>
        <p:txBody>
          <a:bodyPr wrap="square" lIns="0" rIns="0" tIns="0" bIns="0" anchor="t">
            <a:spAutoFit/>
          </a:bodyPr>
          <a:lstStyle/>
          <a:p>
            <a:pPr algn="l">
              <a:lnSpc>
                <a:spcPct val="115000"/>
              </a:lnSpc>
            </a:pPr>
            <a:r>
              <a:rPr sz="1200" b="1" i="0">
                <a:solidFill>
                  <a:srgbClr val="0F172E"/>
                </a:solidFill>
                <a:latin typeface="Calibri"/>
              </a:rPr>
              <a:t>Coupa / Ivalua / Jaggaer</a:t>
            </a:r>
          </a:p>
        </p:txBody>
      </p:sp>
      <p:sp>
        <p:nvSpPr>
          <p:cNvPr id="14" name="TextBox 13"/>
          <p:cNvSpPr txBox="1"/>
          <p:nvPr/>
        </p:nvSpPr>
        <p:spPr>
          <a:xfrm>
            <a:off x="1097280" y="2670048"/>
            <a:ext cx="2926080" cy="274320"/>
          </a:xfrm>
          <a:prstGeom prst="rect">
            <a:avLst/>
          </a:prstGeom>
          <a:noFill/>
        </p:spPr>
        <p:txBody>
          <a:bodyPr wrap="square" lIns="0" rIns="0" tIns="0" bIns="0" anchor="t">
            <a:spAutoFit/>
          </a:bodyPr>
          <a:lstStyle/>
          <a:p>
            <a:pPr algn="l">
              <a:lnSpc>
                <a:spcPct val="115000"/>
              </a:lnSpc>
            </a:pPr>
            <a:r>
              <a:rPr sz="950" b="0" i="1">
                <a:solidFill>
                  <a:srgbClr val="4A5573"/>
                </a:solidFill>
                <a:latin typeface="Calibri"/>
              </a:rPr>
              <a:t>P2P suites. Sourcing modules are configurable shells.</a:t>
            </a:r>
          </a:p>
        </p:txBody>
      </p:sp>
      <p:sp>
        <p:nvSpPr>
          <p:cNvPr id="15" name="TextBox 14"/>
          <p:cNvSpPr txBox="1"/>
          <p:nvPr/>
        </p:nvSpPr>
        <p:spPr>
          <a:xfrm>
            <a:off x="1097280" y="2999232"/>
            <a:ext cx="2926080" cy="274320"/>
          </a:xfrm>
          <a:prstGeom prst="rect">
            <a:avLst/>
          </a:prstGeom>
          <a:noFill/>
        </p:spPr>
        <p:txBody>
          <a:bodyPr wrap="square" lIns="0" rIns="0" tIns="0" bIns="0" anchor="t">
            <a:spAutoFit/>
          </a:bodyPr>
          <a:lstStyle/>
          <a:p>
            <a:pPr algn="l">
              <a:lnSpc>
                <a:spcPct val="115000"/>
              </a:lnSpc>
            </a:pPr>
            <a:r>
              <a:rPr sz="1200" b="1" i="0">
                <a:solidFill>
                  <a:srgbClr val="0F172E"/>
                </a:solidFill>
                <a:latin typeface="Calibri"/>
              </a:rPr>
              <a:t>Responsive / Loopio</a:t>
            </a:r>
          </a:p>
        </p:txBody>
      </p:sp>
      <p:sp>
        <p:nvSpPr>
          <p:cNvPr id="16" name="TextBox 15"/>
          <p:cNvSpPr txBox="1"/>
          <p:nvPr/>
        </p:nvSpPr>
        <p:spPr>
          <a:xfrm>
            <a:off x="1097280" y="3200400"/>
            <a:ext cx="2926080" cy="274320"/>
          </a:xfrm>
          <a:prstGeom prst="rect">
            <a:avLst/>
          </a:prstGeom>
          <a:noFill/>
        </p:spPr>
        <p:txBody>
          <a:bodyPr wrap="square" lIns="0" rIns="0" tIns="0" bIns="0" anchor="t">
            <a:spAutoFit/>
          </a:bodyPr>
          <a:lstStyle/>
          <a:p>
            <a:pPr algn="l">
              <a:lnSpc>
                <a:spcPct val="115000"/>
              </a:lnSpc>
            </a:pPr>
            <a:r>
              <a:rPr sz="950" b="0" i="1">
                <a:solidFill>
                  <a:srgbClr val="4A5573"/>
                </a:solidFill>
                <a:latin typeface="Calibri"/>
              </a:rPr>
              <a:t>RFP response. Seller-only. $7K–$35K/yr.</a:t>
            </a:r>
          </a:p>
        </p:txBody>
      </p:sp>
      <p:sp>
        <p:nvSpPr>
          <p:cNvPr id="17" name="TextBox 16"/>
          <p:cNvSpPr txBox="1"/>
          <p:nvPr/>
        </p:nvSpPr>
        <p:spPr>
          <a:xfrm>
            <a:off x="1097280" y="3529584"/>
            <a:ext cx="2926080" cy="274320"/>
          </a:xfrm>
          <a:prstGeom prst="rect">
            <a:avLst/>
          </a:prstGeom>
          <a:noFill/>
        </p:spPr>
        <p:txBody>
          <a:bodyPr wrap="square" lIns="0" rIns="0" tIns="0" bIns="0" anchor="t">
            <a:spAutoFit/>
          </a:bodyPr>
          <a:lstStyle/>
          <a:p>
            <a:pPr algn="l">
              <a:lnSpc>
                <a:spcPct val="115000"/>
              </a:lnSpc>
            </a:pPr>
            <a:r>
              <a:rPr sz="1200" b="1" i="0">
                <a:solidFill>
                  <a:srgbClr val="0F172E"/>
                </a:solidFill>
                <a:latin typeface="Calibri"/>
              </a:rPr>
              <a:t>SAP Ariba / OneTrust / ProcessUnity</a:t>
            </a:r>
          </a:p>
        </p:txBody>
      </p:sp>
      <p:sp>
        <p:nvSpPr>
          <p:cNvPr id="18" name="TextBox 17"/>
          <p:cNvSpPr txBox="1"/>
          <p:nvPr/>
        </p:nvSpPr>
        <p:spPr>
          <a:xfrm>
            <a:off x="1097280" y="3730752"/>
            <a:ext cx="2926080" cy="274320"/>
          </a:xfrm>
          <a:prstGeom prst="rect">
            <a:avLst/>
          </a:prstGeom>
          <a:noFill/>
        </p:spPr>
        <p:txBody>
          <a:bodyPr wrap="square" lIns="0" rIns="0" tIns="0" bIns="0" anchor="t">
            <a:spAutoFit/>
          </a:bodyPr>
          <a:lstStyle/>
          <a:p>
            <a:pPr algn="l">
              <a:lnSpc>
                <a:spcPct val="115000"/>
              </a:lnSpc>
            </a:pPr>
            <a:r>
              <a:rPr sz="950" b="0" i="1">
                <a:solidFill>
                  <a:srgbClr val="4A5573"/>
                </a:solidFill>
                <a:latin typeface="Calibri"/>
              </a:rPr>
              <a:t>Downstream surfaces (risk, CLM).</a:t>
            </a:r>
          </a:p>
        </p:txBody>
      </p:sp>
      <p:sp>
        <p:nvSpPr>
          <p:cNvPr id="19" name="Rectangle 18"/>
          <p:cNvSpPr/>
          <p:nvPr/>
        </p:nvSpPr>
        <p:spPr>
          <a:xfrm>
            <a:off x="4206240" y="2103120"/>
            <a:ext cx="3291840" cy="1874519"/>
          </a:xfrm>
          <a:prstGeom prst="rect">
            <a:avLst/>
          </a:prstGeom>
          <a:solidFill>
            <a:srgbClr val="0A14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89120" y="2212848"/>
            <a:ext cx="2926080" cy="256032"/>
          </a:xfrm>
          <a:prstGeom prst="rect">
            <a:avLst/>
          </a:prstGeom>
          <a:noFill/>
        </p:spPr>
        <p:txBody>
          <a:bodyPr wrap="square" lIns="0" rIns="0" tIns="0" bIns="0" anchor="t">
            <a:spAutoFit/>
          </a:bodyPr>
          <a:lstStyle/>
          <a:p>
            <a:pPr algn="l">
              <a:lnSpc>
                <a:spcPct val="115000"/>
              </a:lnSpc>
            </a:pPr>
            <a:r>
              <a:rPr sz="900" b="1" i="0">
                <a:solidFill>
                  <a:srgbClr val="F4B400"/>
                </a:solidFill>
                <a:latin typeface="Calibri"/>
              </a:rPr>
              <a:t>HIGH DEPTH  ·  TWO-SIDED</a:t>
            </a:r>
          </a:p>
        </p:txBody>
      </p:sp>
      <p:sp>
        <p:nvSpPr>
          <p:cNvPr id="21" name="TextBox 20"/>
          <p:cNvSpPr txBox="1"/>
          <p:nvPr/>
        </p:nvSpPr>
        <p:spPr>
          <a:xfrm>
            <a:off x="4389120" y="2542032"/>
            <a:ext cx="2926080" cy="731520"/>
          </a:xfrm>
          <a:prstGeom prst="rect">
            <a:avLst/>
          </a:prstGeom>
          <a:noFill/>
        </p:spPr>
        <p:txBody>
          <a:bodyPr wrap="square" lIns="0" rIns="0" tIns="0" bIns="0" anchor="t">
            <a:spAutoFit/>
          </a:bodyPr>
          <a:lstStyle/>
          <a:p>
            <a:pPr algn="l">
              <a:lnSpc>
                <a:spcPct val="115000"/>
              </a:lnSpc>
            </a:pPr>
            <a:r>
              <a:rPr sz="3600" b="1" i="0">
                <a:solidFill>
                  <a:srgbClr val="FFFFFF"/>
                </a:solidFill>
                <a:latin typeface="Calibri"/>
              </a:rPr>
              <a:t>SOURCERA</a:t>
            </a:r>
          </a:p>
        </p:txBody>
      </p:sp>
      <p:sp>
        <p:nvSpPr>
          <p:cNvPr id="22" name="TextBox 21"/>
          <p:cNvSpPr txBox="1"/>
          <p:nvPr/>
        </p:nvSpPr>
        <p:spPr>
          <a:xfrm>
            <a:off x="4389120" y="3310128"/>
            <a:ext cx="2926080" cy="640080"/>
          </a:xfrm>
          <a:prstGeom prst="rect">
            <a:avLst/>
          </a:prstGeom>
          <a:noFill/>
        </p:spPr>
        <p:txBody>
          <a:bodyPr wrap="square" lIns="0" rIns="0" tIns="0" bIns="0" anchor="t">
            <a:spAutoFit/>
          </a:bodyPr>
          <a:lstStyle/>
          <a:p>
            <a:pPr algn="l">
              <a:lnSpc>
                <a:spcPct val="125000"/>
              </a:lnSpc>
            </a:pPr>
            <a:r>
              <a:rPr sz="1000" b="0" i="0">
                <a:solidFill>
                  <a:srgbClr val="E8EDF7"/>
                </a:solidFill>
                <a:latin typeface="Calibri"/>
              </a:rPr>
              <a:t>13-phase pipeline · Agent infra · Dual-Console firewall · Marketplace · outcome-accounted AI.</a:t>
            </a:r>
          </a:p>
        </p:txBody>
      </p:sp>
      <p:sp>
        <p:nvSpPr>
          <p:cNvPr id="23" name="TextBox 22"/>
          <p:cNvSpPr txBox="1"/>
          <p:nvPr/>
        </p:nvSpPr>
        <p:spPr>
          <a:xfrm>
            <a:off x="1097280" y="4069079"/>
            <a:ext cx="2926080" cy="274320"/>
          </a:xfrm>
          <a:prstGeom prst="rect">
            <a:avLst/>
          </a:prstGeom>
          <a:noFill/>
        </p:spPr>
        <p:txBody>
          <a:bodyPr wrap="square" lIns="0" rIns="0" tIns="0" bIns="0" anchor="t">
            <a:spAutoFit/>
          </a:bodyPr>
          <a:lstStyle/>
          <a:p>
            <a:pPr algn="l">
              <a:lnSpc>
                <a:spcPct val="115000"/>
              </a:lnSpc>
            </a:pPr>
            <a:r>
              <a:rPr sz="900" b="1" i="0">
                <a:solidFill>
                  <a:srgbClr val="4A5573"/>
                </a:solidFill>
                <a:latin typeface="Calibri"/>
              </a:rPr>
              <a:t>LOW DEPTH  ·  SINGLE-SIDED</a:t>
            </a:r>
          </a:p>
        </p:txBody>
      </p:sp>
      <p:sp>
        <p:nvSpPr>
          <p:cNvPr id="24" name="TextBox 23"/>
          <p:cNvSpPr txBox="1"/>
          <p:nvPr/>
        </p:nvSpPr>
        <p:spPr>
          <a:xfrm>
            <a:off x="1097280" y="4343399"/>
            <a:ext cx="2926080" cy="274320"/>
          </a:xfrm>
          <a:prstGeom prst="rect">
            <a:avLst/>
          </a:prstGeom>
          <a:noFill/>
        </p:spPr>
        <p:txBody>
          <a:bodyPr wrap="square" lIns="0" rIns="0" tIns="0" bIns="0" anchor="t">
            <a:spAutoFit/>
          </a:bodyPr>
          <a:lstStyle/>
          <a:p>
            <a:pPr algn="l">
              <a:lnSpc>
                <a:spcPct val="115000"/>
              </a:lnSpc>
            </a:pPr>
            <a:r>
              <a:rPr sz="1200" b="1" i="0">
                <a:solidFill>
                  <a:srgbClr val="0F172E"/>
                </a:solidFill>
                <a:latin typeface="Calibri"/>
              </a:rPr>
              <a:t>G2 / Gartner / TrustRadius</a:t>
            </a:r>
          </a:p>
        </p:txBody>
      </p:sp>
      <p:sp>
        <p:nvSpPr>
          <p:cNvPr id="25" name="TextBox 24"/>
          <p:cNvSpPr txBox="1"/>
          <p:nvPr/>
        </p:nvSpPr>
        <p:spPr>
          <a:xfrm>
            <a:off x="1097280" y="4544567"/>
            <a:ext cx="2926080" cy="274320"/>
          </a:xfrm>
          <a:prstGeom prst="rect">
            <a:avLst/>
          </a:prstGeom>
          <a:noFill/>
        </p:spPr>
        <p:txBody>
          <a:bodyPr wrap="square" lIns="0" rIns="0" tIns="0" bIns="0" anchor="t">
            <a:spAutoFit/>
          </a:bodyPr>
          <a:lstStyle/>
          <a:p>
            <a:pPr algn="l">
              <a:lnSpc>
                <a:spcPct val="115000"/>
              </a:lnSpc>
            </a:pPr>
            <a:r>
              <a:rPr sz="950" b="0" i="1">
                <a:solidFill>
                  <a:srgbClr val="4A5573"/>
                </a:solidFill>
                <a:latin typeface="Calibri"/>
              </a:rPr>
              <a:t>Reviews &amp; analyst signals. Upstream of the deal.</a:t>
            </a:r>
          </a:p>
        </p:txBody>
      </p:sp>
      <p:sp>
        <p:nvSpPr>
          <p:cNvPr id="26" name="TextBox 25"/>
          <p:cNvSpPr txBox="1"/>
          <p:nvPr/>
        </p:nvSpPr>
        <p:spPr>
          <a:xfrm>
            <a:off x="1097280" y="4873751"/>
            <a:ext cx="2926080" cy="274320"/>
          </a:xfrm>
          <a:prstGeom prst="rect">
            <a:avLst/>
          </a:prstGeom>
          <a:noFill/>
        </p:spPr>
        <p:txBody>
          <a:bodyPr wrap="square" lIns="0" rIns="0" tIns="0" bIns="0" anchor="t">
            <a:spAutoFit/>
          </a:bodyPr>
          <a:lstStyle/>
          <a:p>
            <a:pPr algn="l">
              <a:lnSpc>
                <a:spcPct val="115000"/>
              </a:lnSpc>
            </a:pPr>
            <a:r>
              <a:rPr sz="1200" b="1" i="0">
                <a:solidFill>
                  <a:srgbClr val="0F172E"/>
                </a:solidFill>
                <a:latin typeface="Calibri"/>
              </a:rPr>
              <a:t>Excel + SharePoint + Outlook</a:t>
            </a:r>
          </a:p>
        </p:txBody>
      </p:sp>
      <p:sp>
        <p:nvSpPr>
          <p:cNvPr id="27" name="TextBox 26"/>
          <p:cNvSpPr txBox="1"/>
          <p:nvPr/>
        </p:nvSpPr>
        <p:spPr>
          <a:xfrm>
            <a:off x="1097280" y="5074919"/>
            <a:ext cx="2926080" cy="274320"/>
          </a:xfrm>
          <a:prstGeom prst="rect">
            <a:avLst/>
          </a:prstGeom>
          <a:noFill/>
        </p:spPr>
        <p:txBody>
          <a:bodyPr wrap="square" lIns="0" rIns="0" tIns="0" bIns="0" anchor="t">
            <a:spAutoFit/>
          </a:bodyPr>
          <a:lstStyle/>
          <a:p>
            <a:pPr algn="l">
              <a:lnSpc>
                <a:spcPct val="115000"/>
              </a:lnSpc>
            </a:pPr>
            <a:r>
              <a:rPr sz="950" b="0" i="1">
                <a:solidFill>
                  <a:srgbClr val="4A5573"/>
                </a:solidFill>
                <a:latin typeface="Calibri"/>
              </a:rPr>
              <a:t>The real competitor. Status quo.</a:t>
            </a:r>
          </a:p>
        </p:txBody>
      </p:sp>
      <p:sp>
        <p:nvSpPr>
          <p:cNvPr id="28" name="TextBox 27"/>
          <p:cNvSpPr txBox="1"/>
          <p:nvPr/>
        </p:nvSpPr>
        <p:spPr>
          <a:xfrm>
            <a:off x="1097280" y="5404103"/>
            <a:ext cx="2926080" cy="274320"/>
          </a:xfrm>
          <a:prstGeom prst="rect">
            <a:avLst/>
          </a:prstGeom>
          <a:noFill/>
        </p:spPr>
        <p:txBody>
          <a:bodyPr wrap="square" lIns="0" rIns="0" tIns="0" bIns="0" anchor="t">
            <a:spAutoFit/>
          </a:bodyPr>
          <a:lstStyle/>
          <a:p>
            <a:pPr algn="l">
              <a:lnSpc>
                <a:spcPct val="115000"/>
              </a:lnSpc>
            </a:pPr>
            <a:r>
              <a:rPr sz="1200" b="1" i="0">
                <a:solidFill>
                  <a:srgbClr val="0F172E"/>
                </a:solidFill>
                <a:latin typeface="Calibri"/>
              </a:rPr>
              <a:t>Vendr / Tropic / Spendflo</a:t>
            </a:r>
          </a:p>
        </p:txBody>
      </p:sp>
      <p:sp>
        <p:nvSpPr>
          <p:cNvPr id="29" name="TextBox 28"/>
          <p:cNvSpPr txBox="1"/>
          <p:nvPr/>
        </p:nvSpPr>
        <p:spPr>
          <a:xfrm>
            <a:off x="1097280" y="5605271"/>
            <a:ext cx="2926080" cy="274320"/>
          </a:xfrm>
          <a:prstGeom prst="rect">
            <a:avLst/>
          </a:prstGeom>
          <a:noFill/>
        </p:spPr>
        <p:txBody>
          <a:bodyPr wrap="square" lIns="0" rIns="0" tIns="0" bIns="0" anchor="t">
            <a:spAutoFit/>
          </a:bodyPr>
          <a:lstStyle/>
          <a:p>
            <a:pPr algn="l">
              <a:lnSpc>
                <a:spcPct val="115000"/>
              </a:lnSpc>
            </a:pPr>
            <a:r>
              <a:rPr sz="950" b="0" i="1">
                <a:solidFill>
                  <a:srgbClr val="4A5573"/>
                </a:solidFill>
                <a:latin typeface="Calibri"/>
              </a:rPr>
              <a:t>Renewal negotiation. Post-selection.</a:t>
            </a:r>
          </a:p>
        </p:txBody>
      </p:sp>
      <p:sp>
        <p:nvSpPr>
          <p:cNvPr id="30" name="TextBox 29"/>
          <p:cNvSpPr txBox="1"/>
          <p:nvPr/>
        </p:nvSpPr>
        <p:spPr>
          <a:xfrm>
            <a:off x="4389120" y="4069079"/>
            <a:ext cx="2926080" cy="274320"/>
          </a:xfrm>
          <a:prstGeom prst="rect">
            <a:avLst/>
          </a:prstGeom>
          <a:noFill/>
        </p:spPr>
        <p:txBody>
          <a:bodyPr wrap="square" lIns="0" rIns="0" tIns="0" bIns="0" anchor="t">
            <a:spAutoFit/>
          </a:bodyPr>
          <a:lstStyle/>
          <a:p>
            <a:pPr algn="l">
              <a:lnSpc>
                <a:spcPct val="115000"/>
              </a:lnSpc>
            </a:pPr>
            <a:r>
              <a:rPr sz="900" b="1" i="0">
                <a:solidFill>
                  <a:srgbClr val="4A5573"/>
                </a:solidFill>
                <a:latin typeface="Calibri"/>
              </a:rPr>
              <a:t>LOW DEPTH  ·  TWO-SIDED</a:t>
            </a:r>
          </a:p>
        </p:txBody>
      </p:sp>
      <p:sp>
        <p:nvSpPr>
          <p:cNvPr id="31" name="TextBox 30"/>
          <p:cNvSpPr txBox="1"/>
          <p:nvPr/>
        </p:nvSpPr>
        <p:spPr>
          <a:xfrm>
            <a:off x="4389120" y="4343399"/>
            <a:ext cx="2926080" cy="274320"/>
          </a:xfrm>
          <a:prstGeom prst="rect">
            <a:avLst/>
          </a:prstGeom>
          <a:noFill/>
        </p:spPr>
        <p:txBody>
          <a:bodyPr wrap="square" lIns="0" rIns="0" tIns="0" bIns="0" anchor="t">
            <a:spAutoFit/>
          </a:bodyPr>
          <a:lstStyle/>
          <a:p>
            <a:pPr algn="l">
              <a:lnSpc>
                <a:spcPct val="115000"/>
              </a:lnSpc>
            </a:pPr>
            <a:r>
              <a:rPr sz="1200" b="1" i="0">
                <a:solidFill>
                  <a:srgbClr val="0F172E"/>
                </a:solidFill>
                <a:latin typeface="Calibri"/>
              </a:rPr>
              <a:t>(Empty quadrant)</a:t>
            </a:r>
          </a:p>
        </p:txBody>
      </p:sp>
      <p:sp>
        <p:nvSpPr>
          <p:cNvPr id="32" name="TextBox 31"/>
          <p:cNvSpPr txBox="1"/>
          <p:nvPr/>
        </p:nvSpPr>
        <p:spPr>
          <a:xfrm>
            <a:off x="4389120" y="4544567"/>
            <a:ext cx="2926080" cy="274320"/>
          </a:xfrm>
          <a:prstGeom prst="rect">
            <a:avLst/>
          </a:prstGeom>
          <a:noFill/>
        </p:spPr>
        <p:txBody>
          <a:bodyPr wrap="square" lIns="0" rIns="0" tIns="0" bIns="0" anchor="t">
            <a:spAutoFit/>
          </a:bodyPr>
          <a:lstStyle/>
          <a:p>
            <a:pPr algn="l">
              <a:lnSpc>
                <a:spcPct val="115000"/>
              </a:lnSpc>
            </a:pPr>
            <a:r>
              <a:rPr sz="950" b="0" i="1">
                <a:solidFill>
                  <a:srgbClr val="4A5573"/>
                </a:solidFill>
                <a:latin typeface="Calibri"/>
              </a:rPr>
              <a:t>No product is two-sided without the evaluation depth to justify it.</a:t>
            </a:r>
          </a:p>
        </p:txBody>
      </p:sp>
      <p:sp>
        <p:nvSpPr>
          <p:cNvPr id="33" name="Rectangle 32"/>
          <p:cNvSpPr/>
          <p:nvPr/>
        </p:nvSpPr>
        <p:spPr>
          <a:xfrm>
            <a:off x="7772400" y="2103120"/>
            <a:ext cx="3931920" cy="3749039"/>
          </a:xfrm>
          <a:prstGeom prst="rect">
            <a:avLst/>
          </a:prstGeom>
          <a:solidFill>
            <a:srgbClr val="0A14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772400" y="2103120"/>
            <a:ext cx="73152" cy="3749039"/>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0" y="2286000"/>
            <a:ext cx="3474720" cy="274320"/>
          </a:xfrm>
          <a:prstGeom prst="rect">
            <a:avLst/>
          </a:prstGeom>
          <a:noFill/>
        </p:spPr>
        <p:txBody>
          <a:bodyPr wrap="square" lIns="0" rIns="0" tIns="0" bIns="0" anchor="t">
            <a:spAutoFit/>
          </a:bodyPr>
          <a:lstStyle/>
          <a:p>
            <a:pPr algn="l">
              <a:lnSpc>
                <a:spcPct val="115000"/>
              </a:lnSpc>
            </a:pPr>
            <a:r>
              <a:rPr sz="1000" b="1" i="0">
                <a:solidFill>
                  <a:srgbClr val="F4B400"/>
                </a:solidFill>
                <a:latin typeface="Calibri"/>
              </a:rPr>
              <a:t>THE UNIQUE CLAIM</a:t>
            </a:r>
          </a:p>
        </p:txBody>
      </p:sp>
      <p:sp>
        <p:nvSpPr>
          <p:cNvPr id="36" name="TextBox 35"/>
          <p:cNvSpPr txBox="1"/>
          <p:nvPr/>
        </p:nvSpPr>
        <p:spPr>
          <a:xfrm>
            <a:off x="8046720" y="2560320"/>
            <a:ext cx="3474720" cy="1143000"/>
          </a:xfrm>
          <a:prstGeom prst="rect">
            <a:avLst/>
          </a:prstGeom>
          <a:noFill/>
        </p:spPr>
        <p:txBody>
          <a:bodyPr wrap="square" lIns="0" rIns="0" tIns="0" bIns="0" anchor="t">
            <a:spAutoFit/>
          </a:bodyPr>
          <a:lstStyle/>
          <a:p>
            <a:pPr algn="l">
              <a:lnSpc>
                <a:spcPct val="115000"/>
              </a:lnSpc>
            </a:pPr>
            <a:r>
              <a:rPr sz="1500" b="1" i="0">
                <a:solidFill>
                  <a:srgbClr val="FFFFFF"/>
                </a:solidFill>
                <a:latin typeface="Calibri"/>
              </a:rPr>
              <a:t>Only platform covering both sides with the full evaluation workflow.</a:t>
            </a:r>
          </a:p>
        </p:txBody>
      </p:sp>
      <p:cxnSp>
        <p:nvCxnSpPr>
          <p:cNvPr id="37" name="Connector 36"/>
          <p:cNvCxnSpPr/>
          <p:nvPr/>
        </p:nvCxnSpPr>
        <p:spPr>
          <a:xfrm>
            <a:off x="8046720" y="3749040"/>
            <a:ext cx="3383280" cy="0"/>
          </a:xfrm>
          <a:prstGeom prst="line">
            <a:avLst/>
          </a:prstGeom>
          <a:ln w="9525">
            <a:solidFill>
              <a:srgbClr val="1E2B5C"/>
            </a:solidFill>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8046720" y="3918204"/>
            <a:ext cx="82296" cy="82296"/>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47888" y="3840480"/>
            <a:ext cx="3273552" cy="384048"/>
          </a:xfrm>
          <a:prstGeom prst="rect">
            <a:avLst/>
          </a:prstGeom>
          <a:noFill/>
        </p:spPr>
        <p:txBody>
          <a:bodyPr wrap="square" lIns="0" rIns="0" tIns="0" bIns="0">
            <a:spAutoFit/>
          </a:bodyPr>
          <a:lstStyle/>
          <a:p>
            <a:pPr>
              <a:lnSpc>
                <a:spcPct val="115000"/>
              </a:lnSpc>
            </a:pPr>
            <a:r>
              <a:rPr sz="1050">
                <a:solidFill>
                  <a:srgbClr val="E8EDF7"/>
                </a:solidFill>
                <a:latin typeface="Calibri"/>
              </a:rPr>
              <a:t>Fixed 13-phase pipeline — no competitor ships an opinionated methodology</a:t>
            </a:r>
          </a:p>
        </p:txBody>
      </p:sp>
      <p:sp>
        <p:nvSpPr>
          <p:cNvPr id="40" name="Rectangle 39"/>
          <p:cNvSpPr/>
          <p:nvPr/>
        </p:nvSpPr>
        <p:spPr>
          <a:xfrm>
            <a:off x="8046720" y="4302252"/>
            <a:ext cx="82296" cy="82296"/>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47888" y="4224528"/>
            <a:ext cx="3273552" cy="384048"/>
          </a:xfrm>
          <a:prstGeom prst="rect">
            <a:avLst/>
          </a:prstGeom>
          <a:noFill/>
        </p:spPr>
        <p:txBody>
          <a:bodyPr wrap="square" lIns="0" rIns="0" tIns="0" bIns="0">
            <a:spAutoFit/>
          </a:bodyPr>
          <a:lstStyle/>
          <a:p>
            <a:pPr>
              <a:lnSpc>
                <a:spcPct val="115000"/>
              </a:lnSpc>
            </a:pPr>
            <a:r>
              <a:rPr sz="1050">
                <a:solidFill>
                  <a:srgbClr val="E8EDF7"/>
                </a:solidFill>
                <a:latin typeface="Calibri"/>
              </a:rPr>
              <a:t>Agent as infrastructure with outcome-accounted pricing</a:t>
            </a:r>
          </a:p>
        </p:txBody>
      </p:sp>
      <p:sp>
        <p:nvSpPr>
          <p:cNvPr id="42" name="Rectangle 41"/>
          <p:cNvSpPr/>
          <p:nvPr/>
        </p:nvSpPr>
        <p:spPr>
          <a:xfrm>
            <a:off x="8046720" y="4686300"/>
            <a:ext cx="82296" cy="82296"/>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247888" y="4608576"/>
            <a:ext cx="3273552" cy="384048"/>
          </a:xfrm>
          <a:prstGeom prst="rect">
            <a:avLst/>
          </a:prstGeom>
          <a:noFill/>
        </p:spPr>
        <p:txBody>
          <a:bodyPr wrap="square" lIns="0" rIns="0" tIns="0" bIns="0">
            <a:spAutoFit/>
          </a:bodyPr>
          <a:lstStyle/>
          <a:p>
            <a:pPr>
              <a:lnSpc>
                <a:spcPct val="115000"/>
              </a:lnSpc>
            </a:pPr>
            <a:r>
              <a:rPr sz="1050">
                <a:solidFill>
                  <a:srgbClr val="E8EDF7"/>
                </a:solidFill>
                <a:latin typeface="Calibri"/>
              </a:rPr>
              <a:t>Dual-Console firewall at database query layer</a:t>
            </a:r>
          </a:p>
        </p:txBody>
      </p:sp>
      <p:sp>
        <p:nvSpPr>
          <p:cNvPr id="44" name="Rectangle 43"/>
          <p:cNvSpPr/>
          <p:nvPr/>
        </p:nvSpPr>
        <p:spPr>
          <a:xfrm>
            <a:off x="8046720" y="5070348"/>
            <a:ext cx="82296" cy="82296"/>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47888" y="4992624"/>
            <a:ext cx="3273552" cy="384048"/>
          </a:xfrm>
          <a:prstGeom prst="rect">
            <a:avLst/>
          </a:prstGeom>
          <a:noFill/>
        </p:spPr>
        <p:txBody>
          <a:bodyPr wrap="square" lIns="0" rIns="0" tIns="0" bIns="0">
            <a:spAutoFit/>
          </a:bodyPr>
          <a:lstStyle/>
          <a:p>
            <a:pPr>
              <a:lnSpc>
                <a:spcPct val="115000"/>
              </a:lnSpc>
            </a:pPr>
            <a:r>
              <a:rPr sz="1050">
                <a:solidFill>
                  <a:srgbClr val="E8EDF7"/>
                </a:solidFill>
                <a:latin typeface="Calibri"/>
              </a:rPr>
              <a:t>Marketplace with Capability Declarations — not reviews</a:t>
            </a:r>
          </a:p>
        </p:txBody>
      </p:sp>
      <p:sp>
        <p:nvSpPr>
          <p:cNvPr id="46" name="Rectangle 45"/>
          <p:cNvSpPr/>
          <p:nvPr/>
        </p:nvSpPr>
        <p:spPr>
          <a:xfrm>
            <a:off x="8046720" y="5454396"/>
            <a:ext cx="82296" cy="82296"/>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247888" y="5376672"/>
            <a:ext cx="3273552" cy="384048"/>
          </a:xfrm>
          <a:prstGeom prst="rect">
            <a:avLst/>
          </a:prstGeom>
          <a:noFill/>
        </p:spPr>
        <p:txBody>
          <a:bodyPr wrap="square" lIns="0" rIns="0" tIns="0" bIns="0">
            <a:spAutoFit/>
          </a:bodyPr>
          <a:lstStyle/>
          <a:p>
            <a:pPr>
              <a:lnSpc>
                <a:spcPct val="115000"/>
              </a:lnSpc>
            </a:pPr>
            <a:r>
              <a:rPr sz="1050">
                <a:solidFill>
                  <a:srgbClr val="E8EDF7"/>
                </a:solidFill>
                <a:latin typeface="Calibri"/>
              </a:rPr>
              <a:t>Unlimited seats on every paid tier</a:t>
            </a:r>
          </a:p>
        </p:txBody>
      </p:sp>
      <p:cxnSp>
        <p:nvCxnSpPr>
          <p:cNvPr id="48" name="Connector 47"/>
          <p:cNvCxnSpPr/>
          <p:nvPr/>
        </p:nvCxnSpPr>
        <p:spPr>
          <a:xfrm>
            <a:off x="548640" y="6355080"/>
            <a:ext cx="11094415" cy="0"/>
          </a:xfrm>
          <a:prstGeom prst="line">
            <a:avLst/>
          </a:prstGeom>
          <a:ln w="9525">
            <a:solidFill>
              <a:srgbClr val="D8DFEE"/>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548640" y="6437376"/>
            <a:ext cx="3657600" cy="274320"/>
          </a:xfrm>
          <a:prstGeom prst="rect">
            <a:avLst/>
          </a:prstGeom>
          <a:noFill/>
        </p:spPr>
        <p:txBody>
          <a:bodyPr wrap="square" lIns="0" rIns="0" tIns="0" bIns="0" anchor="t">
            <a:spAutoFit/>
          </a:bodyPr>
          <a:lstStyle/>
          <a:p>
            <a:pPr algn="l">
              <a:lnSpc>
                <a:spcPct val="115000"/>
              </a:lnSpc>
            </a:pPr>
            <a:r>
              <a:rPr sz="900" b="1" i="0">
                <a:solidFill>
                  <a:srgbClr val="4A5573"/>
                </a:solidFill>
                <a:latin typeface="Calibri"/>
              </a:rPr>
              <a:t>SOURCERA  ·  COMPETITIVE LANDSCAPE</a:t>
            </a:r>
          </a:p>
        </p:txBody>
      </p:sp>
      <p:sp>
        <p:nvSpPr>
          <p:cNvPr id="50" name="TextBox 49"/>
          <p:cNvSpPr txBox="1"/>
          <p:nvPr/>
        </p:nvSpPr>
        <p:spPr>
          <a:xfrm>
            <a:off x="10362895" y="6437376"/>
            <a:ext cx="1280160" cy="274320"/>
          </a:xfrm>
          <a:prstGeom prst="rect">
            <a:avLst/>
          </a:prstGeom>
          <a:noFill/>
        </p:spPr>
        <p:txBody>
          <a:bodyPr wrap="square" lIns="0" rIns="0" tIns="0" bIns="0" anchor="t">
            <a:spAutoFit/>
          </a:bodyPr>
          <a:lstStyle/>
          <a:p>
            <a:pPr algn="r">
              <a:lnSpc>
                <a:spcPct val="115000"/>
              </a:lnSpc>
            </a:pPr>
            <a:r>
              <a:rPr sz="900" b="0" i="0">
                <a:solidFill>
                  <a:srgbClr val="4A5573"/>
                </a:solidFill>
                <a:latin typeface="Calibri"/>
              </a:rPr>
              <a:t>13 / 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4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21792"/>
            <a:ext cx="365760" cy="73152"/>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548640"/>
            <a:ext cx="9144000" cy="274320"/>
          </a:xfrm>
          <a:prstGeom prst="rect">
            <a:avLst/>
          </a:prstGeom>
          <a:noFill/>
        </p:spPr>
        <p:txBody>
          <a:bodyPr wrap="square" lIns="0" rIns="0" tIns="0" bIns="0" anchor="t">
            <a:spAutoFit/>
          </a:bodyPr>
          <a:lstStyle/>
          <a:p>
            <a:pPr algn="l">
              <a:lnSpc>
                <a:spcPct val="115000"/>
              </a:lnSpc>
            </a:pPr>
            <a:r>
              <a:rPr sz="1000" b="1" i="0">
                <a:solidFill>
                  <a:srgbClr val="F4B400"/>
                </a:solidFill>
                <a:latin typeface="Calibri"/>
              </a:rPr>
              <a:t>THE GROWTH ENGINE</a:t>
            </a:r>
          </a:p>
        </p:txBody>
      </p:sp>
      <p:sp>
        <p:nvSpPr>
          <p:cNvPr id="5" name="TextBox 4"/>
          <p:cNvSpPr txBox="1"/>
          <p:nvPr/>
        </p:nvSpPr>
        <p:spPr>
          <a:xfrm>
            <a:off x="548640" y="822960"/>
            <a:ext cx="10972800" cy="822960"/>
          </a:xfrm>
          <a:prstGeom prst="rect">
            <a:avLst/>
          </a:prstGeom>
          <a:noFill/>
        </p:spPr>
        <p:txBody>
          <a:bodyPr wrap="square" lIns="0" rIns="0" tIns="0" bIns="0" anchor="t">
            <a:spAutoFit/>
          </a:bodyPr>
          <a:lstStyle/>
          <a:p>
            <a:pPr algn="l">
              <a:lnSpc>
                <a:spcPct val="105000"/>
              </a:lnSpc>
            </a:pPr>
            <a:r>
              <a:rPr sz="3600" b="1" i="0">
                <a:solidFill>
                  <a:srgbClr val="E8EDF7"/>
                </a:solidFill>
                <a:latin typeface="Calibri"/>
              </a:rPr>
              <a:t>The two-sided flywheel.</a:t>
            </a:r>
          </a:p>
        </p:txBody>
      </p:sp>
      <p:sp>
        <p:nvSpPr>
          <p:cNvPr id="6" name="TextBox 5"/>
          <p:cNvSpPr txBox="1"/>
          <p:nvPr/>
        </p:nvSpPr>
        <p:spPr>
          <a:xfrm>
            <a:off x="548640" y="1508760"/>
            <a:ext cx="10972800" cy="457200"/>
          </a:xfrm>
          <a:prstGeom prst="rect">
            <a:avLst/>
          </a:prstGeom>
          <a:noFill/>
        </p:spPr>
        <p:txBody>
          <a:bodyPr wrap="square" lIns="0" rIns="0" tIns="0" bIns="0" anchor="t">
            <a:spAutoFit/>
          </a:bodyPr>
          <a:lstStyle/>
          <a:p>
            <a:pPr algn="l">
              <a:lnSpc>
                <a:spcPct val="125000"/>
              </a:lnSpc>
            </a:pPr>
            <a:r>
              <a:rPr sz="1500" b="0" i="0">
                <a:solidFill>
                  <a:srgbClr val="A8B2CC"/>
                </a:solidFill>
                <a:latin typeface="Calibri"/>
              </a:rPr>
              <a:t>Buyer activity seeds supply. Supply compounds into SEO. SEO inflects buyer demand.</a:t>
            </a:r>
          </a:p>
        </p:txBody>
      </p:sp>
      <p:sp>
        <p:nvSpPr>
          <p:cNvPr id="7" name="TextBox 6"/>
          <p:cNvSpPr txBox="1"/>
          <p:nvPr/>
        </p:nvSpPr>
        <p:spPr>
          <a:xfrm>
            <a:off x="548640" y="2057400"/>
            <a:ext cx="3657600" cy="274320"/>
          </a:xfrm>
          <a:prstGeom prst="rect">
            <a:avLst/>
          </a:prstGeom>
          <a:noFill/>
        </p:spPr>
        <p:txBody>
          <a:bodyPr wrap="square" lIns="0" rIns="0" tIns="0" bIns="0" anchor="t">
            <a:spAutoFit/>
          </a:bodyPr>
          <a:lstStyle/>
          <a:p>
            <a:pPr algn="l">
              <a:lnSpc>
                <a:spcPct val="115000"/>
              </a:lnSpc>
            </a:pPr>
            <a:r>
              <a:rPr sz="1000" b="1" i="0">
                <a:solidFill>
                  <a:srgbClr val="F4B400"/>
                </a:solidFill>
                <a:latin typeface="Calibri"/>
              </a:rPr>
              <a:t>HOW IT COMPOUNDS</a:t>
            </a:r>
          </a:p>
        </p:txBody>
      </p:sp>
      <p:sp>
        <p:nvSpPr>
          <p:cNvPr id="8" name="TextBox 7"/>
          <p:cNvSpPr txBox="1"/>
          <p:nvPr/>
        </p:nvSpPr>
        <p:spPr>
          <a:xfrm>
            <a:off x="548640" y="2468880"/>
            <a:ext cx="1600200" cy="411480"/>
          </a:xfrm>
          <a:prstGeom prst="rect">
            <a:avLst/>
          </a:prstGeom>
          <a:noFill/>
        </p:spPr>
        <p:txBody>
          <a:bodyPr wrap="square" lIns="0" rIns="0" tIns="0" bIns="0" anchor="t">
            <a:spAutoFit/>
          </a:bodyPr>
          <a:lstStyle/>
          <a:p>
            <a:pPr algn="l">
              <a:lnSpc>
                <a:spcPct val="115000"/>
              </a:lnSpc>
            </a:pPr>
            <a:r>
              <a:rPr sz="2000" b="1" i="0">
                <a:solidFill>
                  <a:srgbClr val="F4B400"/>
                </a:solidFill>
                <a:latin typeface="Calibri"/>
              </a:rPr>
              <a:t>3–10</a:t>
            </a:r>
          </a:p>
        </p:txBody>
      </p:sp>
      <p:sp>
        <p:nvSpPr>
          <p:cNvPr id="9" name="TextBox 8"/>
          <p:cNvSpPr txBox="1"/>
          <p:nvPr/>
        </p:nvSpPr>
        <p:spPr>
          <a:xfrm>
            <a:off x="2240280" y="2542032"/>
            <a:ext cx="1920240" cy="457200"/>
          </a:xfrm>
          <a:prstGeom prst="rect">
            <a:avLst/>
          </a:prstGeom>
          <a:noFill/>
        </p:spPr>
        <p:txBody>
          <a:bodyPr wrap="square" lIns="0" rIns="0" tIns="0" bIns="0" anchor="t">
            <a:spAutoFit/>
          </a:bodyPr>
          <a:lstStyle/>
          <a:p>
            <a:pPr algn="l">
              <a:lnSpc>
                <a:spcPct val="125000"/>
              </a:lnSpc>
            </a:pPr>
            <a:r>
              <a:rPr sz="1000" b="0" i="0">
                <a:solidFill>
                  <a:srgbClr val="E8EDF7"/>
                </a:solidFill>
                <a:latin typeface="Calibri"/>
              </a:rPr>
              <a:t>Seller Orgs seeded per buyer evaluation</a:t>
            </a:r>
          </a:p>
        </p:txBody>
      </p:sp>
      <p:sp>
        <p:nvSpPr>
          <p:cNvPr id="10" name="TextBox 9"/>
          <p:cNvSpPr txBox="1"/>
          <p:nvPr/>
        </p:nvSpPr>
        <p:spPr>
          <a:xfrm>
            <a:off x="548640" y="3035808"/>
            <a:ext cx="1600200" cy="411480"/>
          </a:xfrm>
          <a:prstGeom prst="rect">
            <a:avLst/>
          </a:prstGeom>
          <a:noFill/>
        </p:spPr>
        <p:txBody>
          <a:bodyPr wrap="square" lIns="0" rIns="0" tIns="0" bIns="0" anchor="t">
            <a:spAutoFit/>
          </a:bodyPr>
          <a:lstStyle/>
          <a:p>
            <a:pPr algn="l">
              <a:lnSpc>
                <a:spcPct val="115000"/>
              </a:lnSpc>
            </a:pPr>
            <a:r>
              <a:rPr sz="2000" b="1" i="0">
                <a:solidFill>
                  <a:srgbClr val="F4B400"/>
                </a:solidFill>
                <a:latin typeface="Calibri"/>
              </a:rPr>
              <a:t>100%</a:t>
            </a:r>
          </a:p>
        </p:txBody>
      </p:sp>
      <p:sp>
        <p:nvSpPr>
          <p:cNvPr id="11" name="TextBox 10"/>
          <p:cNvSpPr txBox="1"/>
          <p:nvPr/>
        </p:nvSpPr>
        <p:spPr>
          <a:xfrm>
            <a:off x="2240280" y="3108960"/>
            <a:ext cx="1920240" cy="457200"/>
          </a:xfrm>
          <a:prstGeom prst="rect">
            <a:avLst/>
          </a:prstGeom>
          <a:noFill/>
        </p:spPr>
        <p:txBody>
          <a:bodyPr wrap="square" lIns="0" rIns="0" tIns="0" bIns="0" anchor="t">
            <a:spAutoFit/>
          </a:bodyPr>
          <a:lstStyle/>
          <a:p>
            <a:pPr algn="l">
              <a:lnSpc>
                <a:spcPct val="125000"/>
              </a:lnSpc>
            </a:pPr>
            <a:r>
              <a:rPr sz="1000" b="0" i="0">
                <a:solidFill>
                  <a:srgbClr val="E8EDF7"/>
                </a:solidFill>
                <a:latin typeface="Calibri"/>
              </a:rPr>
              <a:t>Seller Profiles published free on domain verify</a:t>
            </a:r>
          </a:p>
        </p:txBody>
      </p:sp>
      <p:sp>
        <p:nvSpPr>
          <p:cNvPr id="12" name="TextBox 11"/>
          <p:cNvSpPr txBox="1"/>
          <p:nvPr/>
        </p:nvSpPr>
        <p:spPr>
          <a:xfrm>
            <a:off x="548640" y="3602736"/>
            <a:ext cx="1600200" cy="411480"/>
          </a:xfrm>
          <a:prstGeom prst="rect">
            <a:avLst/>
          </a:prstGeom>
          <a:noFill/>
        </p:spPr>
        <p:txBody>
          <a:bodyPr wrap="square" lIns="0" rIns="0" tIns="0" bIns="0" anchor="t">
            <a:spAutoFit/>
          </a:bodyPr>
          <a:lstStyle/>
          <a:p>
            <a:pPr algn="l">
              <a:lnSpc>
                <a:spcPct val="115000"/>
              </a:lnSpc>
            </a:pPr>
            <a:r>
              <a:rPr sz="2000" b="1" i="0">
                <a:solidFill>
                  <a:srgbClr val="F4B400"/>
                </a:solidFill>
                <a:latin typeface="Calibri"/>
              </a:rPr>
              <a:t>SEO</a:t>
            </a:r>
          </a:p>
        </p:txBody>
      </p:sp>
      <p:sp>
        <p:nvSpPr>
          <p:cNvPr id="13" name="TextBox 12"/>
          <p:cNvSpPr txBox="1"/>
          <p:nvPr/>
        </p:nvSpPr>
        <p:spPr>
          <a:xfrm>
            <a:off x="2240280" y="3675888"/>
            <a:ext cx="1920240" cy="457200"/>
          </a:xfrm>
          <a:prstGeom prst="rect">
            <a:avLst/>
          </a:prstGeom>
          <a:noFill/>
        </p:spPr>
        <p:txBody>
          <a:bodyPr wrap="square" lIns="0" rIns="0" tIns="0" bIns="0" anchor="t">
            <a:spAutoFit/>
          </a:bodyPr>
          <a:lstStyle/>
          <a:p>
            <a:pPr algn="l">
              <a:lnSpc>
                <a:spcPct val="125000"/>
              </a:lnSpc>
            </a:pPr>
            <a:r>
              <a:rPr sz="1000" b="0" i="0">
                <a:solidFill>
                  <a:srgbClr val="E8EDF7"/>
                </a:solidFill>
                <a:latin typeface="Calibri"/>
              </a:rPr>
              <a:t>Schema-structured data emits per-category moat</a:t>
            </a:r>
          </a:p>
        </p:txBody>
      </p:sp>
      <p:sp>
        <p:nvSpPr>
          <p:cNvPr id="14" name="TextBox 13"/>
          <p:cNvSpPr txBox="1"/>
          <p:nvPr/>
        </p:nvSpPr>
        <p:spPr>
          <a:xfrm>
            <a:off x="548640" y="4169664"/>
            <a:ext cx="1600200" cy="411480"/>
          </a:xfrm>
          <a:prstGeom prst="rect">
            <a:avLst/>
          </a:prstGeom>
          <a:noFill/>
        </p:spPr>
        <p:txBody>
          <a:bodyPr wrap="square" lIns="0" rIns="0" tIns="0" bIns="0" anchor="t">
            <a:spAutoFit/>
          </a:bodyPr>
          <a:lstStyle/>
          <a:p>
            <a:pPr algn="l">
              <a:lnSpc>
                <a:spcPct val="115000"/>
              </a:lnSpc>
            </a:pPr>
            <a:r>
              <a:rPr sz="2000" b="1" i="0">
                <a:solidFill>
                  <a:srgbClr val="F4B400"/>
                </a:solidFill>
                <a:latin typeface="Calibri"/>
              </a:rPr>
              <a:t>M17</a:t>
            </a:r>
          </a:p>
        </p:txBody>
      </p:sp>
      <p:sp>
        <p:nvSpPr>
          <p:cNvPr id="15" name="TextBox 14"/>
          <p:cNvSpPr txBox="1"/>
          <p:nvPr/>
        </p:nvSpPr>
        <p:spPr>
          <a:xfrm>
            <a:off x="2240280" y="4242816"/>
            <a:ext cx="1920240" cy="457200"/>
          </a:xfrm>
          <a:prstGeom prst="rect">
            <a:avLst/>
          </a:prstGeom>
          <a:noFill/>
        </p:spPr>
        <p:txBody>
          <a:bodyPr wrap="square" lIns="0" rIns="0" tIns="0" bIns="0" anchor="t">
            <a:spAutoFit/>
          </a:bodyPr>
          <a:lstStyle/>
          <a:p>
            <a:pPr algn="l">
              <a:lnSpc>
                <a:spcPct val="125000"/>
              </a:lnSpc>
            </a:pPr>
            <a:r>
              <a:rPr sz="1000" b="0" i="0">
                <a:solidFill>
                  <a:srgbClr val="E8EDF7"/>
                </a:solidFill>
                <a:latin typeface="Calibri"/>
              </a:rPr>
              <a:t>Buyer-funded Pro Trial Seats skip Free ceiling</a:t>
            </a:r>
          </a:p>
        </p:txBody>
      </p:sp>
      <p:sp>
        <p:nvSpPr>
          <p:cNvPr id="16" name="TextBox 15"/>
          <p:cNvSpPr txBox="1"/>
          <p:nvPr/>
        </p:nvSpPr>
        <p:spPr>
          <a:xfrm>
            <a:off x="548640" y="4736592"/>
            <a:ext cx="1600200" cy="411480"/>
          </a:xfrm>
          <a:prstGeom prst="rect">
            <a:avLst/>
          </a:prstGeom>
          <a:noFill/>
        </p:spPr>
        <p:txBody>
          <a:bodyPr wrap="square" lIns="0" rIns="0" tIns="0" bIns="0" anchor="t">
            <a:spAutoFit/>
          </a:bodyPr>
          <a:lstStyle/>
          <a:p>
            <a:pPr algn="l">
              <a:lnSpc>
                <a:spcPct val="115000"/>
              </a:lnSpc>
            </a:pPr>
            <a:r>
              <a:rPr sz="2000" b="1" i="0">
                <a:solidFill>
                  <a:srgbClr val="F4B400"/>
                </a:solidFill>
                <a:latin typeface="Calibri"/>
              </a:rPr>
              <a:t>90 d</a:t>
            </a:r>
          </a:p>
        </p:txBody>
      </p:sp>
      <p:sp>
        <p:nvSpPr>
          <p:cNvPr id="17" name="TextBox 16"/>
          <p:cNvSpPr txBox="1"/>
          <p:nvPr/>
        </p:nvSpPr>
        <p:spPr>
          <a:xfrm>
            <a:off x="2240280" y="4809744"/>
            <a:ext cx="1920240" cy="457200"/>
          </a:xfrm>
          <a:prstGeom prst="rect">
            <a:avLst/>
          </a:prstGeom>
          <a:noFill/>
        </p:spPr>
        <p:txBody>
          <a:bodyPr wrap="square" lIns="0" rIns="0" tIns="0" bIns="0" anchor="t">
            <a:spAutoFit/>
          </a:bodyPr>
          <a:lstStyle/>
          <a:p>
            <a:pPr algn="l">
              <a:lnSpc>
                <a:spcPct val="125000"/>
              </a:lnSpc>
            </a:pPr>
            <a:r>
              <a:rPr sz="1000" b="0" i="0">
                <a:solidFill>
                  <a:srgbClr val="E8EDF7"/>
                </a:solidFill>
                <a:latin typeface="Calibri"/>
              </a:rPr>
              <a:t>Ghost-RFP ingestion accepted-signal window</a:t>
            </a:r>
          </a:p>
        </p:txBody>
      </p:sp>
      <p:sp>
        <p:nvSpPr>
          <p:cNvPr id="18" name="Rectangle 17"/>
          <p:cNvSpPr/>
          <p:nvPr/>
        </p:nvSpPr>
        <p:spPr>
          <a:xfrm>
            <a:off x="4434840" y="2148840"/>
            <a:ext cx="1609344" cy="1463040"/>
          </a:xfrm>
          <a:prstGeom prst="rect">
            <a:avLst/>
          </a:prstGeom>
          <a:solidFill>
            <a:srgbClr val="1E2B5C"/>
          </a:solidFill>
          <a:ln>
            <a:solidFill>
              <a:srgbClr val="4A7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34840" y="2148840"/>
            <a:ext cx="1609344" cy="73152"/>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99432" y="2313432"/>
            <a:ext cx="457200" cy="274320"/>
          </a:xfrm>
          <a:prstGeom prst="rect">
            <a:avLst/>
          </a:prstGeom>
          <a:noFill/>
        </p:spPr>
        <p:txBody>
          <a:bodyPr wrap="square" lIns="0" rIns="0" tIns="0" bIns="0" anchor="t">
            <a:spAutoFit/>
          </a:bodyPr>
          <a:lstStyle/>
          <a:p>
            <a:pPr algn="l">
              <a:lnSpc>
                <a:spcPct val="115000"/>
              </a:lnSpc>
            </a:pPr>
            <a:r>
              <a:rPr sz="1100" b="1" i="0">
                <a:solidFill>
                  <a:srgbClr val="4A7BFF"/>
                </a:solidFill>
                <a:latin typeface="Calibri"/>
              </a:rPr>
              <a:t>01</a:t>
            </a:r>
          </a:p>
        </p:txBody>
      </p:sp>
      <p:sp>
        <p:nvSpPr>
          <p:cNvPr id="21" name="TextBox 20"/>
          <p:cNvSpPr txBox="1"/>
          <p:nvPr/>
        </p:nvSpPr>
        <p:spPr>
          <a:xfrm>
            <a:off x="4599432" y="2651760"/>
            <a:ext cx="1335024" cy="868680"/>
          </a:xfrm>
          <a:prstGeom prst="rect">
            <a:avLst/>
          </a:prstGeom>
          <a:noFill/>
        </p:spPr>
        <p:txBody>
          <a:bodyPr wrap="square" lIns="0" rIns="0" tIns="0" bIns="0" anchor="t">
            <a:spAutoFit/>
          </a:bodyPr>
          <a:lstStyle/>
          <a:p>
            <a:pPr algn="l">
              <a:lnSpc>
                <a:spcPct val="125000"/>
              </a:lnSpc>
            </a:pPr>
            <a:r>
              <a:rPr sz="1000" b="0" i="0">
                <a:solidFill>
                  <a:srgbClr val="FFFFFF"/>
                </a:solidFill>
                <a:latin typeface="Calibri"/>
              </a:rPr>
              <a:t>Buyer invites vendor</a:t>
            </a:r>
          </a:p>
        </p:txBody>
      </p:sp>
      <p:cxnSp>
        <p:nvCxnSpPr>
          <p:cNvPr id="22" name="Connector 21"/>
          <p:cNvCxnSpPr/>
          <p:nvPr/>
        </p:nvCxnSpPr>
        <p:spPr>
          <a:xfrm>
            <a:off x="6062472.0" y="2880360.0"/>
            <a:ext cx="256032.0" cy="0.0"/>
          </a:xfrm>
          <a:prstGeom prst="line">
            <a:avLst/>
          </a:prstGeom>
          <a:ln w="31750">
            <a:solidFill>
              <a:srgbClr val="F4B40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217920" y="2752344"/>
            <a:ext cx="201168" cy="256032"/>
          </a:xfrm>
          <a:prstGeom prst="rect">
            <a:avLst/>
          </a:prstGeom>
          <a:noFill/>
        </p:spPr>
        <p:txBody>
          <a:bodyPr wrap="square" lIns="0" rIns="0" tIns="0" bIns="0" anchor="t">
            <a:spAutoFit/>
          </a:bodyPr>
          <a:lstStyle/>
          <a:p>
            <a:pPr algn="ctr">
              <a:lnSpc>
                <a:spcPct val="115000"/>
              </a:lnSpc>
            </a:pPr>
            <a:r>
              <a:rPr sz="1400" b="1" i="0">
                <a:solidFill>
                  <a:srgbClr val="F4B400"/>
                </a:solidFill>
                <a:latin typeface="Calibri"/>
              </a:rPr>
              <a:t>▶</a:t>
            </a:r>
          </a:p>
        </p:txBody>
      </p:sp>
      <p:sp>
        <p:nvSpPr>
          <p:cNvPr id="24" name="Rectangle 23"/>
          <p:cNvSpPr/>
          <p:nvPr/>
        </p:nvSpPr>
        <p:spPr>
          <a:xfrm>
            <a:off x="6336792" y="2148840"/>
            <a:ext cx="1609344" cy="1463040"/>
          </a:xfrm>
          <a:prstGeom prst="rect">
            <a:avLst/>
          </a:prstGeom>
          <a:solidFill>
            <a:srgbClr val="1E2B5C"/>
          </a:solidFill>
          <a:ln>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336792" y="2148840"/>
            <a:ext cx="1609344" cy="731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01384" y="2313432"/>
            <a:ext cx="457200" cy="274320"/>
          </a:xfrm>
          <a:prstGeom prst="rect">
            <a:avLst/>
          </a:prstGeom>
          <a:noFill/>
        </p:spPr>
        <p:txBody>
          <a:bodyPr wrap="square" lIns="0" rIns="0" tIns="0" bIns="0" anchor="t">
            <a:spAutoFit/>
          </a:bodyPr>
          <a:lstStyle/>
          <a:p>
            <a:pPr algn="l">
              <a:lnSpc>
                <a:spcPct val="115000"/>
              </a:lnSpc>
            </a:pPr>
            <a:r>
              <a:rPr sz="1100" b="1" i="0">
                <a:solidFill>
                  <a:srgbClr val="7C3AED"/>
                </a:solidFill>
                <a:latin typeface="Calibri"/>
              </a:rPr>
              <a:t>02</a:t>
            </a:r>
          </a:p>
        </p:txBody>
      </p:sp>
      <p:sp>
        <p:nvSpPr>
          <p:cNvPr id="27" name="TextBox 26"/>
          <p:cNvSpPr txBox="1"/>
          <p:nvPr/>
        </p:nvSpPr>
        <p:spPr>
          <a:xfrm>
            <a:off x="6501384" y="2651760"/>
            <a:ext cx="1335024" cy="868680"/>
          </a:xfrm>
          <a:prstGeom prst="rect">
            <a:avLst/>
          </a:prstGeom>
          <a:noFill/>
        </p:spPr>
        <p:txBody>
          <a:bodyPr wrap="square" lIns="0" rIns="0" tIns="0" bIns="0" anchor="t">
            <a:spAutoFit/>
          </a:bodyPr>
          <a:lstStyle/>
          <a:p>
            <a:pPr algn="l">
              <a:lnSpc>
                <a:spcPct val="125000"/>
              </a:lnSpc>
            </a:pPr>
            <a:r>
              <a:rPr sz="1000" b="0" i="0">
                <a:solidFill>
                  <a:srgbClr val="FFFFFF"/>
                </a:solidFill>
                <a:latin typeface="Calibri"/>
              </a:rPr>
              <a:t>Vendor forced signup</a:t>
            </a:r>
          </a:p>
          <a:p>
            <a:pPr algn="l">
              <a:lnSpc>
                <a:spcPct val="125000"/>
              </a:lnSpc>
            </a:pPr>
            <a:r>
              <a:rPr sz="1000" b="0" i="0">
                <a:solidFill>
                  <a:srgbClr val="FFFFFF"/>
                </a:solidFill>
                <a:latin typeface="Calibri"/>
              </a:rPr>
              <a:t>via magic-link (M1)</a:t>
            </a:r>
          </a:p>
        </p:txBody>
      </p:sp>
      <p:cxnSp>
        <p:nvCxnSpPr>
          <p:cNvPr id="28" name="Connector 27"/>
          <p:cNvCxnSpPr/>
          <p:nvPr/>
        </p:nvCxnSpPr>
        <p:spPr>
          <a:xfrm>
            <a:off x="7964424.0" y="2880360.0"/>
            <a:ext cx="256032.0" cy="0.0"/>
          </a:xfrm>
          <a:prstGeom prst="line">
            <a:avLst/>
          </a:prstGeom>
          <a:ln w="31750">
            <a:solidFill>
              <a:srgbClr val="F4B4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119872" y="2752344"/>
            <a:ext cx="201168" cy="256032"/>
          </a:xfrm>
          <a:prstGeom prst="rect">
            <a:avLst/>
          </a:prstGeom>
          <a:noFill/>
        </p:spPr>
        <p:txBody>
          <a:bodyPr wrap="square" lIns="0" rIns="0" tIns="0" bIns="0" anchor="t">
            <a:spAutoFit/>
          </a:bodyPr>
          <a:lstStyle/>
          <a:p>
            <a:pPr algn="ctr">
              <a:lnSpc>
                <a:spcPct val="115000"/>
              </a:lnSpc>
            </a:pPr>
            <a:r>
              <a:rPr sz="1400" b="1" i="0">
                <a:solidFill>
                  <a:srgbClr val="F4B400"/>
                </a:solidFill>
                <a:latin typeface="Calibri"/>
              </a:rPr>
              <a:t>▶</a:t>
            </a:r>
          </a:p>
        </p:txBody>
      </p:sp>
      <p:sp>
        <p:nvSpPr>
          <p:cNvPr id="30" name="Rectangle 29"/>
          <p:cNvSpPr/>
          <p:nvPr/>
        </p:nvSpPr>
        <p:spPr>
          <a:xfrm>
            <a:off x="8238744" y="2148840"/>
            <a:ext cx="1609344" cy="1463040"/>
          </a:xfrm>
          <a:prstGeom prst="rect">
            <a:avLst/>
          </a:prstGeom>
          <a:solidFill>
            <a:srgbClr val="1E2B5C"/>
          </a:solidFill>
          <a:ln>
            <a:solidFill>
              <a:srgbClr val="F4B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238744" y="2148840"/>
            <a:ext cx="1609344" cy="73152"/>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03336" y="2313432"/>
            <a:ext cx="457200" cy="274320"/>
          </a:xfrm>
          <a:prstGeom prst="rect">
            <a:avLst/>
          </a:prstGeom>
          <a:noFill/>
        </p:spPr>
        <p:txBody>
          <a:bodyPr wrap="square" lIns="0" rIns="0" tIns="0" bIns="0" anchor="t">
            <a:spAutoFit/>
          </a:bodyPr>
          <a:lstStyle/>
          <a:p>
            <a:pPr algn="l">
              <a:lnSpc>
                <a:spcPct val="115000"/>
              </a:lnSpc>
            </a:pPr>
            <a:r>
              <a:rPr sz="1100" b="1" i="0">
                <a:solidFill>
                  <a:srgbClr val="F4B400"/>
                </a:solidFill>
                <a:latin typeface="Calibri"/>
              </a:rPr>
              <a:t>03</a:t>
            </a:r>
          </a:p>
        </p:txBody>
      </p:sp>
      <p:sp>
        <p:nvSpPr>
          <p:cNvPr id="33" name="TextBox 32"/>
          <p:cNvSpPr txBox="1"/>
          <p:nvPr/>
        </p:nvSpPr>
        <p:spPr>
          <a:xfrm>
            <a:off x="8403336" y="2651760"/>
            <a:ext cx="1335024" cy="868680"/>
          </a:xfrm>
          <a:prstGeom prst="rect">
            <a:avLst/>
          </a:prstGeom>
          <a:noFill/>
        </p:spPr>
        <p:txBody>
          <a:bodyPr wrap="square" lIns="0" rIns="0" tIns="0" bIns="0" anchor="t">
            <a:spAutoFit/>
          </a:bodyPr>
          <a:lstStyle/>
          <a:p>
            <a:pPr algn="l">
              <a:lnSpc>
                <a:spcPct val="125000"/>
              </a:lnSpc>
            </a:pPr>
            <a:r>
              <a:rPr sz="1000" b="0" i="0">
                <a:solidFill>
                  <a:srgbClr val="FFFFFF"/>
                </a:solidFill>
                <a:latin typeface="Calibri"/>
              </a:rPr>
              <a:t>Hero Moment —</a:t>
            </a:r>
          </a:p>
          <a:p>
            <a:pPr algn="l">
              <a:lnSpc>
                <a:spcPct val="125000"/>
              </a:lnSpc>
            </a:pPr>
            <a:r>
              <a:rPr sz="1000" b="0" i="0">
                <a:solidFill>
                  <a:srgbClr val="FFFFFF"/>
                </a:solidFill>
                <a:latin typeface="Calibri"/>
              </a:rPr>
              <a:t>bootstrap + draft</a:t>
            </a:r>
          </a:p>
        </p:txBody>
      </p:sp>
      <p:cxnSp>
        <p:nvCxnSpPr>
          <p:cNvPr id="34" name="Connector 33"/>
          <p:cNvCxnSpPr/>
          <p:nvPr/>
        </p:nvCxnSpPr>
        <p:spPr>
          <a:xfrm>
            <a:off x="9866376.0" y="2880360.0"/>
            <a:ext cx="256032.0" cy="0.0"/>
          </a:xfrm>
          <a:prstGeom prst="line">
            <a:avLst/>
          </a:prstGeom>
          <a:ln w="31750">
            <a:solidFill>
              <a:srgbClr val="F4B40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021824" y="2752344"/>
            <a:ext cx="201168" cy="256032"/>
          </a:xfrm>
          <a:prstGeom prst="rect">
            <a:avLst/>
          </a:prstGeom>
          <a:noFill/>
        </p:spPr>
        <p:txBody>
          <a:bodyPr wrap="square" lIns="0" rIns="0" tIns="0" bIns="0" anchor="t">
            <a:spAutoFit/>
          </a:bodyPr>
          <a:lstStyle/>
          <a:p>
            <a:pPr algn="ctr">
              <a:lnSpc>
                <a:spcPct val="115000"/>
              </a:lnSpc>
            </a:pPr>
            <a:r>
              <a:rPr sz="1400" b="1" i="0">
                <a:solidFill>
                  <a:srgbClr val="F4B400"/>
                </a:solidFill>
                <a:latin typeface="Calibri"/>
              </a:rPr>
              <a:t>▶</a:t>
            </a:r>
          </a:p>
        </p:txBody>
      </p:sp>
      <p:sp>
        <p:nvSpPr>
          <p:cNvPr id="36" name="Rectangle 35"/>
          <p:cNvSpPr/>
          <p:nvPr/>
        </p:nvSpPr>
        <p:spPr>
          <a:xfrm>
            <a:off x="10140696" y="2148840"/>
            <a:ext cx="1609344" cy="1463040"/>
          </a:xfrm>
          <a:prstGeom prst="rect">
            <a:avLst/>
          </a:prstGeom>
          <a:solidFill>
            <a:srgbClr val="1E2B5C"/>
          </a:solidFill>
          <a:ln>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140696" y="2148840"/>
            <a:ext cx="1609344" cy="731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305288" y="2313432"/>
            <a:ext cx="457200" cy="274320"/>
          </a:xfrm>
          <a:prstGeom prst="rect">
            <a:avLst/>
          </a:prstGeom>
          <a:noFill/>
        </p:spPr>
        <p:txBody>
          <a:bodyPr wrap="square" lIns="0" rIns="0" tIns="0" bIns="0" anchor="t">
            <a:spAutoFit/>
          </a:bodyPr>
          <a:lstStyle/>
          <a:p>
            <a:pPr algn="l">
              <a:lnSpc>
                <a:spcPct val="115000"/>
              </a:lnSpc>
            </a:pPr>
            <a:r>
              <a:rPr sz="1100" b="1" i="0">
                <a:solidFill>
                  <a:srgbClr val="7C3AED"/>
                </a:solidFill>
                <a:latin typeface="Calibri"/>
              </a:rPr>
              <a:t>04</a:t>
            </a:r>
          </a:p>
        </p:txBody>
      </p:sp>
      <p:sp>
        <p:nvSpPr>
          <p:cNvPr id="39" name="TextBox 38"/>
          <p:cNvSpPr txBox="1"/>
          <p:nvPr/>
        </p:nvSpPr>
        <p:spPr>
          <a:xfrm>
            <a:off x="10305288" y="2651760"/>
            <a:ext cx="1335024" cy="868680"/>
          </a:xfrm>
          <a:prstGeom prst="rect">
            <a:avLst/>
          </a:prstGeom>
          <a:noFill/>
        </p:spPr>
        <p:txBody>
          <a:bodyPr wrap="square" lIns="0" rIns="0" tIns="0" bIns="0" anchor="t">
            <a:spAutoFit/>
          </a:bodyPr>
          <a:lstStyle/>
          <a:p>
            <a:pPr algn="l">
              <a:lnSpc>
                <a:spcPct val="125000"/>
              </a:lnSpc>
            </a:pPr>
            <a:r>
              <a:rPr sz="1000" b="0" i="0">
                <a:solidFill>
                  <a:srgbClr val="FFFFFF"/>
                </a:solidFill>
                <a:latin typeface="Calibri"/>
              </a:rPr>
              <a:t>First bid submitted —</a:t>
            </a:r>
          </a:p>
          <a:p>
            <a:pPr algn="l">
              <a:lnSpc>
                <a:spcPct val="125000"/>
              </a:lnSpc>
            </a:pPr>
            <a:r>
              <a:rPr sz="1000" b="0" i="0">
                <a:solidFill>
                  <a:srgbClr val="FFFFFF"/>
                </a:solidFill>
                <a:latin typeface="Calibri"/>
              </a:rPr>
              <a:t>KB stays on platform</a:t>
            </a:r>
          </a:p>
        </p:txBody>
      </p:sp>
      <p:sp>
        <p:nvSpPr>
          <p:cNvPr id="40" name="Rectangle 39"/>
          <p:cNvSpPr/>
          <p:nvPr/>
        </p:nvSpPr>
        <p:spPr>
          <a:xfrm>
            <a:off x="10140696" y="4114800"/>
            <a:ext cx="1609344" cy="1463040"/>
          </a:xfrm>
          <a:prstGeom prst="rect">
            <a:avLst/>
          </a:prstGeom>
          <a:solidFill>
            <a:srgbClr val="1E2B5C"/>
          </a:solidFill>
          <a:ln>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0140696" y="4114800"/>
            <a:ext cx="1609344" cy="73152"/>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305288" y="4279392"/>
            <a:ext cx="457200" cy="274320"/>
          </a:xfrm>
          <a:prstGeom prst="rect">
            <a:avLst/>
          </a:prstGeom>
          <a:noFill/>
        </p:spPr>
        <p:txBody>
          <a:bodyPr wrap="square" lIns="0" rIns="0" tIns="0" bIns="0" anchor="t">
            <a:spAutoFit/>
          </a:bodyPr>
          <a:lstStyle/>
          <a:p>
            <a:pPr algn="l">
              <a:lnSpc>
                <a:spcPct val="115000"/>
              </a:lnSpc>
            </a:pPr>
            <a:r>
              <a:rPr sz="1100" b="1" i="0">
                <a:solidFill>
                  <a:srgbClr val="14B8A6"/>
                </a:solidFill>
                <a:latin typeface="Calibri"/>
              </a:rPr>
              <a:t>05</a:t>
            </a:r>
          </a:p>
        </p:txBody>
      </p:sp>
      <p:sp>
        <p:nvSpPr>
          <p:cNvPr id="43" name="TextBox 42"/>
          <p:cNvSpPr txBox="1"/>
          <p:nvPr/>
        </p:nvSpPr>
        <p:spPr>
          <a:xfrm>
            <a:off x="10305288" y="4617720"/>
            <a:ext cx="1335024" cy="868680"/>
          </a:xfrm>
          <a:prstGeom prst="rect">
            <a:avLst/>
          </a:prstGeom>
          <a:noFill/>
        </p:spPr>
        <p:txBody>
          <a:bodyPr wrap="square" lIns="0" rIns="0" tIns="0" bIns="0" anchor="t">
            <a:spAutoFit/>
          </a:bodyPr>
          <a:lstStyle/>
          <a:p>
            <a:pPr algn="l">
              <a:lnSpc>
                <a:spcPct val="125000"/>
              </a:lnSpc>
            </a:pPr>
            <a:r>
              <a:rPr sz="1000" b="0" i="0">
                <a:solidFill>
                  <a:srgbClr val="FFFFFF"/>
                </a:solidFill>
                <a:latin typeface="Calibri"/>
              </a:rPr>
              <a:t>KB compounds —</a:t>
            </a:r>
          </a:p>
          <a:p>
            <a:pPr algn="l">
              <a:lnSpc>
                <a:spcPct val="125000"/>
              </a:lnSpc>
            </a:pPr>
            <a:r>
              <a:rPr sz="1000" b="0" i="0">
                <a:solidFill>
                  <a:srgbClr val="FFFFFF"/>
                </a:solidFill>
                <a:latin typeface="Calibri"/>
              </a:rPr>
              <a:t>every bid improves it</a:t>
            </a:r>
          </a:p>
        </p:txBody>
      </p:sp>
      <p:cxnSp>
        <p:nvCxnSpPr>
          <p:cNvPr id="44" name="Connector 43"/>
          <p:cNvCxnSpPr/>
          <p:nvPr/>
        </p:nvCxnSpPr>
        <p:spPr>
          <a:xfrm>
            <a:off x="9866376.0" y="4846320.0"/>
            <a:ext cx="256032.0" cy="0.0"/>
          </a:xfrm>
          <a:prstGeom prst="line">
            <a:avLst/>
          </a:prstGeom>
          <a:ln w="31750">
            <a:solidFill>
              <a:srgbClr val="F4B400"/>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9765792" y="4718304"/>
            <a:ext cx="201168" cy="256032"/>
          </a:xfrm>
          <a:prstGeom prst="rect">
            <a:avLst/>
          </a:prstGeom>
          <a:noFill/>
        </p:spPr>
        <p:txBody>
          <a:bodyPr wrap="square" lIns="0" rIns="0" tIns="0" bIns="0" anchor="t">
            <a:spAutoFit/>
          </a:bodyPr>
          <a:lstStyle/>
          <a:p>
            <a:pPr algn="ctr">
              <a:lnSpc>
                <a:spcPct val="115000"/>
              </a:lnSpc>
            </a:pPr>
            <a:r>
              <a:rPr sz="1400" b="1" i="0">
                <a:solidFill>
                  <a:srgbClr val="F4B400"/>
                </a:solidFill>
                <a:latin typeface="Calibri"/>
              </a:rPr>
              <a:t>◀</a:t>
            </a:r>
          </a:p>
        </p:txBody>
      </p:sp>
      <p:sp>
        <p:nvSpPr>
          <p:cNvPr id="46" name="Rectangle 45"/>
          <p:cNvSpPr/>
          <p:nvPr/>
        </p:nvSpPr>
        <p:spPr>
          <a:xfrm>
            <a:off x="8238744" y="4114800"/>
            <a:ext cx="1609344" cy="1463040"/>
          </a:xfrm>
          <a:prstGeom prst="rect">
            <a:avLst/>
          </a:prstGeom>
          <a:solidFill>
            <a:srgbClr val="1E2B5C"/>
          </a:solidFill>
          <a:ln>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238744" y="4114800"/>
            <a:ext cx="1609344" cy="73152"/>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03336" y="4279392"/>
            <a:ext cx="457200" cy="274320"/>
          </a:xfrm>
          <a:prstGeom prst="rect">
            <a:avLst/>
          </a:prstGeom>
          <a:noFill/>
        </p:spPr>
        <p:txBody>
          <a:bodyPr wrap="square" lIns="0" rIns="0" tIns="0" bIns="0" anchor="t">
            <a:spAutoFit/>
          </a:bodyPr>
          <a:lstStyle/>
          <a:p>
            <a:pPr algn="l">
              <a:lnSpc>
                <a:spcPct val="115000"/>
              </a:lnSpc>
            </a:pPr>
            <a:r>
              <a:rPr sz="1100" b="1" i="0">
                <a:solidFill>
                  <a:srgbClr val="14B8A6"/>
                </a:solidFill>
                <a:latin typeface="Calibri"/>
              </a:rPr>
              <a:t>06</a:t>
            </a:r>
          </a:p>
        </p:txBody>
      </p:sp>
      <p:sp>
        <p:nvSpPr>
          <p:cNvPr id="49" name="TextBox 48"/>
          <p:cNvSpPr txBox="1"/>
          <p:nvPr/>
        </p:nvSpPr>
        <p:spPr>
          <a:xfrm>
            <a:off x="8403336" y="4617720"/>
            <a:ext cx="1335024" cy="868680"/>
          </a:xfrm>
          <a:prstGeom prst="rect">
            <a:avLst/>
          </a:prstGeom>
          <a:noFill/>
        </p:spPr>
        <p:txBody>
          <a:bodyPr wrap="square" lIns="0" rIns="0" tIns="0" bIns="0" anchor="t">
            <a:spAutoFit/>
          </a:bodyPr>
          <a:lstStyle/>
          <a:p>
            <a:pPr algn="l">
              <a:lnSpc>
                <a:spcPct val="125000"/>
              </a:lnSpc>
            </a:pPr>
            <a:r>
              <a:rPr sz="1000" b="0" i="0">
                <a:solidFill>
                  <a:srgbClr val="FFFFFF"/>
                </a:solidFill>
                <a:latin typeface="Calibri"/>
              </a:rPr>
              <a:t>Marketplace inventory</a:t>
            </a:r>
          </a:p>
          <a:p>
            <a:pPr algn="l">
              <a:lnSpc>
                <a:spcPct val="125000"/>
              </a:lnSpc>
            </a:pPr>
            <a:r>
              <a:rPr sz="1000" b="0" i="0">
                <a:solidFill>
                  <a:srgbClr val="FFFFFF"/>
                </a:solidFill>
                <a:latin typeface="Calibri"/>
              </a:rPr>
              <a:t>grows organically</a:t>
            </a:r>
          </a:p>
        </p:txBody>
      </p:sp>
      <p:cxnSp>
        <p:nvCxnSpPr>
          <p:cNvPr id="50" name="Connector 49"/>
          <p:cNvCxnSpPr/>
          <p:nvPr/>
        </p:nvCxnSpPr>
        <p:spPr>
          <a:xfrm>
            <a:off x="7964424.0" y="4846320.0"/>
            <a:ext cx="256032.0" cy="0.0"/>
          </a:xfrm>
          <a:prstGeom prst="line">
            <a:avLst/>
          </a:prstGeom>
          <a:ln w="31750">
            <a:solidFill>
              <a:srgbClr val="F4B400"/>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7863840" y="4718304"/>
            <a:ext cx="201168" cy="256032"/>
          </a:xfrm>
          <a:prstGeom prst="rect">
            <a:avLst/>
          </a:prstGeom>
          <a:noFill/>
        </p:spPr>
        <p:txBody>
          <a:bodyPr wrap="square" lIns="0" rIns="0" tIns="0" bIns="0" anchor="t">
            <a:spAutoFit/>
          </a:bodyPr>
          <a:lstStyle/>
          <a:p>
            <a:pPr algn="ctr">
              <a:lnSpc>
                <a:spcPct val="115000"/>
              </a:lnSpc>
            </a:pPr>
            <a:r>
              <a:rPr sz="1400" b="1" i="0">
                <a:solidFill>
                  <a:srgbClr val="F4B400"/>
                </a:solidFill>
                <a:latin typeface="Calibri"/>
              </a:rPr>
              <a:t>◀</a:t>
            </a:r>
          </a:p>
        </p:txBody>
      </p:sp>
      <p:sp>
        <p:nvSpPr>
          <p:cNvPr id="52" name="Rectangle 51"/>
          <p:cNvSpPr/>
          <p:nvPr/>
        </p:nvSpPr>
        <p:spPr>
          <a:xfrm>
            <a:off x="6336792" y="4114800"/>
            <a:ext cx="1609344" cy="1463040"/>
          </a:xfrm>
          <a:prstGeom prst="rect">
            <a:avLst/>
          </a:prstGeom>
          <a:solidFill>
            <a:srgbClr val="1E2B5C"/>
          </a:solidFill>
          <a:ln>
            <a:solidFill>
              <a:srgbClr val="4A7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336792" y="4114800"/>
            <a:ext cx="1609344" cy="73152"/>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501384" y="4279392"/>
            <a:ext cx="457200" cy="274320"/>
          </a:xfrm>
          <a:prstGeom prst="rect">
            <a:avLst/>
          </a:prstGeom>
          <a:noFill/>
        </p:spPr>
        <p:txBody>
          <a:bodyPr wrap="square" lIns="0" rIns="0" tIns="0" bIns="0" anchor="t">
            <a:spAutoFit/>
          </a:bodyPr>
          <a:lstStyle/>
          <a:p>
            <a:pPr algn="l">
              <a:lnSpc>
                <a:spcPct val="115000"/>
              </a:lnSpc>
            </a:pPr>
            <a:r>
              <a:rPr sz="1100" b="1" i="0">
                <a:solidFill>
                  <a:srgbClr val="4A7BFF"/>
                </a:solidFill>
                <a:latin typeface="Calibri"/>
              </a:rPr>
              <a:t>07</a:t>
            </a:r>
          </a:p>
        </p:txBody>
      </p:sp>
      <p:sp>
        <p:nvSpPr>
          <p:cNvPr id="55" name="TextBox 54"/>
          <p:cNvSpPr txBox="1"/>
          <p:nvPr/>
        </p:nvSpPr>
        <p:spPr>
          <a:xfrm>
            <a:off x="6501384" y="4617720"/>
            <a:ext cx="1335024" cy="868680"/>
          </a:xfrm>
          <a:prstGeom prst="rect">
            <a:avLst/>
          </a:prstGeom>
          <a:noFill/>
        </p:spPr>
        <p:txBody>
          <a:bodyPr wrap="square" lIns="0" rIns="0" tIns="0" bIns="0" anchor="t">
            <a:spAutoFit/>
          </a:bodyPr>
          <a:lstStyle/>
          <a:p>
            <a:pPr algn="l">
              <a:lnSpc>
                <a:spcPct val="125000"/>
              </a:lnSpc>
            </a:pPr>
            <a:r>
              <a:rPr sz="1000" b="0" i="0">
                <a:solidFill>
                  <a:srgbClr val="FFFFFF"/>
                </a:solidFill>
                <a:latin typeface="Calibri"/>
              </a:rPr>
              <a:t>SEO surfaces compound</a:t>
            </a:r>
          </a:p>
          <a:p>
            <a:pPr algn="l">
              <a:lnSpc>
                <a:spcPct val="125000"/>
              </a:lnSpc>
            </a:pPr>
            <a:r>
              <a:rPr sz="1000" b="0" i="0">
                <a:solidFill>
                  <a:srgbClr val="FFFFFF"/>
                </a:solidFill>
                <a:latin typeface="Calibri"/>
              </a:rPr>
              <a:t>(M9 · M11 · M12)</a:t>
            </a:r>
          </a:p>
        </p:txBody>
      </p:sp>
      <p:cxnSp>
        <p:nvCxnSpPr>
          <p:cNvPr id="56" name="Connector 55"/>
          <p:cNvCxnSpPr/>
          <p:nvPr/>
        </p:nvCxnSpPr>
        <p:spPr>
          <a:xfrm>
            <a:off x="6062472.0" y="4846320.0"/>
            <a:ext cx="256032.0" cy="0.0"/>
          </a:xfrm>
          <a:prstGeom prst="line">
            <a:avLst/>
          </a:prstGeom>
          <a:ln w="31750">
            <a:solidFill>
              <a:srgbClr val="F4B400"/>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5961888" y="4718304"/>
            <a:ext cx="201168" cy="256032"/>
          </a:xfrm>
          <a:prstGeom prst="rect">
            <a:avLst/>
          </a:prstGeom>
          <a:noFill/>
        </p:spPr>
        <p:txBody>
          <a:bodyPr wrap="square" lIns="0" rIns="0" tIns="0" bIns="0" anchor="t">
            <a:spAutoFit/>
          </a:bodyPr>
          <a:lstStyle/>
          <a:p>
            <a:pPr algn="ctr">
              <a:lnSpc>
                <a:spcPct val="115000"/>
              </a:lnSpc>
            </a:pPr>
            <a:r>
              <a:rPr sz="1400" b="1" i="0">
                <a:solidFill>
                  <a:srgbClr val="F4B400"/>
                </a:solidFill>
                <a:latin typeface="Calibri"/>
              </a:rPr>
              <a:t>◀</a:t>
            </a:r>
          </a:p>
        </p:txBody>
      </p:sp>
      <p:sp>
        <p:nvSpPr>
          <p:cNvPr id="58" name="Rectangle 57"/>
          <p:cNvSpPr/>
          <p:nvPr/>
        </p:nvSpPr>
        <p:spPr>
          <a:xfrm>
            <a:off x="4434840" y="4114800"/>
            <a:ext cx="1609344" cy="1463040"/>
          </a:xfrm>
          <a:prstGeom prst="rect">
            <a:avLst/>
          </a:prstGeom>
          <a:solidFill>
            <a:srgbClr val="1E2B5C"/>
          </a:solidFill>
          <a:ln>
            <a:solidFill>
              <a:srgbClr val="4A7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4434840" y="4114800"/>
            <a:ext cx="1609344" cy="73152"/>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599432" y="4279392"/>
            <a:ext cx="457200" cy="274320"/>
          </a:xfrm>
          <a:prstGeom prst="rect">
            <a:avLst/>
          </a:prstGeom>
          <a:noFill/>
        </p:spPr>
        <p:txBody>
          <a:bodyPr wrap="square" lIns="0" rIns="0" tIns="0" bIns="0" anchor="t">
            <a:spAutoFit/>
          </a:bodyPr>
          <a:lstStyle/>
          <a:p>
            <a:pPr algn="l">
              <a:lnSpc>
                <a:spcPct val="115000"/>
              </a:lnSpc>
            </a:pPr>
            <a:r>
              <a:rPr sz="1100" b="1" i="0">
                <a:solidFill>
                  <a:srgbClr val="4A7BFF"/>
                </a:solidFill>
                <a:latin typeface="Calibri"/>
              </a:rPr>
              <a:t>08</a:t>
            </a:r>
          </a:p>
        </p:txBody>
      </p:sp>
      <p:sp>
        <p:nvSpPr>
          <p:cNvPr id="61" name="TextBox 60"/>
          <p:cNvSpPr txBox="1"/>
          <p:nvPr/>
        </p:nvSpPr>
        <p:spPr>
          <a:xfrm>
            <a:off x="4599432" y="4617720"/>
            <a:ext cx="1335024" cy="868680"/>
          </a:xfrm>
          <a:prstGeom prst="rect">
            <a:avLst/>
          </a:prstGeom>
          <a:noFill/>
        </p:spPr>
        <p:txBody>
          <a:bodyPr wrap="square" lIns="0" rIns="0" tIns="0" bIns="0" anchor="t">
            <a:spAutoFit/>
          </a:bodyPr>
          <a:lstStyle/>
          <a:p>
            <a:pPr algn="l">
              <a:lnSpc>
                <a:spcPct val="125000"/>
              </a:lnSpc>
            </a:pPr>
            <a:r>
              <a:rPr sz="1000" b="0" i="0">
                <a:solidFill>
                  <a:srgbClr val="FFFFFF"/>
                </a:solidFill>
                <a:latin typeface="Calibri"/>
              </a:rPr>
              <a:t>Inbound buyer demand</a:t>
            </a:r>
          </a:p>
          <a:p>
            <a:pPr algn="l">
              <a:lnSpc>
                <a:spcPct val="125000"/>
              </a:lnSpc>
            </a:pPr>
            <a:r>
              <a:rPr sz="1000" b="0" i="0">
                <a:solidFill>
                  <a:srgbClr val="FFFFFF"/>
                </a:solidFill>
                <a:latin typeface="Calibri"/>
              </a:rPr>
              <a:t>inflects → loop restarts</a:t>
            </a:r>
          </a:p>
        </p:txBody>
      </p:sp>
      <p:cxnSp>
        <p:nvCxnSpPr>
          <p:cNvPr id="62" name="Connector 61"/>
          <p:cNvCxnSpPr/>
          <p:nvPr/>
        </p:nvCxnSpPr>
        <p:spPr>
          <a:xfrm>
            <a:off x="10945368.0" y="3648456"/>
            <a:ext cx="0.0" cy="429768"/>
          </a:xfrm>
          <a:prstGeom prst="line">
            <a:avLst/>
          </a:prstGeom>
          <a:ln w="31750">
            <a:solidFill>
              <a:srgbClr val="F4B400"/>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10817352" y="3858768"/>
            <a:ext cx="256032" cy="256032"/>
          </a:xfrm>
          <a:prstGeom prst="rect">
            <a:avLst/>
          </a:prstGeom>
          <a:noFill/>
        </p:spPr>
        <p:txBody>
          <a:bodyPr wrap="square" lIns="0" rIns="0" tIns="0" bIns="0" anchor="t">
            <a:spAutoFit/>
          </a:bodyPr>
          <a:lstStyle/>
          <a:p>
            <a:pPr algn="ctr">
              <a:lnSpc>
                <a:spcPct val="115000"/>
              </a:lnSpc>
            </a:pPr>
            <a:r>
              <a:rPr sz="1400" b="1" i="0">
                <a:solidFill>
                  <a:srgbClr val="F4B400"/>
                </a:solidFill>
                <a:latin typeface="Calibri"/>
              </a:rPr>
              <a:t>▼</a:t>
            </a:r>
          </a:p>
        </p:txBody>
      </p:sp>
      <p:cxnSp>
        <p:nvCxnSpPr>
          <p:cNvPr id="64" name="Connector 63"/>
          <p:cNvCxnSpPr/>
          <p:nvPr/>
        </p:nvCxnSpPr>
        <p:spPr>
          <a:xfrm flipV="1">
            <a:off x="5239512.0" y="3648456"/>
            <a:ext cx="0.0" cy="429768"/>
          </a:xfrm>
          <a:prstGeom prst="line">
            <a:avLst/>
          </a:prstGeom>
          <a:ln w="31750">
            <a:solidFill>
              <a:srgbClr val="F4B400"/>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5111496" y="3630168"/>
            <a:ext cx="256032" cy="256032"/>
          </a:xfrm>
          <a:prstGeom prst="rect">
            <a:avLst/>
          </a:prstGeom>
          <a:noFill/>
        </p:spPr>
        <p:txBody>
          <a:bodyPr wrap="square" lIns="0" rIns="0" tIns="0" bIns="0" anchor="t">
            <a:spAutoFit/>
          </a:bodyPr>
          <a:lstStyle/>
          <a:p>
            <a:pPr algn="ctr">
              <a:lnSpc>
                <a:spcPct val="115000"/>
              </a:lnSpc>
            </a:pPr>
            <a:r>
              <a:rPr sz="1400" b="1" i="0">
                <a:solidFill>
                  <a:srgbClr val="F4B400"/>
                </a:solidFill>
                <a:latin typeface="Calibri"/>
              </a:rPr>
              <a:t>▲</a:t>
            </a:r>
          </a:p>
        </p:txBody>
      </p:sp>
      <p:sp>
        <p:nvSpPr>
          <p:cNvPr id="66" name="TextBox 65"/>
          <p:cNvSpPr txBox="1"/>
          <p:nvPr/>
        </p:nvSpPr>
        <p:spPr>
          <a:xfrm>
            <a:off x="4434840" y="5852160"/>
            <a:ext cx="7315200" cy="274320"/>
          </a:xfrm>
          <a:prstGeom prst="rect">
            <a:avLst/>
          </a:prstGeom>
          <a:noFill/>
        </p:spPr>
        <p:txBody>
          <a:bodyPr wrap="square" lIns="0" rIns="0" tIns="0" bIns="0" anchor="t">
            <a:spAutoFit/>
          </a:bodyPr>
          <a:lstStyle/>
          <a:p>
            <a:pPr algn="ctr">
              <a:lnSpc>
                <a:spcPct val="115000"/>
              </a:lnSpc>
            </a:pPr>
            <a:r>
              <a:rPr sz="1100" b="0" i="1">
                <a:solidFill>
                  <a:srgbClr val="A8B2CC"/>
                </a:solidFill>
                <a:latin typeface="Calibri"/>
              </a:rPr>
              <a:t>Each rotation makes the next one cheaper. The Marketplace is the compounding surface.</a:t>
            </a:r>
          </a:p>
        </p:txBody>
      </p:sp>
      <p:cxnSp>
        <p:nvCxnSpPr>
          <p:cNvPr id="67" name="Connector 66"/>
          <p:cNvCxnSpPr/>
          <p:nvPr/>
        </p:nvCxnSpPr>
        <p:spPr>
          <a:xfrm>
            <a:off x="548640" y="6355080"/>
            <a:ext cx="11094415" cy="0"/>
          </a:xfrm>
          <a:prstGeom prst="line">
            <a:avLst/>
          </a:prstGeom>
          <a:ln w="9525">
            <a:solidFill>
              <a:srgbClr val="1E2B5C"/>
            </a:solidFill>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548640" y="6437376"/>
            <a:ext cx="3657600" cy="274320"/>
          </a:xfrm>
          <a:prstGeom prst="rect">
            <a:avLst/>
          </a:prstGeom>
          <a:noFill/>
        </p:spPr>
        <p:txBody>
          <a:bodyPr wrap="square" lIns="0" rIns="0" tIns="0" bIns="0" anchor="t">
            <a:spAutoFit/>
          </a:bodyPr>
          <a:lstStyle/>
          <a:p>
            <a:pPr algn="l">
              <a:lnSpc>
                <a:spcPct val="115000"/>
              </a:lnSpc>
            </a:pPr>
            <a:r>
              <a:rPr sz="900" b="1" i="0">
                <a:solidFill>
                  <a:srgbClr val="A8B2CC"/>
                </a:solidFill>
                <a:latin typeface="Calibri"/>
              </a:rPr>
              <a:t>SOURCERA  ·  GROWTH ENGINE</a:t>
            </a:r>
          </a:p>
        </p:txBody>
      </p:sp>
      <p:sp>
        <p:nvSpPr>
          <p:cNvPr id="69" name="TextBox 68"/>
          <p:cNvSpPr txBox="1"/>
          <p:nvPr/>
        </p:nvSpPr>
        <p:spPr>
          <a:xfrm>
            <a:off x="10362895" y="6437376"/>
            <a:ext cx="1280160" cy="274320"/>
          </a:xfrm>
          <a:prstGeom prst="rect">
            <a:avLst/>
          </a:prstGeom>
          <a:noFill/>
        </p:spPr>
        <p:txBody>
          <a:bodyPr wrap="square" lIns="0" rIns="0" tIns="0" bIns="0" anchor="t">
            <a:spAutoFit/>
          </a:bodyPr>
          <a:lstStyle/>
          <a:p>
            <a:pPr algn="r">
              <a:lnSpc>
                <a:spcPct val="115000"/>
              </a:lnSpc>
            </a:pPr>
            <a:r>
              <a:rPr sz="900" b="0" i="0">
                <a:solidFill>
                  <a:srgbClr val="A8B2CC"/>
                </a:solidFill>
                <a:latin typeface="Calibri"/>
              </a:rPr>
              <a:t>14 / 19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21792"/>
            <a:ext cx="365760" cy="73152"/>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548640"/>
            <a:ext cx="9144000" cy="274320"/>
          </a:xfrm>
          <a:prstGeom prst="rect">
            <a:avLst/>
          </a:prstGeom>
          <a:noFill/>
        </p:spPr>
        <p:txBody>
          <a:bodyPr wrap="square" lIns="0" rIns="0" tIns="0" bIns="0" anchor="t">
            <a:spAutoFit/>
          </a:bodyPr>
          <a:lstStyle/>
          <a:p>
            <a:pPr algn="l">
              <a:lnSpc>
                <a:spcPct val="115000"/>
              </a:lnSpc>
            </a:pPr>
            <a:r>
              <a:rPr sz="1000" b="1" i="0">
                <a:solidFill>
                  <a:srgbClr val="4A7BFF"/>
                </a:solidFill>
                <a:latin typeface="Calibri"/>
              </a:rPr>
              <a:t>NETWORK EFFECTS</a:t>
            </a:r>
          </a:p>
        </p:txBody>
      </p:sp>
      <p:sp>
        <p:nvSpPr>
          <p:cNvPr id="5" name="TextBox 4"/>
          <p:cNvSpPr txBox="1"/>
          <p:nvPr/>
        </p:nvSpPr>
        <p:spPr>
          <a:xfrm>
            <a:off x="548640" y="822960"/>
            <a:ext cx="10972800" cy="822960"/>
          </a:xfrm>
          <a:prstGeom prst="rect">
            <a:avLst/>
          </a:prstGeom>
          <a:noFill/>
        </p:spPr>
        <p:txBody>
          <a:bodyPr wrap="square" lIns="0" rIns="0" tIns="0" bIns="0" anchor="t">
            <a:spAutoFit/>
          </a:bodyPr>
          <a:lstStyle/>
          <a:p>
            <a:pPr algn="l">
              <a:lnSpc>
                <a:spcPct val="105000"/>
              </a:lnSpc>
            </a:pPr>
            <a:r>
              <a:rPr sz="3600" b="1" i="0">
                <a:solidFill>
                  <a:srgbClr val="0F172E"/>
                </a:solidFill>
                <a:latin typeface="Calibri"/>
              </a:rPr>
              <a:t>Ten growth loops. Seven seller-side compounds.</a:t>
            </a:r>
          </a:p>
        </p:txBody>
      </p:sp>
      <p:sp>
        <p:nvSpPr>
          <p:cNvPr id="6" name="TextBox 5"/>
          <p:cNvSpPr txBox="1"/>
          <p:nvPr/>
        </p:nvSpPr>
        <p:spPr>
          <a:xfrm>
            <a:off x="548640" y="1508760"/>
            <a:ext cx="10972800" cy="457200"/>
          </a:xfrm>
          <a:prstGeom prst="rect">
            <a:avLst/>
          </a:prstGeom>
          <a:noFill/>
        </p:spPr>
        <p:txBody>
          <a:bodyPr wrap="square" lIns="0" rIns="0" tIns="0" bIns="0" anchor="t">
            <a:spAutoFit/>
          </a:bodyPr>
          <a:lstStyle/>
          <a:p>
            <a:pPr algn="l">
              <a:lnSpc>
                <a:spcPct val="125000"/>
              </a:lnSpc>
            </a:pPr>
            <a:r>
              <a:rPr sz="1500" b="0" i="0">
                <a:solidFill>
                  <a:srgbClr val="4A5573"/>
                </a:solidFill>
                <a:latin typeface="Calibri"/>
              </a:rPr>
              <a:t>Every free user contributes. Every paid user funds. Each rotation makes acquisition cheaper.</a:t>
            </a:r>
          </a:p>
        </p:txBody>
      </p:sp>
      <p:sp>
        <p:nvSpPr>
          <p:cNvPr id="7" name="TextBox 6"/>
          <p:cNvSpPr txBox="1"/>
          <p:nvPr/>
        </p:nvSpPr>
        <p:spPr>
          <a:xfrm>
            <a:off x="548640" y="1828800"/>
            <a:ext cx="5760720" cy="274320"/>
          </a:xfrm>
          <a:prstGeom prst="rect">
            <a:avLst/>
          </a:prstGeom>
          <a:noFill/>
        </p:spPr>
        <p:txBody>
          <a:bodyPr wrap="square" lIns="0" rIns="0" tIns="0" bIns="0" anchor="t">
            <a:spAutoFit/>
          </a:bodyPr>
          <a:lstStyle/>
          <a:p>
            <a:pPr algn="l">
              <a:lnSpc>
                <a:spcPct val="115000"/>
              </a:lnSpc>
            </a:pPr>
            <a:r>
              <a:rPr sz="1000" b="1" i="0">
                <a:solidFill>
                  <a:srgbClr val="2E55D9"/>
                </a:solidFill>
                <a:latin typeface="Calibri"/>
              </a:rPr>
              <a:t>10 CORE GROWTH LOOPS  ·  SEE GTM_NETWORK_EFFECTS</a:t>
            </a:r>
          </a:p>
        </p:txBody>
      </p:sp>
      <p:sp>
        <p:nvSpPr>
          <p:cNvPr id="8" name="Rectangle 7"/>
          <p:cNvSpPr/>
          <p:nvPr/>
        </p:nvSpPr>
        <p:spPr>
          <a:xfrm>
            <a:off x="548640" y="2272284"/>
            <a:ext cx="82296" cy="82296"/>
          </a:xfrm>
          <a:prstGeom prst="rect">
            <a:avLst/>
          </a:prstGeom>
          <a:solidFill>
            <a:srgbClr val="2E5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194560"/>
            <a:ext cx="5559552" cy="347472"/>
          </a:xfrm>
          <a:prstGeom prst="rect">
            <a:avLst/>
          </a:prstGeom>
          <a:noFill/>
        </p:spPr>
        <p:txBody>
          <a:bodyPr wrap="square" lIns="0" rIns="0" tIns="0" bIns="0">
            <a:spAutoFit/>
          </a:bodyPr>
          <a:lstStyle/>
          <a:p>
            <a:pPr>
              <a:lnSpc>
                <a:spcPct val="115000"/>
              </a:lnSpc>
            </a:pPr>
            <a:r>
              <a:rPr sz="1050">
                <a:solidFill>
                  <a:srgbClr val="0F172E"/>
                </a:solidFill>
                <a:latin typeface="Calibri"/>
              </a:rPr>
              <a:t>Vendor-Invite-Creates-Account — every evaluation seeds 3–10 Seller Orgs</a:t>
            </a:r>
          </a:p>
        </p:txBody>
      </p:sp>
      <p:sp>
        <p:nvSpPr>
          <p:cNvPr id="10" name="Rectangle 9"/>
          <p:cNvSpPr/>
          <p:nvPr/>
        </p:nvSpPr>
        <p:spPr>
          <a:xfrm>
            <a:off x="548640" y="2619756"/>
            <a:ext cx="82296" cy="82296"/>
          </a:xfrm>
          <a:prstGeom prst="rect">
            <a:avLst/>
          </a:prstGeom>
          <a:solidFill>
            <a:srgbClr val="2E5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542032"/>
            <a:ext cx="5559552" cy="347472"/>
          </a:xfrm>
          <a:prstGeom prst="rect">
            <a:avLst/>
          </a:prstGeom>
          <a:noFill/>
        </p:spPr>
        <p:txBody>
          <a:bodyPr wrap="square" lIns="0" rIns="0" tIns="0" bIns="0">
            <a:spAutoFit/>
          </a:bodyPr>
          <a:lstStyle/>
          <a:p>
            <a:pPr>
              <a:lnSpc>
                <a:spcPct val="115000"/>
              </a:lnSpc>
            </a:pPr>
            <a:r>
              <a:rPr sz="1050">
                <a:solidFill>
                  <a:srgbClr val="0F172E"/>
                </a:solidFill>
                <a:latin typeface="Calibri"/>
              </a:rPr>
              <a:t>Template-Clone-Attribution — buyer-cloned templates badge back to seller</a:t>
            </a:r>
          </a:p>
        </p:txBody>
      </p:sp>
      <p:sp>
        <p:nvSpPr>
          <p:cNvPr id="12" name="Rectangle 11"/>
          <p:cNvSpPr/>
          <p:nvPr/>
        </p:nvSpPr>
        <p:spPr>
          <a:xfrm>
            <a:off x="548640" y="2967228"/>
            <a:ext cx="82296" cy="82296"/>
          </a:xfrm>
          <a:prstGeom prst="rect">
            <a:avLst/>
          </a:prstGeom>
          <a:solidFill>
            <a:srgbClr val="2E5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889504"/>
            <a:ext cx="5559552" cy="347472"/>
          </a:xfrm>
          <a:prstGeom prst="rect">
            <a:avLst/>
          </a:prstGeom>
          <a:noFill/>
        </p:spPr>
        <p:txBody>
          <a:bodyPr wrap="square" lIns="0" rIns="0" tIns="0" bIns="0">
            <a:spAutoFit/>
          </a:bodyPr>
          <a:lstStyle/>
          <a:p>
            <a:pPr>
              <a:lnSpc>
                <a:spcPct val="115000"/>
              </a:lnSpc>
            </a:pPr>
            <a:r>
              <a:rPr sz="1050">
                <a:solidFill>
                  <a:srgbClr val="0F172E"/>
                </a:solidFill>
                <a:latin typeface="Calibri"/>
              </a:rPr>
              <a:t>Selection Report Public Link — watermarked social artifact seeds inbound</a:t>
            </a:r>
          </a:p>
        </p:txBody>
      </p:sp>
      <p:sp>
        <p:nvSpPr>
          <p:cNvPr id="14" name="Rectangle 13"/>
          <p:cNvSpPr/>
          <p:nvPr/>
        </p:nvSpPr>
        <p:spPr>
          <a:xfrm>
            <a:off x="548640" y="3314700"/>
            <a:ext cx="82296" cy="82296"/>
          </a:xfrm>
          <a:prstGeom prst="rect">
            <a:avLst/>
          </a:prstGeom>
          <a:solidFill>
            <a:srgbClr val="2E5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3236976"/>
            <a:ext cx="5559552" cy="347472"/>
          </a:xfrm>
          <a:prstGeom prst="rect">
            <a:avLst/>
          </a:prstGeom>
          <a:noFill/>
        </p:spPr>
        <p:txBody>
          <a:bodyPr wrap="square" lIns="0" rIns="0" tIns="0" bIns="0">
            <a:spAutoFit/>
          </a:bodyPr>
          <a:lstStyle/>
          <a:p>
            <a:pPr>
              <a:lnSpc>
                <a:spcPct val="115000"/>
              </a:lnSpc>
            </a:pPr>
            <a:r>
              <a:rPr sz="1050">
                <a:solidFill>
                  <a:srgbClr val="0F172E"/>
                </a:solidFill>
                <a:latin typeface="Calibri"/>
              </a:rPr>
              <a:t>Seller-Profile SEO — Schema.org structured data compounds per category</a:t>
            </a:r>
          </a:p>
        </p:txBody>
      </p:sp>
      <p:sp>
        <p:nvSpPr>
          <p:cNvPr id="16" name="Rectangle 15"/>
          <p:cNvSpPr/>
          <p:nvPr/>
        </p:nvSpPr>
        <p:spPr>
          <a:xfrm>
            <a:off x="548640" y="3662172"/>
            <a:ext cx="82296" cy="82296"/>
          </a:xfrm>
          <a:prstGeom prst="rect">
            <a:avLst/>
          </a:prstGeom>
          <a:solidFill>
            <a:srgbClr val="2E5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3584448"/>
            <a:ext cx="5559552" cy="347472"/>
          </a:xfrm>
          <a:prstGeom prst="rect">
            <a:avLst/>
          </a:prstGeom>
          <a:noFill/>
        </p:spPr>
        <p:txBody>
          <a:bodyPr wrap="square" lIns="0" rIns="0" tIns="0" bIns="0">
            <a:spAutoFit/>
          </a:bodyPr>
          <a:lstStyle/>
          <a:p>
            <a:pPr>
              <a:lnSpc>
                <a:spcPct val="115000"/>
              </a:lnSpc>
            </a:pPr>
            <a:r>
              <a:rPr sz="1050">
                <a:solidFill>
                  <a:srgbClr val="0F172E"/>
                </a:solidFill>
                <a:latin typeface="Calibri"/>
              </a:rPr>
              <a:t>Free-AI-Teaser-to-Paid — the Aha Moment is metered, not gated</a:t>
            </a:r>
          </a:p>
        </p:txBody>
      </p:sp>
      <p:sp>
        <p:nvSpPr>
          <p:cNvPr id="18" name="Rectangle 17"/>
          <p:cNvSpPr/>
          <p:nvPr/>
        </p:nvSpPr>
        <p:spPr>
          <a:xfrm>
            <a:off x="548640" y="4009644"/>
            <a:ext cx="82296" cy="82296"/>
          </a:xfrm>
          <a:prstGeom prst="rect">
            <a:avLst/>
          </a:prstGeom>
          <a:solidFill>
            <a:srgbClr val="2E5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3931920"/>
            <a:ext cx="5559552" cy="347472"/>
          </a:xfrm>
          <a:prstGeom prst="rect">
            <a:avLst/>
          </a:prstGeom>
          <a:noFill/>
        </p:spPr>
        <p:txBody>
          <a:bodyPr wrap="square" lIns="0" rIns="0" tIns="0" bIns="0">
            <a:spAutoFit/>
          </a:bodyPr>
          <a:lstStyle/>
          <a:p>
            <a:pPr>
              <a:lnSpc>
                <a:spcPct val="115000"/>
              </a:lnSpc>
            </a:pPr>
            <a:r>
              <a:rPr sz="1050">
                <a:solidFill>
                  <a:srgbClr val="0F172E"/>
                </a:solidFill>
                <a:latin typeface="Calibri"/>
              </a:rPr>
              <a:t>Suggested Team Discovery — surface colleagues on Sourcera for expansion</a:t>
            </a:r>
          </a:p>
        </p:txBody>
      </p:sp>
      <p:sp>
        <p:nvSpPr>
          <p:cNvPr id="20" name="Rectangle 19"/>
          <p:cNvSpPr/>
          <p:nvPr/>
        </p:nvSpPr>
        <p:spPr>
          <a:xfrm>
            <a:off x="548640" y="4357116"/>
            <a:ext cx="82296" cy="82296"/>
          </a:xfrm>
          <a:prstGeom prst="rect">
            <a:avLst/>
          </a:prstGeom>
          <a:solidFill>
            <a:srgbClr val="2E5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4279392"/>
            <a:ext cx="5559552" cy="347472"/>
          </a:xfrm>
          <a:prstGeom prst="rect">
            <a:avLst/>
          </a:prstGeom>
          <a:noFill/>
        </p:spPr>
        <p:txBody>
          <a:bodyPr wrap="square" lIns="0" rIns="0" tIns="0" bIns="0">
            <a:spAutoFit/>
          </a:bodyPr>
          <a:lstStyle/>
          <a:p>
            <a:pPr>
              <a:lnSpc>
                <a:spcPct val="115000"/>
              </a:lnSpc>
            </a:pPr>
            <a:r>
              <a:rPr sz="1050">
                <a:solidFill>
                  <a:srgbClr val="0F172E"/>
                </a:solidFill>
                <a:latin typeface="Calibri"/>
              </a:rPr>
              <a:t>Cmd+K Suggestion Loop — Command Palette surfaces relevant Marketplace content</a:t>
            </a:r>
          </a:p>
        </p:txBody>
      </p:sp>
      <p:sp>
        <p:nvSpPr>
          <p:cNvPr id="22" name="Rectangle 21"/>
          <p:cNvSpPr/>
          <p:nvPr/>
        </p:nvSpPr>
        <p:spPr>
          <a:xfrm>
            <a:off x="548640" y="4704588"/>
            <a:ext cx="82296" cy="82296"/>
          </a:xfrm>
          <a:prstGeom prst="rect">
            <a:avLst/>
          </a:prstGeom>
          <a:solidFill>
            <a:srgbClr val="2E5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26864"/>
            <a:ext cx="5559552" cy="347472"/>
          </a:xfrm>
          <a:prstGeom prst="rect">
            <a:avLst/>
          </a:prstGeom>
          <a:noFill/>
        </p:spPr>
        <p:txBody>
          <a:bodyPr wrap="square" lIns="0" rIns="0" tIns="0" bIns="0">
            <a:spAutoFit/>
          </a:bodyPr>
          <a:lstStyle/>
          <a:p>
            <a:pPr>
              <a:lnSpc>
                <a:spcPct val="115000"/>
              </a:lnSpc>
            </a:pPr>
            <a:r>
              <a:rPr sz="1050">
                <a:solidFill>
                  <a:srgbClr val="0F172E"/>
                </a:solidFill>
                <a:latin typeface="Calibri"/>
              </a:rPr>
              <a:t>Bid-Close-Offers-KB-Sync — one-click save-response-to-KB CTA at close</a:t>
            </a:r>
          </a:p>
        </p:txBody>
      </p:sp>
      <p:sp>
        <p:nvSpPr>
          <p:cNvPr id="24" name="Rectangle 23"/>
          <p:cNvSpPr/>
          <p:nvPr/>
        </p:nvSpPr>
        <p:spPr>
          <a:xfrm>
            <a:off x="548640" y="5052060"/>
            <a:ext cx="82296" cy="82296"/>
          </a:xfrm>
          <a:prstGeom prst="rect">
            <a:avLst/>
          </a:prstGeom>
          <a:solidFill>
            <a:srgbClr val="2E5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4974336"/>
            <a:ext cx="5559552" cy="347472"/>
          </a:xfrm>
          <a:prstGeom prst="rect">
            <a:avLst/>
          </a:prstGeom>
          <a:noFill/>
        </p:spPr>
        <p:txBody>
          <a:bodyPr wrap="square" lIns="0" rIns="0" tIns="0" bIns="0">
            <a:spAutoFit/>
          </a:bodyPr>
          <a:lstStyle/>
          <a:p>
            <a:pPr>
              <a:lnSpc>
                <a:spcPct val="115000"/>
              </a:lnSpc>
            </a:pPr>
            <a:r>
              <a:rPr sz="1050">
                <a:solidFill>
                  <a:srgbClr val="0F172E"/>
                </a:solidFill>
                <a:latin typeface="Calibri"/>
              </a:rPr>
              <a:t>Template Publish Incentive — visibility credits for cloned templates</a:t>
            </a:r>
          </a:p>
        </p:txBody>
      </p:sp>
      <p:sp>
        <p:nvSpPr>
          <p:cNvPr id="26" name="Rectangle 25"/>
          <p:cNvSpPr/>
          <p:nvPr/>
        </p:nvSpPr>
        <p:spPr>
          <a:xfrm>
            <a:off x="548640" y="5399532"/>
            <a:ext cx="82296" cy="82296"/>
          </a:xfrm>
          <a:prstGeom prst="rect">
            <a:avLst/>
          </a:prstGeom>
          <a:solidFill>
            <a:srgbClr val="2E5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5321808"/>
            <a:ext cx="5559552" cy="347472"/>
          </a:xfrm>
          <a:prstGeom prst="rect">
            <a:avLst/>
          </a:prstGeom>
          <a:noFill/>
        </p:spPr>
        <p:txBody>
          <a:bodyPr wrap="square" lIns="0" rIns="0" tIns="0" bIns="0">
            <a:spAutoFit/>
          </a:bodyPr>
          <a:lstStyle/>
          <a:p>
            <a:pPr>
              <a:lnSpc>
                <a:spcPct val="115000"/>
              </a:lnSpc>
            </a:pPr>
            <a:r>
              <a:rPr sz="1050">
                <a:solidFill>
                  <a:srgbClr val="0F172E"/>
                </a:solidFill>
                <a:latin typeface="Calibri"/>
              </a:rPr>
              <a:t>Marketplace Match-Score Teaser — labels free, numeric paid</a:t>
            </a:r>
          </a:p>
        </p:txBody>
      </p:sp>
      <p:sp>
        <p:nvSpPr>
          <p:cNvPr id="28" name="Rectangle 27"/>
          <p:cNvSpPr/>
          <p:nvPr/>
        </p:nvSpPr>
        <p:spPr>
          <a:xfrm>
            <a:off x="6629400" y="1828800"/>
            <a:ext cx="5120640" cy="3977639"/>
          </a:xfrm>
          <a:prstGeom prst="rect">
            <a:avLst/>
          </a:prstGeom>
          <a:solidFill>
            <a:srgbClr val="0A14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629400" y="1828800"/>
            <a:ext cx="73152" cy="397763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49440" y="2011680"/>
            <a:ext cx="4572000" cy="274320"/>
          </a:xfrm>
          <a:prstGeom prst="rect">
            <a:avLst/>
          </a:prstGeom>
          <a:noFill/>
        </p:spPr>
        <p:txBody>
          <a:bodyPr wrap="square" lIns="0" rIns="0" tIns="0" bIns="0" anchor="t">
            <a:spAutoFit/>
          </a:bodyPr>
          <a:lstStyle/>
          <a:p>
            <a:pPr algn="l">
              <a:lnSpc>
                <a:spcPct val="115000"/>
              </a:lnSpc>
            </a:pPr>
            <a:r>
              <a:rPr sz="1000" b="1" i="0">
                <a:solidFill>
                  <a:srgbClr val="7C3AED"/>
                </a:solidFill>
                <a:latin typeface="Calibri"/>
              </a:rPr>
              <a:t>7 SELLER-SIDE COMPOUND EFFECTS</a:t>
            </a:r>
          </a:p>
        </p:txBody>
      </p:sp>
      <p:sp>
        <p:nvSpPr>
          <p:cNvPr id="31" name="Rectangle 30"/>
          <p:cNvSpPr/>
          <p:nvPr/>
        </p:nvSpPr>
        <p:spPr>
          <a:xfrm>
            <a:off x="6949440" y="2455164"/>
            <a:ext cx="82296"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50608" y="2377440"/>
            <a:ext cx="4370832" cy="457200"/>
          </a:xfrm>
          <a:prstGeom prst="rect">
            <a:avLst/>
          </a:prstGeom>
          <a:noFill/>
        </p:spPr>
        <p:txBody>
          <a:bodyPr wrap="square" lIns="0" rIns="0" tIns="0" bIns="0">
            <a:spAutoFit/>
          </a:bodyPr>
          <a:lstStyle/>
          <a:p>
            <a:pPr>
              <a:lnSpc>
                <a:spcPct val="115000"/>
              </a:lnSpc>
            </a:pPr>
            <a:r>
              <a:rPr sz="1050">
                <a:solidFill>
                  <a:srgbClr val="E8EDF7"/>
                </a:solidFill>
                <a:latin typeface="Calibri"/>
              </a:rPr>
              <a:t>Invited Vendor → Published Profile → Marketplace-Ready Inventory</a:t>
            </a:r>
          </a:p>
        </p:txBody>
      </p:sp>
      <p:sp>
        <p:nvSpPr>
          <p:cNvPr id="33" name="Rectangle 32"/>
          <p:cNvSpPr/>
          <p:nvPr/>
        </p:nvSpPr>
        <p:spPr>
          <a:xfrm>
            <a:off x="6949440" y="2912364"/>
            <a:ext cx="82296"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50608" y="2834640"/>
            <a:ext cx="4370832" cy="457200"/>
          </a:xfrm>
          <a:prstGeom prst="rect">
            <a:avLst/>
          </a:prstGeom>
          <a:noFill/>
        </p:spPr>
        <p:txBody>
          <a:bodyPr wrap="square" lIns="0" rIns="0" tIns="0" bIns="0">
            <a:spAutoFit/>
          </a:bodyPr>
          <a:lstStyle/>
          <a:p>
            <a:pPr>
              <a:lnSpc>
                <a:spcPct val="115000"/>
              </a:lnSpc>
            </a:pPr>
            <a:r>
              <a:rPr sz="1050">
                <a:solidFill>
                  <a:srgbClr val="E8EDF7"/>
                </a:solidFill>
                <a:latin typeface="Calibri"/>
              </a:rPr>
              <a:t>KB → Capability Declaration → Match Score → EOI → Revenue</a:t>
            </a:r>
          </a:p>
        </p:txBody>
      </p:sp>
      <p:sp>
        <p:nvSpPr>
          <p:cNvPr id="35" name="Rectangle 34"/>
          <p:cNvSpPr/>
          <p:nvPr/>
        </p:nvSpPr>
        <p:spPr>
          <a:xfrm>
            <a:off x="6949440" y="3369564"/>
            <a:ext cx="82296"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150608" y="3291840"/>
            <a:ext cx="4370832" cy="457200"/>
          </a:xfrm>
          <a:prstGeom prst="rect">
            <a:avLst/>
          </a:prstGeom>
          <a:noFill/>
        </p:spPr>
        <p:txBody>
          <a:bodyPr wrap="square" lIns="0" rIns="0" tIns="0" bIns="0">
            <a:spAutoFit/>
          </a:bodyPr>
          <a:lstStyle/>
          <a:p>
            <a:pPr>
              <a:lnSpc>
                <a:spcPct val="115000"/>
              </a:lnSpc>
            </a:pPr>
            <a:r>
              <a:rPr sz="1050">
                <a:solidFill>
                  <a:srgbClr val="E8EDF7"/>
                </a:solidFill>
                <a:latin typeface="Calibri"/>
              </a:rPr>
              <a:t>Bid-Close → Win/Loss Signal → Platform Learning (+2,400 cal. events/yr)</a:t>
            </a:r>
          </a:p>
        </p:txBody>
      </p:sp>
      <p:sp>
        <p:nvSpPr>
          <p:cNvPr id="37" name="Rectangle 36"/>
          <p:cNvSpPr/>
          <p:nvPr/>
        </p:nvSpPr>
        <p:spPr>
          <a:xfrm>
            <a:off x="6949440" y="3826764"/>
            <a:ext cx="82296"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150608" y="3749040"/>
            <a:ext cx="4370832" cy="457200"/>
          </a:xfrm>
          <a:prstGeom prst="rect">
            <a:avLst/>
          </a:prstGeom>
          <a:noFill/>
        </p:spPr>
        <p:txBody>
          <a:bodyPr wrap="square" lIns="0" rIns="0" tIns="0" bIns="0">
            <a:spAutoFit/>
          </a:bodyPr>
          <a:lstStyle/>
          <a:p>
            <a:pPr>
              <a:lnSpc>
                <a:spcPct val="115000"/>
              </a:lnSpc>
            </a:pPr>
            <a:r>
              <a:rPr sz="1050">
                <a:solidFill>
                  <a:srgbClr val="E8EDF7"/>
                </a:solidFill>
                <a:latin typeface="Calibri"/>
              </a:rPr>
              <a:t>Seller-Profile SEO Loop — organic traffic compounds per category</a:t>
            </a:r>
          </a:p>
        </p:txBody>
      </p:sp>
      <p:sp>
        <p:nvSpPr>
          <p:cNvPr id="39" name="Rectangle 38"/>
          <p:cNvSpPr/>
          <p:nvPr/>
        </p:nvSpPr>
        <p:spPr>
          <a:xfrm>
            <a:off x="6949440" y="4283964"/>
            <a:ext cx="82296"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150608" y="4206240"/>
            <a:ext cx="4370832" cy="457200"/>
          </a:xfrm>
          <a:prstGeom prst="rect">
            <a:avLst/>
          </a:prstGeom>
          <a:noFill/>
        </p:spPr>
        <p:txBody>
          <a:bodyPr wrap="square" lIns="0" rIns="0" tIns="0" bIns="0">
            <a:spAutoFit/>
          </a:bodyPr>
          <a:lstStyle/>
          <a:p>
            <a:pPr>
              <a:lnSpc>
                <a:spcPct val="115000"/>
              </a:lnSpc>
            </a:pPr>
            <a:r>
              <a:rPr sz="1050">
                <a:solidFill>
                  <a:srgbClr val="E8EDF7"/>
                </a:solidFill>
                <a:latin typeface="Calibri"/>
              </a:rPr>
              <a:t>Ghost-Bid Import Loop (M15) — historical RFPs seed KB in one session</a:t>
            </a:r>
          </a:p>
        </p:txBody>
      </p:sp>
      <p:sp>
        <p:nvSpPr>
          <p:cNvPr id="41" name="Rectangle 40"/>
          <p:cNvSpPr/>
          <p:nvPr/>
        </p:nvSpPr>
        <p:spPr>
          <a:xfrm>
            <a:off x="6949440" y="4741164"/>
            <a:ext cx="82296"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150608" y="4663440"/>
            <a:ext cx="4370832" cy="457200"/>
          </a:xfrm>
          <a:prstGeom prst="rect">
            <a:avLst/>
          </a:prstGeom>
          <a:noFill/>
        </p:spPr>
        <p:txBody>
          <a:bodyPr wrap="square" lIns="0" rIns="0" tIns="0" bIns="0">
            <a:spAutoFit/>
          </a:bodyPr>
          <a:lstStyle/>
          <a:p>
            <a:pPr>
              <a:lnSpc>
                <a:spcPct val="115000"/>
              </a:lnSpc>
            </a:pPr>
            <a:r>
              <a:rPr sz="1050">
                <a:solidFill>
                  <a:srgbClr val="E8EDF7"/>
                </a:solidFill>
                <a:latin typeface="Calibri"/>
              </a:rPr>
              <a:t>Buyer-Funded Pro Trial Loop (M17) — Scale/Enterprise gift 30-day trials</a:t>
            </a:r>
          </a:p>
        </p:txBody>
      </p:sp>
      <p:sp>
        <p:nvSpPr>
          <p:cNvPr id="43" name="Rectangle 42"/>
          <p:cNvSpPr/>
          <p:nvPr/>
        </p:nvSpPr>
        <p:spPr>
          <a:xfrm>
            <a:off x="6949440" y="5198364"/>
            <a:ext cx="82296"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150608" y="5120640"/>
            <a:ext cx="4370832" cy="457200"/>
          </a:xfrm>
          <a:prstGeom prst="rect">
            <a:avLst/>
          </a:prstGeom>
          <a:noFill/>
        </p:spPr>
        <p:txBody>
          <a:bodyPr wrap="square" lIns="0" rIns="0" tIns="0" bIns="0">
            <a:spAutoFit/>
          </a:bodyPr>
          <a:lstStyle/>
          <a:p>
            <a:pPr>
              <a:lnSpc>
                <a:spcPct val="115000"/>
              </a:lnSpc>
            </a:pPr>
            <a:r>
              <a:rPr sz="1050">
                <a:solidFill>
                  <a:srgbClr val="E8EDF7"/>
                </a:solidFill>
                <a:latin typeface="Calibri"/>
              </a:rPr>
              <a:t>Template Publish Incentive (M9) — seller content earns Marketplace credits</a:t>
            </a:r>
          </a:p>
        </p:txBody>
      </p:sp>
      <p:sp>
        <p:nvSpPr>
          <p:cNvPr id="45" name="Rectangle 44"/>
          <p:cNvSpPr/>
          <p:nvPr/>
        </p:nvSpPr>
        <p:spPr>
          <a:xfrm>
            <a:off x="548640" y="5943600"/>
            <a:ext cx="11094415" cy="365760"/>
          </a:xfrm>
          <a:prstGeom prst="rect">
            <a:avLst/>
          </a:prstGeom>
          <a:solidFill>
            <a:srgbClr val="DCE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1520" y="6016752"/>
            <a:ext cx="10728655" cy="256032"/>
          </a:xfrm>
          <a:prstGeom prst="rect">
            <a:avLst/>
          </a:prstGeom>
          <a:noFill/>
        </p:spPr>
        <p:txBody>
          <a:bodyPr wrap="square" lIns="0" rIns="0" tIns="0" bIns="0" anchor="t">
            <a:spAutoFit/>
          </a:bodyPr>
          <a:lstStyle/>
          <a:p>
            <a:pPr algn="ctr">
              <a:lnSpc>
                <a:spcPct val="115000"/>
              </a:lnSpc>
            </a:pPr>
            <a:r>
              <a:rPr sz="1100" b="0" i="1">
                <a:solidFill>
                  <a:srgbClr val="2E55D9"/>
                </a:solidFill>
                <a:latin typeface="Calibri"/>
              </a:rPr>
              <a:t>Every free user contributes to every loop. Free supply keeps the flywheel spinning; paid supply funds it.</a:t>
            </a:r>
          </a:p>
        </p:txBody>
      </p:sp>
      <p:cxnSp>
        <p:nvCxnSpPr>
          <p:cNvPr id="47" name="Connector 46"/>
          <p:cNvCxnSpPr/>
          <p:nvPr/>
        </p:nvCxnSpPr>
        <p:spPr>
          <a:xfrm>
            <a:off x="548640" y="6355080"/>
            <a:ext cx="11094415" cy="0"/>
          </a:xfrm>
          <a:prstGeom prst="line">
            <a:avLst/>
          </a:prstGeom>
          <a:ln w="9525">
            <a:solidFill>
              <a:srgbClr val="D8DFEE"/>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548640" y="6437376"/>
            <a:ext cx="3657600" cy="274320"/>
          </a:xfrm>
          <a:prstGeom prst="rect">
            <a:avLst/>
          </a:prstGeom>
          <a:noFill/>
        </p:spPr>
        <p:txBody>
          <a:bodyPr wrap="square" lIns="0" rIns="0" tIns="0" bIns="0" anchor="t">
            <a:spAutoFit/>
          </a:bodyPr>
          <a:lstStyle/>
          <a:p>
            <a:pPr algn="l">
              <a:lnSpc>
                <a:spcPct val="115000"/>
              </a:lnSpc>
            </a:pPr>
            <a:r>
              <a:rPr sz="900" b="1" i="0">
                <a:solidFill>
                  <a:srgbClr val="4A5573"/>
                </a:solidFill>
                <a:latin typeface="Calibri"/>
              </a:rPr>
              <a:t>SOURCERA  ·  NETWORK EFFECTS</a:t>
            </a:r>
          </a:p>
        </p:txBody>
      </p:sp>
      <p:sp>
        <p:nvSpPr>
          <p:cNvPr id="49" name="TextBox 48"/>
          <p:cNvSpPr txBox="1"/>
          <p:nvPr/>
        </p:nvSpPr>
        <p:spPr>
          <a:xfrm>
            <a:off x="10362895" y="6437376"/>
            <a:ext cx="1280160" cy="274320"/>
          </a:xfrm>
          <a:prstGeom prst="rect">
            <a:avLst/>
          </a:prstGeom>
          <a:noFill/>
        </p:spPr>
        <p:txBody>
          <a:bodyPr wrap="square" lIns="0" rIns="0" tIns="0" bIns="0" anchor="t">
            <a:spAutoFit/>
          </a:bodyPr>
          <a:lstStyle/>
          <a:p>
            <a:pPr algn="r">
              <a:lnSpc>
                <a:spcPct val="115000"/>
              </a:lnSpc>
            </a:pPr>
            <a:r>
              <a:rPr sz="900" b="0" i="0">
                <a:solidFill>
                  <a:srgbClr val="4A5573"/>
                </a:solidFill>
                <a:latin typeface="Calibri"/>
              </a:rPr>
              <a:t>15 / 19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21792"/>
            <a:ext cx="365760" cy="73152"/>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548640"/>
            <a:ext cx="9144000" cy="274320"/>
          </a:xfrm>
          <a:prstGeom prst="rect">
            <a:avLst/>
          </a:prstGeom>
          <a:noFill/>
        </p:spPr>
        <p:txBody>
          <a:bodyPr wrap="square" lIns="0" rIns="0" tIns="0" bIns="0" anchor="t">
            <a:spAutoFit/>
          </a:bodyPr>
          <a:lstStyle/>
          <a:p>
            <a:pPr algn="l">
              <a:lnSpc>
                <a:spcPct val="115000"/>
              </a:lnSpc>
            </a:pPr>
            <a:r>
              <a:rPr sz="1000" b="1" i="0">
                <a:solidFill>
                  <a:srgbClr val="4A7BFF"/>
                </a:solidFill>
                <a:latin typeface="Calibri"/>
              </a:rPr>
              <a:t>WHAT WE'VE BUILT</a:t>
            </a:r>
          </a:p>
        </p:txBody>
      </p:sp>
      <p:sp>
        <p:nvSpPr>
          <p:cNvPr id="5" name="TextBox 4"/>
          <p:cNvSpPr txBox="1"/>
          <p:nvPr/>
        </p:nvSpPr>
        <p:spPr>
          <a:xfrm>
            <a:off x="548640" y="822960"/>
            <a:ext cx="10972800" cy="822960"/>
          </a:xfrm>
          <a:prstGeom prst="rect">
            <a:avLst/>
          </a:prstGeom>
          <a:noFill/>
        </p:spPr>
        <p:txBody>
          <a:bodyPr wrap="square" lIns="0" rIns="0" tIns="0" bIns="0" anchor="t">
            <a:spAutoFit/>
          </a:bodyPr>
          <a:lstStyle/>
          <a:p>
            <a:pPr algn="l">
              <a:lnSpc>
                <a:spcPct val="105000"/>
              </a:lnSpc>
            </a:pPr>
            <a:r>
              <a:rPr sz="3600" b="1" i="0">
                <a:solidFill>
                  <a:srgbClr val="0F172E"/>
                </a:solidFill>
                <a:latin typeface="Calibri"/>
              </a:rPr>
              <a:t>Pre-revenue. Production-grade specification. Build-ready.</a:t>
            </a:r>
          </a:p>
        </p:txBody>
      </p:sp>
      <p:sp>
        <p:nvSpPr>
          <p:cNvPr id="6" name="TextBox 5"/>
          <p:cNvSpPr txBox="1"/>
          <p:nvPr/>
        </p:nvSpPr>
        <p:spPr>
          <a:xfrm>
            <a:off x="548640" y="1508760"/>
            <a:ext cx="10972800" cy="457200"/>
          </a:xfrm>
          <a:prstGeom prst="rect">
            <a:avLst/>
          </a:prstGeom>
          <a:noFill/>
        </p:spPr>
        <p:txBody>
          <a:bodyPr wrap="square" lIns="0" rIns="0" tIns="0" bIns="0" anchor="t">
            <a:spAutoFit/>
          </a:bodyPr>
          <a:lstStyle/>
          <a:p>
            <a:pPr algn="l">
              <a:lnSpc>
                <a:spcPct val="125000"/>
              </a:lnSpc>
            </a:pPr>
            <a:r>
              <a:rPr sz="1500" b="0" i="0">
                <a:solidFill>
                  <a:srgbClr val="4A5573"/>
                </a:solidFill>
                <a:latin typeface="Calibri"/>
              </a:rPr>
              <a:t>A complete, internally consistent product architecture — shipped at staff-engineer fidelity before a line of commercial code.</a:t>
            </a:r>
          </a:p>
        </p:txBody>
      </p:sp>
      <p:sp>
        <p:nvSpPr>
          <p:cNvPr id="7" name="Rectangle 6"/>
          <p:cNvSpPr/>
          <p:nvPr/>
        </p:nvSpPr>
        <p:spPr>
          <a:xfrm>
            <a:off x="548640" y="1874519"/>
            <a:ext cx="3685032" cy="443484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874519"/>
            <a:ext cx="3685032" cy="457200"/>
          </a:xfrm>
          <a:prstGeom prst="rect">
            <a:avLst/>
          </a:prstGeom>
          <a:solidFill>
            <a:srgbClr val="2E5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984247"/>
            <a:ext cx="3136392" cy="274320"/>
          </a:xfrm>
          <a:prstGeom prst="rect">
            <a:avLst/>
          </a:prstGeom>
          <a:noFill/>
        </p:spPr>
        <p:txBody>
          <a:bodyPr wrap="square" lIns="0" rIns="0" tIns="0" bIns="0" anchor="t">
            <a:spAutoFit/>
          </a:bodyPr>
          <a:lstStyle/>
          <a:p>
            <a:pPr algn="l">
              <a:lnSpc>
                <a:spcPct val="115000"/>
              </a:lnSpc>
            </a:pPr>
            <a:r>
              <a:rPr sz="1100" b="1" i="0">
                <a:solidFill>
                  <a:srgbClr val="FFFFFF"/>
                </a:solidFill>
                <a:latin typeface="Calibri"/>
              </a:rPr>
              <a:t>PRODUCT SCOPE</a:t>
            </a:r>
          </a:p>
        </p:txBody>
      </p:sp>
      <p:sp>
        <p:nvSpPr>
          <p:cNvPr id="10" name="TextBox 9"/>
          <p:cNvSpPr txBox="1"/>
          <p:nvPr/>
        </p:nvSpPr>
        <p:spPr>
          <a:xfrm>
            <a:off x="822960" y="2560319"/>
            <a:ext cx="1371600" cy="457200"/>
          </a:xfrm>
          <a:prstGeom prst="rect">
            <a:avLst/>
          </a:prstGeom>
          <a:noFill/>
        </p:spPr>
        <p:txBody>
          <a:bodyPr wrap="square" lIns="0" rIns="0" tIns="0" bIns="0" anchor="t">
            <a:spAutoFit/>
          </a:bodyPr>
          <a:lstStyle/>
          <a:p>
            <a:pPr algn="l">
              <a:lnSpc>
                <a:spcPct val="115000"/>
              </a:lnSpc>
            </a:pPr>
            <a:r>
              <a:rPr sz="2200" b="1" i="0">
                <a:solidFill>
                  <a:srgbClr val="2E55D9"/>
                </a:solidFill>
                <a:latin typeface="Calibri"/>
              </a:rPr>
              <a:t>13</a:t>
            </a:r>
          </a:p>
        </p:txBody>
      </p:sp>
      <p:sp>
        <p:nvSpPr>
          <p:cNvPr id="11" name="TextBox 10"/>
          <p:cNvSpPr txBox="1"/>
          <p:nvPr/>
        </p:nvSpPr>
        <p:spPr>
          <a:xfrm>
            <a:off x="2240280" y="2651759"/>
            <a:ext cx="1856232" cy="457200"/>
          </a:xfrm>
          <a:prstGeom prst="rect">
            <a:avLst/>
          </a:prstGeom>
          <a:noFill/>
        </p:spPr>
        <p:txBody>
          <a:bodyPr wrap="square" lIns="0" rIns="0" tIns="0" bIns="0" anchor="t">
            <a:spAutoFit/>
          </a:bodyPr>
          <a:lstStyle/>
          <a:p>
            <a:pPr algn="l">
              <a:lnSpc>
                <a:spcPct val="120000"/>
              </a:lnSpc>
            </a:pPr>
            <a:r>
              <a:rPr sz="1100" b="0" i="0">
                <a:solidFill>
                  <a:srgbClr val="4A5573"/>
                </a:solidFill>
                <a:latin typeface="Calibri"/>
              </a:rPr>
              <a:t>phase pipeline fully specified</a:t>
            </a:r>
          </a:p>
        </p:txBody>
      </p:sp>
      <p:sp>
        <p:nvSpPr>
          <p:cNvPr id="12" name="TextBox 11"/>
          <p:cNvSpPr txBox="1"/>
          <p:nvPr/>
        </p:nvSpPr>
        <p:spPr>
          <a:xfrm>
            <a:off x="822960" y="3227831"/>
            <a:ext cx="1371600" cy="457200"/>
          </a:xfrm>
          <a:prstGeom prst="rect">
            <a:avLst/>
          </a:prstGeom>
          <a:noFill/>
        </p:spPr>
        <p:txBody>
          <a:bodyPr wrap="square" lIns="0" rIns="0" tIns="0" bIns="0" anchor="t">
            <a:spAutoFit/>
          </a:bodyPr>
          <a:lstStyle/>
          <a:p>
            <a:pPr algn="l">
              <a:lnSpc>
                <a:spcPct val="115000"/>
              </a:lnSpc>
            </a:pPr>
            <a:r>
              <a:rPr sz="2200" b="1" i="0">
                <a:solidFill>
                  <a:srgbClr val="2E55D9"/>
                </a:solidFill>
                <a:latin typeface="Calibri"/>
              </a:rPr>
              <a:t>21+</a:t>
            </a:r>
          </a:p>
        </p:txBody>
      </p:sp>
      <p:sp>
        <p:nvSpPr>
          <p:cNvPr id="13" name="TextBox 12"/>
          <p:cNvSpPr txBox="1"/>
          <p:nvPr/>
        </p:nvSpPr>
        <p:spPr>
          <a:xfrm>
            <a:off x="2240280" y="3319271"/>
            <a:ext cx="1856232" cy="457200"/>
          </a:xfrm>
          <a:prstGeom prst="rect">
            <a:avLst/>
          </a:prstGeom>
          <a:noFill/>
        </p:spPr>
        <p:txBody>
          <a:bodyPr wrap="square" lIns="0" rIns="0" tIns="0" bIns="0" anchor="t">
            <a:spAutoFit/>
          </a:bodyPr>
          <a:lstStyle/>
          <a:p>
            <a:pPr algn="l">
              <a:lnSpc>
                <a:spcPct val="120000"/>
              </a:lnSpc>
            </a:pPr>
            <a:r>
              <a:rPr sz="1100" b="0" i="0">
                <a:solidFill>
                  <a:srgbClr val="4A5573"/>
                </a:solidFill>
                <a:latin typeface="Calibri"/>
              </a:rPr>
              <a:t>AI capabilities cataloged</a:t>
            </a:r>
          </a:p>
        </p:txBody>
      </p:sp>
      <p:sp>
        <p:nvSpPr>
          <p:cNvPr id="14" name="TextBox 13"/>
          <p:cNvSpPr txBox="1"/>
          <p:nvPr/>
        </p:nvSpPr>
        <p:spPr>
          <a:xfrm>
            <a:off x="822960" y="3895343"/>
            <a:ext cx="1371600" cy="457200"/>
          </a:xfrm>
          <a:prstGeom prst="rect">
            <a:avLst/>
          </a:prstGeom>
          <a:noFill/>
        </p:spPr>
        <p:txBody>
          <a:bodyPr wrap="square" lIns="0" rIns="0" tIns="0" bIns="0" anchor="t">
            <a:spAutoFit/>
          </a:bodyPr>
          <a:lstStyle/>
          <a:p>
            <a:pPr algn="l">
              <a:lnSpc>
                <a:spcPct val="115000"/>
              </a:lnSpc>
            </a:pPr>
            <a:r>
              <a:rPr sz="2200" b="1" i="0">
                <a:solidFill>
                  <a:srgbClr val="2E55D9"/>
                </a:solidFill>
                <a:latin typeface="Calibri"/>
              </a:rPr>
              <a:t>2</a:t>
            </a:r>
          </a:p>
        </p:txBody>
      </p:sp>
      <p:sp>
        <p:nvSpPr>
          <p:cNvPr id="15" name="TextBox 14"/>
          <p:cNvSpPr txBox="1"/>
          <p:nvPr/>
        </p:nvSpPr>
        <p:spPr>
          <a:xfrm>
            <a:off x="2240280" y="3986783"/>
            <a:ext cx="1856232" cy="457200"/>
          </a:xfrm>
          <a:prstGeom prst="rect">
            <a:avLst/>
          </a:prstGeom>
          <a:noFill/>
        </p:spPr>
        <p:txBody>
          <a:bodyPr wrap="square" lIns="0" rIns="0" tIns="0" bIns="0" anchor="t">
            <a:spAutoFit/>
          </a:bodyPr>
          <a:lstStyle/>
          <a:p>
            <a:pPr algn="l">
              <a:lnSpc>
                <a:spcPct val="120000"/>
              </a:lnSpc>
            </a:pPr>
            <a:r>
              <a:rPr sz="1100" b="0" i="0">
                <a:solidFill>
                  <a:srgbClr val="4A5573"/>
                </a:solidFill>
                <a:latin typeface="Calibri"/>
              </a:rPr>
              <a:t>consoles + Marketplace domain</a:t>
            </a:r>
          </a:p>
        </p:txBody>
      </p:sp>
      <p:sp>
        <p:nvSpPr>
          <p:cNvPr id="16" name="TextBox 15"/>
          <p:cNvSpPr txBox="1"/>
          <p:nvPr/>
        </p:nvSpPr>
        <p:spPr>
          <a:xfrm>
            <a:off x="822960" y="4562855"/>
            <a:ext cx="1371600" cy="457200"/>
          </a:xfrm>
          <a:prstGeom prst="rect">
            <a:avLst/>
          </a:prstGeom>
          <a:noFill/>
        </p:spPr>
        <p:txBody>
          <a:bodyPr wrap="square" lIns="0" rIns="0" tIns="0" bIns="0" anchor="t">
            <a:spAutoFit/>
          </a:bodyPr>
          <a:lstStyle/>
          <a:p>
            <a:pPr algn="l">
              <a:lnSpc>
                <a:spcPct val="115000"/>
              </a:lnSpc>
            </a:pPr>
            <a:r>
              <a:rPr sz="2200" b="1" i="0">
                <a:solidFill>
                  <a:srgbClr val="2E55D9"/>
                </a:solidFill>
                <a:latin typeface="Calibri"/>
              </a:rPr>
              <a:t>900+</a:t>
            </a:r>
          </a:p>
        </p:txBody>
      </p:sp>
      <p:sp>
        <p:nvSpPr>
          <p:cNvPr id="17" name="TextBox 16"/>
          <p:cNvSpPr txBox="1"/>
          <p:nvPr/>
        </p:nvSpPr>
        <p:spPr>
          <a:xfrm>
            <a:off x="2240280" y="4654295"/>
            <a:ext cx="1856232" cy="457200"/>
          </a:xfrm>
          <a:prstGeom prst="rect">
            <a:avLst/>
          </a:prstGeom>
          <a:noFill/>
        </p:spPr>
        <p:txBody>
          <a:bodyPr wrap="square" lIns="0" rIns="0" tIns="0" bIns="0" anchor="t">
            <a:spAutoFit/>
          </a:bodyPr>
          <a:lstStyle/>
          <a:p>
            <a:pPr algn="l">
              <a:lnSpc>
                <a:spcPct val="120000"/>
              </a:lnSpc>
            </a:pPr>
            <a:r>
              <a:rPr sz="1100" b="0" i="0">
                <a:solidFill>
                  <a:srgbClr val="4A5573"/>
                </a:solidFill>
                <a:latin typeface="Calibri"/>
              </a:rPr>
              <a:t>pages of Master Spec (v6.0.0)</a:t>
            </a:r>
          </a:p>
        </p:txBody>
      </p:sp>
      <p:sp>
        <p:nvSpPr>
          <p:cNvPr id="18" name="TextBox 17"/>
          <p:cNvSpPr txBox="1"/>
          <p:nvPr/>
        </p:nvSpPr>
        <p:spPr>
          <a:xfrm>
            <a:off x="822960" y="5230367"/>
            <a:ext cx="1371600" cy="457200"/>
          </a:xfrm>
          <a:prstGeom prst="rect">
            <a:avLst/>
          </a:prstGeom>
          <a:noFill/>
        </p:spPr>
        <p:txBody>
          <a:bodyPr wrap="square" lIns="0" rIns="0" tIns="0" bIns="0" anchor="t">
            <a:spAutoFit/>
          </a:bodyPr>
          <a:lstStyle/>
          <a:p>
            <a:pPr algn="l">
              <a:lnSpc>
                <a:spcPct val="115000"/>
              </a:lnSpc>
            </a:pPr>
            <a:r>
              <a:rPr sz="2200" b="1" i="0">
                <a:solidFill>
                  <a:srgbClr val="2E55D9"/>
                </a:solidFill>
                <a:latin typeface="Calibri"/>
              </a:rPr>
              <a:t>45</a:t>
            </a:r>
          </a:p>
        </p:txBody>
      </p:sp>
      <p:sp>
        <p:nvSpPr>
          <p:cNvPr id="19" name="TextBox 18"/>
          <p:cNvSpPr txBox="1"/>
          <p:nvPr/>
        </p:nvSpPr>
        <p:spPr>
          <a:xfrm>
            <a:off x="2240280" y="5321807"/>
            <a:ext cx="1856232" cy="457200"/>
          </a:xfrm>
          <a:prstGeom prst="rect">
            <a:avLst/>
          </a:prstGeom>
          <a:noFill/>
        </p:spPr>
        <p:txBody>
          <a:bodyPr wrap="square" lIns="0" rIns="0" tIns="0" bIns="0" anchor="t">
            <a:spAutoFit/>
          </a:bodyPr>
          <a:lstStyle/>
          <a:p>
            <a:pPr algn="l">
              <a:lnSpc>
                <a:spcPct val="120000"/>
              </a:lnSpc>
            </a:pPr>
            <a:r>
              <a:rPr sz="1100" b="0" i="0">
                <a:solidFill>
                  <a:srgbClr val="4A5573"/>
                </a:solidFill>
                <a:latin typeface="Calibri"/>
              </a:rPr>
              <a:t>RBAC roles / permission scopes</a:t>
            </a:r>
          </a:p>
        </p:txBody>
      </p:sp>
      <p:sp>
        <p:nvSpPr>
          <p:cNvPr id="20" name="Rectangle 19"/>
          <p:cNvSpPr/>
          <p:nvPr/>
        </p:nvSpPr>
        <p:spPr>
          <a:xfrm>
            <a:off x="4343400" y="1874519"/>
            <a:ext cx="3685032" cy="443484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43400" y="1874519"/>
            <a:ext cx="3685032"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17720" y="1984247"/>
            <a:ext cx="3136392" cy="274320"/>
          </a:xfrm>
          <a:prstGeom prst="rect">
            <a:avLst/>
          </a:prstGeom>
          <a:noFill/>
        </p:spPr>
        <p:txBody>
          <a:bodyPr wrap="square" lIns="0" rIns="0" tIns="0" bIns="0" anchor="t">
            <a:spAutoFit/>
          </a:bodyPr>
          <a:lstStyle/>
          <a:p>
            <a:pPr algn="l">
              <a:lnSpc>
                <a:spcPct val="115000"/>
              </a:lnSpc>
            </a:pPr>
            <a:r>
              <a:rPr sz="1100" b="1" i="0">
                <a:solidFill>
                  <a:srgbClr val="FFFFFF"/>
                </a:solidFill>
                <a:latin typeface="Calibri"/>
              </a:rPr>
              <a:t>GTM READINESS</a:t>
            </a:r>
          </a:p>
        </p:txBody>
      </p:sp>
      <p:sp>
        <p:nvSpPr>
          <p:cNvPr id="23" name="TextBox 22"/>
          <p:cNvSpPr txBox="1"/>
          <p:nvPr/>
        </p:nvSpPr>
        <p:spPr>
          <a:xfrm>
            <a:off x="4617720" y="2560319"/>
            <a:ext cx="1371600" cy="457200"/>
          </a:xfrm>
          <a:prstGeom prst="rect">
            <a:avLst/>
          </a:prstGeom>
          <a:noFill/>
        </p:spPr>
        <p:txBody>
          <a:bodyPr wrap="square" lIns="0" rIns="0" tIns="0" bIns="0" anchor="t">
            <a:spAutoFit/>
          </a:bodyPr>
          <a:lstStyle/>
          <a:p>
            <a:pPr algn="l">
              <a:lnSpc>
                <a:spcPct val="115000"/>
              </a:lnSpc>
            </a:pPr>
            <a:r>
              <a:rPr sz="2200" b="1" i="0">
                <a:solidFill>
                  <a:srgbClr val="7C3AED"/>
                </a:solidFill>
                <a:latin typeface="Calibri"/>
              </a:rPr>
              <a:t>90-d</a:t>
            </a:r>
          </a:p>
        </p:txBody>
      </p:sp>
      <p:sp>
        <p:nvSpPr>
          <p:cNvPr id="24" name="TextBox 23"/>
          <p:cNvSpPr txBox="1"/>
          <p:nvPr/>
        </p:nvSpPr>
        <p:spPr>
          <a:xfrm>
            <a:off x="6035040" y="2651759"/>
            <a:ext cx="1856232" cy="457200"/>
          </a:xfrm>
          <a:prstGeom prst="rect">
            <a:avLst/>
          </a:prstGeom>
          <a:noFill/>
        </p:spPr>
        <p:txBody>
          <a:bodyPr wrap="square" lIns="0" rIns="0" tIns="0" bIns="0" anchor="t">
            <a:spAutoFit/>
          </a:bodyPr>
          <a:lstStyle/>
          <a:p>
            <a:pPr algn="l">
              <a:lnSpc>
                <a:spcPct val="120000"/>
              </a:lnSpc>
            </a:pPr>
            <a:r>
              <a:rPr sz="1100" b="0" i="0">
                <a:solidFill>
                  <a:srgbClr val="4A5573"/>
                </a:solidFill>
                <a:latin typeface="Calibri"/>
              </a:rPr>
              <a:t>sprint plan authored</a:t>
            </a:r>
          </a:p>
        </p:txBody>
      </p:sp>
      <p:sp>
        <p:nvSpPr>
          <p:cNvPr id="25" name="TextBox 24"/>
          <p:cNvSpPr txBox="1"/>
          <p:nvPr/>
        </p:nvSpPr>
        <p:spPr>
          <a:xfrm>
            <a:off x="4617720" y="3227831"/>
            <a:ext cx="1371600" cy="457200"/>
          </a:xfrm>
          <a:prstGeom prst="rect">
            <a:avLst/>
          </a:prstGeom>
          <a:noFill/>
        </p:spPr>
        <p:txBody>
          <a:bodyPr wrap="square" lIns="0" rIns="0" tIns="0" bIns="0" anchor="t">
            <a:spAutoFit/>
          </a:bodyPr>
          <a:lstStyle/>
          <a:p>
            <a:pPr algn="l">
              <a:lnSpc>
                <a:spcPct val="115000"/>
              </a:lnSpc>
            </a:pPr>
            <a:r>
              <a:rPr sz="2200" b="1" i="0">
                <a:solidFill>
                  <a:srgbClr val="7C3AED"/>
                </a:solidFill>
                <a:latin typeface="Calibri"/>
              </a:rPr>
              <a:t>5</a:t>
            </a:r>
          </a:p>
        </p:txBody>
      </p:sp>
      <p:sp>
        <p:nvSpPr>
          <p:cNvPr id="26" name="TextBox 25"/>
          <p:cNvSpPr txBox="1"/>
          <p:nvPr/>
        </p:nvSpPr>
        <p:spPr>
          <a:xfrm>
            <a:off x="6035040" y="3319271"/>
            <a:ext cx="1856232" cy="457200"/>
          </a:xfrm>
          <a:prstGeom prst="rect">
            <a:avLst/>
          </a:prstGeom>
          <a:noFill/>
        </p:spPr>
        <p:txBody>
          <a:bodyPr wrap="square" lIns="0" rIns="0" tIns="0" bIns="0" anchor="t">
            <a:spAutoFit/>
          </a:bodyPr>
          <a:lstStyle/>
          <a:p>
            <a:pPr algn="l">
              <a:lnSpc>
                <a:spcPct val="120000"/>
              </a:lnSpc>
            </a:pPr>
            <a:r>
              <a:rPr sz="1100" b="0" i="0">
                <a:solidFill>
                  <a:srgbClr val="4A5573"/>
                </a:solidFill>
                <a:latin typeface="Calibri"/>
              </a:rPr>
              <a:t>buyer personas articulated</a:t>
            </a:r>
          </a:p>
        </p:txBody>
      </p:sp>
      <p:sp>
        <p:nvSpPr>
          <p:cNvPr id="27" name="TextBox 26"/>
          <p:cNvSpPr txBox="1"/>
          <p:nvPr/>
        </p:nvSpPr>
        <p:spPr>
          <a:xfrm>
            <a:off x="4617720" y="3895343"/>
            <a:ext cx="1371600" cy="457200"/>
          </a:xfrm>
          <a:prstGeom prst="rect">
            <a:avLst/>
          </a:prstGeom>
          <a:noFill/>
        </p:spPr>
        <p:txBody>
          <a:bodyPr wrap="square" lIns="0" rIns="0" tIns="0" bIns="0" anchor="t">
            <a:spAutoFit/>
          </a:bodyPr>
          <a:lstStyle/>
          <a:p>
            <a:pPr algn="l">
              <a:lnSpc>
                <a:spcPct val="115000"/>
              </a:lnSpc>
            </a:pPr>
            <a:r>
              <a:rPr sz="2200" b="1" i="0">
                <a:solidFill>
                  <a:srgbClr val="7C3AED"/>
                </a:solidFill>
                <a:latin typeface="Calibri"/>
              </a:rPr>
              <a:t>4</a:t>
            </a:r>
          </a:p>
        </p:txBody>
      </p:sp>
      <p:sp>
        <p:nvSpPr>
          <p:cNvPr id="28" name="TextBox 27"/>
          <p:cNvSpPr txBox="1"/>
          <p:nvPr/>
        </p:nvSpPr>
        <p:spPr>
          <a:xfrm>
            <a:off x="6035040" y="3986783"/>
            <a:ext cx="1856232" cy="457200"/>
          </a:xfrm>
          <a:prstGeom prst="rect">
            <a:avLst/>
          </a:prstGeom>
          <a:noFill/>
        </p:spPr>
        <p:txBody>
          <a:bodyPr wrap="square" lIns="0" rIns="0" tIns="0" bIns="0" anchor="t">
            <a:spAutoFit/>
          </a:bodyPr>
          <a:lstStyle/>
          <a:p>
            <a:pPr algn="l">
              <a:lnSpc>
                <a:spcPct val="120000"/>
              </a:lnSpc>
            </a:pPr>
            <a:r>
              <a:rPr sz="1100" b="0" i="0">
                <a:solidFill>
                  <a:srgbClr val="4A5573"/>
                </a:solidFill>
                <a:latin typeface="Calibri"/>
              </a:rPr>
              <a:t>seller personas articulated</a:t>
            </a:r>
          </a:p>
        </p:txBody>
      </p:sp>
      <p:sp>
        <p:nvSpPr>
          <p:cNvPr id="29" name="TextBox 28"/>
          <p:cNvSpPr txBox="1"/>
          <p:nvPr/>
        </p:nvSpPr>
        <p:spPr>
          <a:xfrm>
            <a:off x="4617720" y="4562855"/>
            <a:ext cx="1371600" cy="457200"/>
          </a:xfrm>
          <a:prstGeom prst="rect">
            <a:avLst/>
          </a:prstGeom>
          <a:noFill/>
        </p:spPr>
        <p:txBody>
          <a:bodyPr wrap="square" lIns="0" rIns="0" tIns="0" bIns="0" anchor="t">
            <a:spAutoFit/>
          </a:bodyPr>
          <a:lstStyle/>
          <a:p>
            <a:pPr algn="l">
              <a:lnSpc>
                <a:spcPct val="115000"/>
              </a:lnSpc>
            </a:pPr>
            <a:r>
              <a:rPr sz="2200" b="1" i="0">
                <a:solidFill>
                  <a:srgbClr val="7C3AED"/>
                </a:solidFill>
                <a:latin typeface="Calibri"/>
              </a:rPr>
              <a:t>17</a:t>
            </a:r>
          </a:p>
        </p:txBody>
      </p:sp>
      <p:sp>
        <p:nvSpPr>
          <p:cNvPr id="30" name="TextBox 29"/>
          <p:cNvSpPr txBox="1"/>
          <p:nvPr/>
        </p:nvSpPr>
        <p:spPr>
          <a:xfrm>
            <a:off x="6035040" y="4654295"/>
            <a:ext cx="1856232" cy="457200"/>
          </a:xfrm>
          <a:prstGeom prst="rect">
            <a:avLst/>
          </a:prstGeom>
          <a:noFill/>
        </p:spPr>
        <p:txBody>
          <a:bodyPr wrap="square" lIns="0" rIns="0" tIns="0" bIns="0" anchor="t">
            <a:spAutoFit/>
          </a:bodyPr>
          <a:lstStyle/>
          <a:p>
            <a:pPr algn="l">
              <a:lnSpc>
                <a:spcPct val="120000"/>
              </a:lnSpc>
            </a:pPr>
            <a:r>
              <a:rPr sz="1100" b="0" i="0">
                <a:solidFill>
                  <a:srgbClr val="4A5573"/>
                </a:solidFill>
                <a:latin typeface="Calibri"/>
              </a:rPr>
              <a:t>PLG growth mechanics (M1–M17)</a:t>
            </a:r>
          </a:p>
        </p:txBody>
      </p:sp>
      <p:sp>
        <p:nvSpPr>
          <p:cNvPr id="31" name="TextBox 30"/>
          <p:cNvSpPr txBox="1"/>
          <p:nvPr/>
        </p:nvSpPr>
        <p:spPr>
          <a:xfrm>
            <a:off x="4617720" y="5230367"/>
            <a:ext cx="1371600" cy="457200"/>
          </a:xfrm>
          <a:prstGeom prst="rect">
            <a:avLst/>
          </a:prstGeom>
          <a:noFill/>
        </p:spPr>
        <p:txBody>
          <a:bodyPr wrap="square" lIns="0" rIns="0" tIns="0" bIns="0" anchor="t">
            <a:spAutoFit/>
          </a:bodyPr>
          <a:lstStyle/>
          <a:p>
            <a:pPr algn="l">
              <a:lnSpc>
                <a:spcPct val="115000"/>
              </a:lnSpc>
            </a:pPr>
            <a:r>
              <a:rPr sz="2200" b="1" i="0">
                <a:solidFill>
                  <a:srgbClr val="7C3AED"/>
                </a:solidFill>
                <a:latin typeface="Calibri"/>
              </a:rPr>
              <a:t>8</a:t>
            </a:r>
          </a:p>
        </p:txBody>
      </p:sp>
      <p:sp>
        <p:nvSpPr>
          <p:cNvPr id="32" name="TextBox 31"/>
          <p:cNvSpPr txBox="1"/>
          <p:nvPr/>
        </p:nvSpPr>
        <p:spPr>
          <a:xfrm>
            <a:off x="6035040" y="5321807"/>
            <a:ext cx="1856232" cy="457200"/>
          </a:xfrm>
          <a:prstGeom prst="rect">
            <a:avLst/>
          </a:prstGeom>
          <a:noFill/>
        </p:spPr>
        <p:txBody>
          <a:bodyPr wrap="square" lIns="0" rIns="0" tIns="0" bIns="0" anchor="t">
            <a:spAutoFit/>
          </a:bodyPr>
          <a:lstStyle/>
          <a:p>
            <a:pPr algn="l">
              <a:lnSpc>
                <a:spcPct val="120000"/>
              </a:lnSpc>
            </a:pPr>
            <a:r>
              <a:rPr sz="1100" b="0" i="0">
                <a:solidFill>
                  <a:srgbClr val="4A5573"/>
                </a:solidFill>
                <a:latin typeface="Calibri"/>
              </a:rPr>
              <a:t>category seed taxonomies</a:t>
            </a:r>
          </a:p>
        </p:txBody>
      </p:sp>
      <p:sp>
        <p:nvSpPr>
          <p:cNvPr id="33" name="Rectangle 32"/>
          <p:cNvSpPr/>
          <p:nvPr/>
        </p:nvSpPr>
        <p:spPr>
          <a:xfrm>
            <a:off x="8138160" y="1874519"/>
            <a:ext cx="3685032" cy="443484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38160" y="1874519"/>
            <a:ext cx="3685032" cy="4572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12480" y="1984247"/>
            <a:ext cx="3136392" cy="274320"/>
          </a:xfrm>
          <a:prstGeom prst="rect">
            <a:avLst/>
          </a:prstGeom>
          <a:noFill/>
        </p:spPr>
        <p:txBody>
          <a:bodyPr wrap="square" lIns="0" rIns="0" tIns="0" bIns="0" anchor="t">
            <a:spAutoFit/>
          </a:bodyPr>
          <a:lstStyle/>
          <a:p>
            <a:pPr algn="l">
              <a:lnSpc>
                <a:spcPct val="115000"/>
              </a:lnSpc>
            </a:pPr>
            <a:r>
              <a:rPr sz="1100" b="1" i="0">
                <a:solidFill>
                  <a:srgbClr val="FFFFFF"/>
                </a:solidFill>
                <a:latin typeface="Calibri"/>
              </a:rPr>
              <a:t>PRICING + ECONOMICS</a:t>
            </a:r>
          </a:p>
        </p:txBody>
      </p:sp>
      <p:sp>
        <p:nvSpPr>
          <p:cNvPr id="36" name="TextBox 35"/>
          <p:cNvSpPr txBox="1"/>
          <p:nvPr/>
        </p:nvSpPr>
        <p:spPr>
          <a:xfrm>
            <a:off x="8412480" y="2560319"/>
            <a:ext cx="1371600" cy="457200"/>
          </a:xfrm>
          <a:prstGeom prst="rect">
            <a:avLst/>
          </a:prstGeom>
          <a:noFill/>
        </p:spPr>
        <p:txBody>
          <a:bodyPr wrap="square" lIns="0" rIns="0" tIns="0" bIns="0" anchor="t">
            <a:spAutoFit/>
          </a:bodyPr>
          <a:lstStyle/>
          <a:p>
            <a:pPr algn="l">
              <a:lnSpc>
                <a:spcPct val="115000"/>
              </a:lnSpc>
            </a:pPr>
            <a:r>
              <a:rPr sz="2200" b="1" i="0">
                <a:solidFill>
                  <a:srgbClr val="059669"/>
                </a:solidFill>
                <a:latin typeface="Calibri"/>
              </a:rPr>
              <a:t>2</a:t>
            </a:r>
          </a:p>
        </p:txBody>
      </p:sp>
      <p:sp>
        <p:nvSpPr>
          <p:cNvPr id="37" name="TextBox 36"/>
          <p:cNvSpPr txBox="1"/>
          <p:nvPr/>
        </p:nvSpPr>
        <p:spPr>
          <a:xfrm>
            <a:off x="9829800" y="2651759"/>
            <a:ext cx="1856232" cy="457200"/>
          </a:xfrm>
          <a:prstGeom prst="rect">
            <a:avLst/>
          </a:prstGeom>
          <a:noFill/>
        </p:spPr>
        <p:txBody>
          <a:bodyPr wrap="square" lIns="0" rIns="0" tIns="0" bIns="0" anchor="t">
            <a:spAutoFit/>
          </a:bodyPr>
          <a:lstStyle/>
          <a:p>
            <a:pPr algn="l">
              <a:lnSpc>
                <a:spcPct val="120000"/>
              </a:lnSpc>
            </a:pPr>
            <a:r>
              <a:rPr sz="1100" b="0" i="0">
                <a:solidFill>
                  <a:srgbClr val="4A5573"/>
                </a:solidFill>
                <a:latin typeface="Calibri"/>
              </a:rPr>
              <a:t>pricing strategy docs (buyer + seller)</a:t>
            </a:r>
          </a:p>
        </p:txBody>
      </p:sp>
      <p:sp>
        <p:nvSpPr>
          <p:cNvPr id="38" name="TextBox 37"/>
          <p:cNvSpPr txBox="1"/>
          <p:nvPr/>
        </p:nvSpPr>
        <p:spPr>
          <a:xfrm>
            <a:off x="8412480" y="3227831"/>
            <a:ext cx="1371600" cy="457200"/>
          </a:xfrm>
          <a:prstGeom prst="rect">
            <a:avLst/>
          </a:prstGeom>
          <a:noFill/>
        </p:spPr>
        <p:txBody>
          <a:bodyPr wrap="square" lIns="0" rIns="0" tIns="0" bIns="0" anchor="t">
            <a:spAutoFit/>
          </a:bodyPr>
          <a:lstStyle/>
          <a:p>
            <a:pPr algn="l">
              <a:lnSpc>
                <a:spcPct val="115000"/>
              </a:lnSpc>
            </a:pPr>
            <a:r>
              <a:rPr sz="2200" b="1" i="0">
                <a:solidFill>
                  <a:srgbClr val="059669"/>
                </a:solidFill>
                <a:latin typeface="Calibri"/>
              </a:rPr>
              <a:t>21</a:t>
            </a:r>
          </a:p>
        </p:txBody>
      </p:sp>
      <p:sp>
        <p:nvSpPr>
          <p:cNvPr id="39" name="TextBox 38"/>
          <p:cNvSpPr txBox="1"/>
          <p:nvPr/>
        </p:nvSpPr>
        <p:spPr>
          <a:xfrm>
            <a:off x="9829800" y="3319271"/>
            <a:ext cx="1856232" cy="457200"/>
          </a:xfrm>
          <a:prstGeom prst="rect">
            <a:avLst/>
          </a:prstGeom>
          <a:noFill/>
        </p:spPr>
        <p:txBody>
          <a:bodyPr wrap="square" lIns="0" rIns="0" tIns="0" bIns="0" anchor="t">
            <a:spAutoFit/>
          </a:bodyPr>
          <a:lstStyle/>
          <a:p>
            <a:pPr algn="l">
              <a:lnSpc>
                <a:spcPct val="120000"/>
              </a:lnSpc>
            </a:pPr>
            <a:r>
              <a:rPr sz="1100" b="0" i="0">
                <a:solidFill>
                  <a:srgbClr val="4A5573"/>
                </a:solidFill>
                <a:latin typeface="Calibri"/>
              </a:rPr>
              <a:t>outcome signal definitions</a:t>
            </a:r>
          </a:p>
        </p:txBody>
      </p:sp>
      <p:sp>
        <p:nvSpPr>
          <p:cNvPr id="40" name="TextBox 39"/>
          <p:cNvSpPr txBox="1"/>
          <p:nvPr/>
        </p:nvSpPr>
        <p:spPr>
          <a:xfrm>
            <a:off x="8412480" y="3895343"/>
            <a:ext cx="1371600" cy="457200"/>
          </a:xfrm>
          <a:prstGeom prst="rect">
            <a:avLst/>
          </a:prstGeom>
          <a:noFill/>
        </p:spPr>
        <p:txBody>
          <a:bodyPr wrap="square" lIns="0" rIns="0" tIns="0" bIns="0" anchor="t">
            <a:spAutoFit/>
          </a:bodyPr>
          <a:lstStyle/>
          <a:p>
            <a:pPr algn="l">
              <a:lnSpc>
                <a:spcPct val="115000"/>
              </a:lnSpc>
            </a:pPr>
            <a:r>
              <a:rPr sz="2200" b="1" i="0">
                <a:solidFill>
                  <a:srgbClr val="059669"/>
                </a:solidFill>
                <a:latin typeface="Calibri"/>
              </a:rPr>
              <a:t>$5 / $5</a:t>
            </a:r>
          </a:p>
        </p:txBody>
      </p:sp>
      <p:sp>
        <p:nvSpPr>
          <p:cNvPr id="41" name="TextBox 40"/>
          <p:cNvSpPr txBox="1"/>
          <p:nvPr/>
        </p:nvSpPr>
        <p:spPr>
          <a:xfrm>
            <a:off x="9829800" y="3986783"/>
            <a:ext cx="1856232" cy="457200"/>
          </a:xfrm>
          <a:prstGeom prst="rect">
            <a:avLst/>
          </a:prstGeom>
          <a:noFill/>
        </p:spPr>
        <p:txBody>
          <a:bodyPr wrap="square" lIns="0" rIns="0" tIns="0" bIns="0" anchor="t">
            <a:spAutoFit/>
          </a:bodyPr>
          <a:lstStyle/>
          <a:p>
            <a:pPr algn="l">
              <a:lnSpc>
                <a:spcPct val="120000"/>
              </a:lnSpc>
            </a:pPr>
            <a:r>
              <a:rPr sz="1100" b="0" i="0">
                <a:solidFill>
                  <a:srgbClr val="4A5573"/>
                </a:solidFill>
                <a:latin typeface="Calibri"/>
              </a:rPr>
              <a:t>free-tier AI budget per side</a:t>
            </a:r>
          </a:p>
        </p:txBody>
      </p:sp>
      <p:sp>
        <p:nvSpPr>
          <p:cNvPr id="42" name="TextBox 41"/>
          <p:cNvSpPr txBox="1"/>
          <p:nvPr/>
        </p:nvSpPr>
        <p:spPr>
          <a:xfrm>
            <a:off x="8412480" y="4562855"/>
            <a:ext cx="1371600" cy="457200"/>
          </a:xfrm>
          <a:prstGeom prst="rect">
            <a:avLst/>
          </a:prstGeom>
          <a:noFill/>
        </p:spPr>
        <p:txBody>
          <a:bodyPr wrap="square" lIns="0" rIns="0" tIns="0" bIns="0" anchor="t">
            <a:spAutoFit/>
          </a:bodyPr>
          <a:lstStyle/>
          <a:p>
            <a:pPr algn="l">
              <a:lnSpc>
                <a:spcPct val="115000"/>
              </a:lnSpc>
            </a:pPr>
            <a:r>
              <a:rPr sz="2200" b="1" i="0">
                <a:solidFill>
                  <a:srgbClr val="059669"/>
                </a:solidFill>
                <a:latin typeface="Calibri"/>
              </a:rPr>
              <a:t>≥90%</a:t>
            </a:r>
          </a:p>
        </p:txBody>
      </p:sp>
      <p:sp>
        <p:nvSpPr>
          <p:cNvPr id="43" name="TextBox 42"/>
          <p:cNvSpPr txBox="1"/>
          <p:nvPr/>
        </p:nvSpPr>
        <p:spPr>
          <a:xfrm>
            <a:off x="9829800" y="4654295"/>
            <a:ext cx="1856232" cy="457200"/>
          </a:xfrm>
          <a:prstGeom prst="rect">
            <a:avLst/>
          </a:prstGeom>
          <a:noFill/>
        </p:spPr>
        <p:txBody>
          <a:bodyPr wrap="square" lIns="0" rIns="0" tIns="0" bIns="0" anchor="t">
            <a:spAutoFit/>
          </a:bodyPr>
          <a:lstStyle/>
          <a:p>
            <a:pPr algn="l">
              <a:lnSpc>
                <a:spcPct val="120000"/>
              </a:lnSpc>
            </a:pPr>
            <a:r>
              <a:rPr sz="1100" b="0" i="0">
                <a:solidFill>
                  <a:srgbClr val="4A5573"/>
                </a:solidFill>
                <a:latin typeface="Calibri"/>
              </a:rPr>
              <a:t>blended margin target</a:t>
            </a:r>
          </a:p>
        </p:txBody>
      </p:sp>
      <p:sp>
        <p:nvSpPr>
          <p:cNvPr id="44" name="TextBox 43"/>
          <p:cNvSpPr txBox="1"/>
          <p:nvPr/>
        </p:nvSpPr>
        <p:spPr>
          <a:xfrm>
            <a:off x="8412480" y="5230367"/>
            <a:ext cx="1371600" cy="457200"/>
          </a:xfrm>
          <a:prstGeom prst="rect">
            <a:avLst/>
          </a:prstGeom>
          <a:noFill/>
        </p:spPr>
        <p:txBody>
          <a:bodyPr wrap="square" lIns="0" rIns="0" tIns="0" bIns="0" anchor="t">
            <a:spAutoFit/>
          </a:bodyPr>
          <a:lstStyle/>
          <a:p>
            <a:pPr algn="l">
              <a:lnSpc>
                <a:spcPct val="115000"/>
              </a:lnSpc>
            </a:pPr>
            <a:r>
              <a:rPr sz="2200" b="1" i="0">
                <a:solidFill>
                  <a:srgbClr val="059669"/>
                </a:solidFill>
                <a:latin typeface="Calibri"/>
              </a:rPr>
              <a:t>10×</a:t>
            </a:r>
          </a:p>
        </p:txBody>
      </p:sp>
      <p:sp>
        <p:nvSpPr>
          <p:cNvPr id="45" name="TextBox 44"/>
          <p:cNvSpPr txBox="1"/>
          <p:nvPr/>
        </p:nvSpPr>
        <p:spPr>
          <a:xfrm>
            <a:off x="9829800" y="5321807"/>
            <a:ext cx="1856232" cy="457200"/>
          </a:xfrm>
          <a:prstGeom prst="rect">
            <a:avLst/>
          </a:prstGeom>
          <a:noFill/>
        </p:spPr>
        <p:txBody>
          <a:bodyPr wrap="square" lIns="0" rIns="0" tIns="0" bIns="0" anchor="t">
            <a:spAutoFit/>
          </a:bodyPr>
          <a:lstStyle/>
          <a:p>
            <a:pPr algn="l">
              <a:lnSpc>
                <a:spcPct val="120000"/>
              </a:lnSpc>
            </a:pPr>
            <a:r>
              <a:rPr sz="1100" b="0" i="0">
                <a:solidFill>
                  <a:srgbClr val="4A5573"/>
                </a:solidFill>
                <a:latin typeface="Calibri"/>
              </a:rPr>
              <a:t>accepted-AI value multiplier</a:t>
            </a:r>
          </a:p>
        </p:txBody>
      </p:sp>
      <p:sp>
        <p:nvSpPr>
          <p:cNvPr id="46" name="Rectangle 45"/>
          <p:cNvSpPr/>
          <p:nvPr/>
        </p:nvSpPr>
        <p:spPr>
          <a:xfrm>
            <a:off x="548640" y="5943600"/>
            <a:ext cx="11094415" cy="411480"/>
          </a:xfrm>
          <a:prstGeom prst="rect">
            <a:avLst/>
          </a:prstGeom>
          <a:solidFill>
            <a:srgbClr val="0A14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48640" y="5943600"/>
            <a:ext cx="73152" cy="411480"/>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31520" y="6035040"/>
            <a:ext cx="10728655" cy="274320"/>
          </a:xfrm>
          <a:prstGeom prst="rect">
            <a:avLst/>
          </a:prstGeom>
          <a:noFill/>
        </p:spPr>
        <p:txBody>
          <a:bodyPr wrap="square" lIns="0" rIns="0" tIns="0" bIns="0" anchor="t">
            <a:spAutoFit/>
          </a:bodyPr>
          <a:lstStyle/>
          <a:p>
            <a:pPr algn="ctr">
              <a:lnSpc>
                <a:spcPct val="115000"/>
              </a:lnSpc>
            </a:pPr>
            <a:r>
              <a:rPr sz="1100" b="0" i="1">
                <a:solidFill>
                  <a:srgbClr val="FFFFFF"/>
                </a:solidFill>
                <a:latin typeface="Calibri"/>
              </a:rPr>
              <a:t>Pre-revenue framing. The spec is the traction. Engineering is next; the product is unambiguous.</a:t>
            </a:r>
          </a:p>
        </p:txBody>
      </p:sp>
      <p:cxnSp>
        <p:nvCxnSpPr>
          <p:cNvPr id="49" name="Connector 48"/>
          <p:cNvCxnSpPr/>
          <p:nvPr/>
        </p:nvCxnSpPr>
        <p:spPr>
          <a:xfrm>
            <a:off x="548640" y="6355080"/>
            <a:ext cx="11094415" cy="0"/>
          </a:xfrm>
          <a:prstGeom prst="line">
            <a:avLst/>
          </a:prstGeom>
          <a:ln w="9525">
            <a:solidFill>
              <a:srgbClr val="D8DFEE"/>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548640" y="6437376"/>
            <a:ext cx="3657600" cy="274320"/>
          </a:xfrm>
          <a:prstGeom prst="rect">
            <a:avLst/>
          </a:prstGeom>
          <a:noFill/>
        </p:spPr>
        <p:txBody>
          <a:bodyPr wrap="square" lIns="0" rIns="0" tIns="0" bIns="0" anchor="t">
            <a:spAutoFit/>
          </a:bodyPr>
          <a:lstStyle/>
          <a:p>
            <a:pPr algn="l">
              <a:lnSpc>
                <a:spcPct val="115000"/>
              </a:lnSpc>
            </a:pPr>
            <a:r>
              <a:rPr sz="900" b="1" i="0">
                <a:solidFill>
                  <a:srgbClr val="4A5573"/>
                </a:solidFill>
                <a:latin typeface="Calibri"/>
              </a:rPr>
              <a:t>SOURCERA  ·  WHAT WE'VE BUILT</a:t>
            </a:r>
          </a:p>
        </p:txBody>
      </p:sp>
      <p:sp>
        <p:nvSpPr>
          <p:cNvPr id="51" name="TextBox 50"/>
          <p:cNvSpPr txBox="1"/>
          <p:nvPr/>
        </p:nvSpPr>
        <p:spPr>
          <a:xfrm>
            <a:off x="10362895" y="6437376"/>
            <a:ext cx="1280160" cy="274320"/>
          </a:xfrm>
          <a:prstGeom prst="rect">
            <a:avLst/>
          </a:prstGeom>
          <a:noFill/>
        </p:spPr>
        <p:txBody>
          <a:bodyPr wrap="square" lIns="0" rIns="0" tIns="0" bIns="0" anchor="t">
            <a:spAutoFit/>
          </a:bodyPr>
          <a:lstStyle/>
          <a:p>
            <a:pPr algn="r">
              <a:lnSpc>
                <a:spcPct val="115000"/>
              </a:lnSpc>
            </a:pPr>
            <a:r>
              <a:rPr sz="900" b="0" i="0">
                <a:solidFill>
                  <a:srgbClr val="4A5573"/>
                </a:solidFill>
                <a:latin typeface="Calibri"/>
              </a:rPr>
              <a:t>16 / 19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21792"/>
            <a:ext cx="365760" cy="73152"/>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548640"/>
            <a:ext cx="9144000" cy="274320"/>
          </a:xfrm>
          <a:prstGeom prst="rect">
            <a:avLst/>
          </a:prstGeom>
          <a:noFill/>
        </p:spPr>
        <p:txBody>
          <a:bodyPr wrap="square" lIns="0" rIns="0" tIns="0" bIns="0" anchor="t">
            <a:spAutoFit/>
          </a:bodyPr>
          <a:lstStyle/>
          <a:p>
            <a:pPr algn="l">
              <a:lnSpc>
                <a:spcPct val="115000"/>
              </a:lnSpc>
            </a:pPr>
            <a:r>
              <a:rPr sz="1000" b="1" i="0">
                <a:solidFill>
                  <a:srgbClr val="4A7BFF"/>
                </a:solidFill>
                <a:latin typeface="Calibri"/>
              </a:rPr>
              <a:t>THE TEAM</a:t>
            </a:r>
          </a:p>
        </p:txBody>
      </p:sp>
      <p:sp>
        <p:nvSpPr>
          <p:cNvPr id="5" name="TextBox 4"/>
          <p:cNvSpPr txBox="1"/>
          <p:nvPr/>
        </p:nvSpPr>
        <p:spPr>
          <a:xfrm>
            <a:off x="548640" y="822960"/>
            <a:ext cx="10972800" cy="822960"/>
          </a:xfrm>
          <a:prstGeom prst="rect">
            <a:avLst/>
          </a:prstGeom>
          <a:noFill/>
        </p:spPr>
        <p:txBody>
          <a:bodyPr wrap="square" lIns="0" rIns="0" tIns="0" bIns="0" anchor="t">
            <a:spAutoFit/>
          </a:bodyPr>
          <a:lstStyle/>
          <a:p>
            <a:pPr algn="l">
              <a:lnSpc>
                <a:spcPct val="105000"/>
              </a:lnSpc>
            </a:pPr>
            <a:r>
              <a:rPr sz="3600" b="1" i="0">
                <a:solidFill>
                  <a:srgbClr val="0F172E"/>
                </a:solidFill>
                <a:latin typeface="Calibri"/>
              </a:rPr>
              <a:t>Solo founder. The structure is the strategy.</a:t>
            </a:r>
          </a:p>
        </p:txBody>
      </p:sp>
      <p:sp>
        <p:nvSpPr>
          <p:cNvPr id="6" name="TextBox 5"/>
          <p:cNvSpPr txBox="1"/>
          <p:nvPr/>
        </p:nvSpPr>
        <p:spPr>
          <a:xfrm>
            <a:off x="548640" y="1508760"/>
            <a:ext cx="10972800" cy="457200"/>
          </a:xfrm>
          <a:prstGeom prst="rect">
            <a:avLst/>
          </a:prstGeom>
          <a:noFill/>
        </p:spPr>
        <p:txBody>
          <a:bodyPr wrap="square" lIns="0" rIns="0" tIns="0" bIns="0" anchor="t">
            <a:spAutoFit/>
          </a:bodyPr>
          <a:lstStyle/>
          <a:p>
            <a:pPr algn="l">
              <a:lnSpc>
                <a:spcPct val="125000"/>
              </a:lnSpc>
            </a:pPr>
            <a:r>
              <a:rPr sz="1500" b="0" i="0">
                <a:solidFill>
                  <a:srgbClr val="4A5573"/>
                </a:solidFill>
                <a:latin typeface="Calibri"/>
              </a:rPr>
              <a:t>Capital efficiency, technical depth, and product coherence as explicit design choices — not constraints.</a:t>
            </a:r>
          </a:p>
        </p:txBody>
      </p:sp>
      <p:sp>
        <p:nvSpPr>
          <p:cNvPr id="7" name="Rectangle 6"/>
          <p:cNvSpPr/>
          <p:nvPr/>
        </p:nvSpPr>
        <p:spPr>
          <a:xfrm>
            <a:off x="548640" y="1874519"/>
            <a:ext cx="4114800" cy="4251960"/>
          </a:xfrm>
          <a:prstGeom prst="rect">
            <a:avLst/>
          </a:prstGeom>
          <a:solidFill>
            <a:srgbClr val="0A14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874519"/>
            <a:ext cx="73152" cy="4251960"/>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828800" y="2423159"/>
            <a:ext cx="1554480" cy="1554480"/>
          </a:xfrm>
          <a:prstGeom prst="ellipse">
            <a:avLst/>
          </a:prstGeom>
          <a:solidFill>
            <a:srgbClr val="1E2B5C"/>
          </a:solidFill>
          <a:ln>
            <a:solidFill>
              <a:srgbClr val="F4B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800" y="2743199"/>
            <a:ext cx="1554480" cy="822960"/>
          </a:xfrm>
          <a:prstGeom prst="rect">
            <a:avLst/>
          </a:prstGeom>
          <a:noFill/>
        </p:spPr>
        <p:txBody>
          <a:bodyPr wrap="square" lIns="0" rIns="0" tIns="0" bIns="0" anchor="t">
            <a:spAutoFit/>
          </a:bodyPr>
          <a:lstStyle/>
          <a:p>
            <a:pPr algn="ctr">
              <a:lnSpc>
                <a:spcPct val="115000"/>
              </a:lnSpc>
            </a:pPr>
            <a:r>
              <a:rPr sz="6000" b="1" i="0">
                <a:solidFill>
                  <a:srgbClr val="F4B400"/>
                </a:solidFill>
                <a:latin typeface="Calibri"/>
              </a:rPr>
              <a:t>B</a:t>
            </a:r>
          </a:p>
        </p:txBody>
      </p:sp>
      <p:sp>
        <p:nvSpPr>
          <p:cNvPr id="11" name="TextBox 10"/>
          <p:cNvSpPr txBox="1"/>
          <p:nvPr/>
        </p:nvSpPr>
        <p:spPr>
          <a:xfrm>
            <a:off x="822960" y="4206239"/>
            <a:ext cx="3566160" cy="457200"/>
          </a:xfrm>
          <a:prstGeom prst="rect">
            <a:avLst/>
          </a:prstGeom>
          <a:noFill/>
        </p:spPr>
        <p:txBody>
          <a:bodyPr wrap="square" lIns="0" rIns="0" tIns="0" bIns="0" anchor="t">
            <a:spAutoFit/>
          </a:bodyPr>
          <a:lstStyle/>
          <a:p>
            <a:pPr algn="ctr">
              <a:lnSpc>
                <a:spcPct val="115000"/>
              </a:lnSpc>
            </a:pPr>
            <a:r>
              <a:rPr sz="2200" b="1" i="0">
                <a:solidFill>
                  <a:srgbClr val="FFFFFF"/>
                </a:solidFill>
                <a:latin typeface="Calibri"/>
              </a:rPr>
              <a:t>Blake Henry Rowley</a:t>
            </a:r>
          </a:p>
        </p:txBody>
      </p:sp>
      <p:sp>
        <p:nvSpPr>
          <p:cNvPr id="12" name="TextBox 11"/>
          <p:cNvSpPr txBox="1"/>
          <p:nvPr/>
        </p:nvSpPr>
        <p:spPr>
          <a:xfrm>
            <a:off x="822960" y="4663439"/>
            <a:ext cx="3566160" cy="320040"/>
          </a:xfrm>
          <a:prstGeom prst="rect">
            <a:avLst/>
          </a:prstGeom>
          <a:noFill/>
        </p:spPr>
        <p:txBody>
          <a:bodyPr wrap="square" lIns="0" rIns="0" tIns="0" bIns="0" anchor="t">
            <a:spAutoFit/>
          </a:bodyPr>
          <a:lstStyle/>
          <a:p>
            <a:pPr algn="ctr">
              <a:lnSpc>
                <a:spcPct val="115000"/>
              </a:lnSpc>
            </a:pPr>
            <a:r>
              <a:rPr sz="1200" b="0" i="0">
                <a:solidFill>
                  <a:srgbClr val="F4B400"/>
                </a:solidFill>
                <a:latin typeface="Calibri"/>
              </a:rPr>
              <a:t>Founder  ·  CEO  ·  Architect</a:t>
            </a:r>
          </a:p>
        </p:txBody>
      </p:sp>
      <p:cxnSp>
        <p:nvCxnSpPr>
          <p:cNvPr id="13" name="Connector 12"/>
          <p:cNvCxnSpPr/>
          <p:nvPr/>
        </p:nvCxnSpPr>
        <p:spPr>
          <a:xfrm>
            <a:off x="914400" y="5212079"/>
            <a:ext cx="3383280" cy="0"/>
          </a:xfrm>
          <a:prstGeom prst="line">
            <a:avLst/>
          </a:prstGeom>
          <a:ln w="9525">
            <a:solidFill>
              <a:srgbClr val="1E2B5C"/>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22960" y="5349239"/>
            <a:ext cx="3566160" cy="731520"/>
          </a:xfrm>
          <a:prstGeom prst="rect">
            <a:avLst/>
          </a:prstGeom>
          <a:noFill/>
        </p:spPr>
        <p:txBody>
          <a:bodyPr wrap="square" lIns="0" rIns="0" tIns="0" bIns="0" anchor="t">
            <a:spAutoFit/>
          </a:bodyPr>
          <a:lstStyle/>
          <a:p>
            <a:pPr algn="ctr">
              <a:lnSpc>
                <a:spcPct val="130000"/>
              </a:lnSpc>
            </a:pPr>
            <a:r>
              <a:rPr sz="1050" b="0" i="1">
                <a:solidFill>
                  <a:srgbClr val="E8EDF7"/>
                </a:solidFill>
                <a:latin typeface="Calibri"/>
              </a:rPr>
              <a:t>Author of the Master Spec, both pricing strategies, KB Engineering Spec, UX Design spec, and GTM corpus — internally consistent, cross-document reconciled, build-ready.</a:t>
            </a:r>
          </a:p>
        </p:txBody>
      </p:sp>
      <p:sp>
        <p:nvSpPr>
          <p:cNvPr id="15" name="Rectangle 14"/>
          <p:cNvSpPr/>
          <p:nvPr/>
        </p:nvSpPr>
        <p:spPr>
          <a:xfrm>
            <a:off x="4937760" y="1874519"/>
            <a:ext cx="6766560" cy="1170432"/>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937760" y="1874519"/>
            <a:ext cx="73152" cy="1170432"/>
          </a:xfrm>
          <a:prstGeom prst="rect">
            <a:avLst/>
          </a:prstGeom>
          <a:solidFill>
            <a:srgbClr val="2E5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57800" y="2020823"/>
            <a:ext cx="6126480" cy="320040"/>
          </a:xfrm>
          <a:prstGeom prst="rect">
            <a:avLst/>
          </a:prstGeom>
          <a:noFill/>
        </p:spPr>
        <p:txBody>
          <a:bodyPr wrap="square" lIns="0" rIns="0" tIns="0" bIns="0" anchor="t">
            <a:spAutoFit/>
          </a:bodyPr>
          <a:lstStyle/>
          <a:p>
            <a:pPr algn="l">
              <a:lnSpc>
                <a:spcPct val="115000"/>
              </a:lnSpc>
            </a:pPr>
            <a:r>
              <a:rPr sz="1500" b="1" i="0">
                <a:solidFill>
                  <a:srgbClr val="0F172E"/>
                </a:solidFill>
                <a:latin typeface="Calibri"/>
              </a:rPr>
              <a:t>Capital efficiency</a:t>
            </a:r>
          </a:p>
        </p:txBody>
      </p:sp>
      <p:sp>
        <p:nvSpPr>
          <p:cNvPr id="18" name="TextBox 17"/>
          <p:cNvSpPr txBox="1"/>
          <p:nvPr/>
        </p:nvSpPr>
        <p:spPr>
          <a:xfrm>
            <a:off x="5257800" y="2377439"/>
            <a:ext cx="6126480" cy="576072"/>
          </a:xfrm>
          <a:prstGeom prst="rect">
            <a:avLst/>
          </a:prstGeom>
          <a:noFill/>
        </p:spPr>
        <p:txBody>
          <a:bodyPr wrap="square" lIns="0" rIns="0" tIns="0" bIns="0" anchor="t">
            <a:spAutoFit/>
          </a:bodyPr>
          <a:lstStyle/>
          <a:p>
            <a:pPr algn="l">
              <a:lnSpc>
                <a:spcPct val="130000"/>
              </a:lnSpc>
            </a:pPr>
            <a:r>
              <a:rPr sz="1050" b="0" i="0">
                <a:solidFill>
                  <a:srgbClr val="4A5573"/>
                </a:solidFill>
                <a:latin typeface="Calibri"/>
              </a:rPr>
              <a:t>The entire product specification authored at zero burn. Every dollar raised goes to engineering and GTM — not reconciling inherited disagreements.</a:t>
            </a:r>
          </a:p>
        </p:txBody>
      </p:sp>
      <p:sp>
        <p:nvSpPr>
          <p:cNvPr id="19" name="Rectangle 18"/>
          <p:cNvSpPr/>
          <p:nvPr/>
        </p:nvSpPr>
        <p:spPr>
          <a:xfrm>
            <a:off x="4937760" y="3136391"/>
            <a:ext cx="6766560" cy="1170432"/>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937760" y="3136391"/>
            <a:ext cx="73152" cy="11704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57800" y="3282695"/>
            <a:ext cx="6126480" cy="320040"/>
          </a:xfrm>
          <a:prstGeom prst="rect">
            <a:avLst/>
          </a:prstGeom>
          <a:noFill/>
        </p:spPr>
        <p:txBody>
          <a:bodyPr wrap="square" lIns="0" rIns="0" tIns="0" bIns="0" anchor="t">
            <a:spAutoFit/>
          </a:bodyPr>
          <a:lstStyle/>
          <a:p>
            <a:pPr algn="l">
              <a:lnSpc>
                <a:spcPct val="115000"/>
              </a:lnSpc>
            </a:pPr>
            <a:r>
              <a:rPr sz="1500" b="1" i="0">
                <a:solidFill>
                  <a:srgbClr val="0F172E"/>
                </a:solidFill>
                <a:latin typeface="Calibri"/>
              </a:rPr>
              <a:t>Technical depth</a:t>
            </a:r>
          </a:p>
        </p:txBody>
      </p:sp>
      <p:sp>
        <p:nvSpPr>
          <p:cNvPr id="22" name="TextBox 21"/>
          <p:cNvSpPr txBox="1"/>
          <p:nvPr/>
        </p:nvSpPr>
        <p:spPr>
          <a:xfrm>
            <a:off x="5257800" y="3639311"/>
            <a:ext cx="6126480" cy="576072"/>
          </a:xfrm>
          <a:prstGeom prst="rect">
            <a:avLst/>
          </a:prstGeom>
          <a:noFill/>
        </p:spPr>
        <p:txBody>
          <a:bodyPr wrap="square" lIns="0" rIns="0" tIns="0" bIns="0" anchor="t">
            <a:spAutoFit/>
          </a:bodyPr>
          <a:lstStyle/>
          <a:p>
            <a:pPr algn="l">
              <a:lnSpc>
                <a:spcPct val="130000"/>
              </a:lnSpc>
            </a:pPr>
            <a:r>
              <a:rPr sz="1050" b="0" i="0">
                <a:solidFill>
                  <a:srgbClr val="4A5573"/>
                </a:solidFill>
                <a:latin typeface="Calibri"/>
              </a:rPr>
              <a:t>Staff-engineer-grade schemas, state machines, API contracts, AI capability matrices, retrieval architecture. The spec is executable.</a:t>
            </a:r>
          </a:p>
        </p:txBody>
      </p:sp>
      <p:sp>
        <p:nvSpPr>
          <p:cNvPr id="23" name="Rectangle 22"/>
          <p:cNvSpPr/>
          <p:nvPr/>
        </p:nvSpPr>
        <p:spPr>
          <a:xfrm>
            <a:off x="4937760" y="4398263"/>
            <a:ext cx="6766560" cy="1170432"/>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937760" y="4398263"/>
            <a:ext cx="73152" cy="1170432"/>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57800" y="4544567"/>
            <a:ext cx="6126480" cy="320040"/>
          </a:xfrm>
          <a:prstGeom prst="rect">
            <a:avLst/>
          </a:prstGeom>
          <a:noFill/>
        </p:spPr>
        <p:txBody>
          <a:bodyPr wrap="square" lIns="0" rIns="0" tIns="0" bIns="0" anchor="t">
            <a:spAutoFit/>
          </a:bodyPr>
          <a:lstStyle/>
          <a:p>
            <a:pPr algn="l">
              <a:lnSpc>
                <a:spcPct val="115000"/>
              </a:lnSpc>
            </a:pPr>
            <a:r>
              <a:rPr sz="1500" b="1" i="0">
                <a:solidFill>
                  <a:srgbClr val="0F172E"/>
                </a:solidFill>
                <a:latin typeface="Calibri"/>
              </a:rPr>
              <a:t>Product coherence</a:t>
            </a:r>
          </a:p>
        </p:txBody>
      </p:sp>
      <p:sp>
        <p:nvSpPr>
          <p:cNvPr id="26" name="TextBox 25"/>
          <p:cNvSpPr txBox="1"/>
          <p:nvPr/>
        </p:nvSpPr>
        <p:spPr>
          <a:xfrm>
            <a:off x="5257800" y="4901183"/>
            <a:ext cx="6126480" cy="576072"/>
          </a:xfrm>
          <a:prstGeom prst="rect">
            <a:avLst/>
          </a:prstGeom>
          <a:noFill/>
        </p:spPr>
        <p:txBody>
          <a:bodyPr wrap="square" lIns="0" rIns="0" tIns="0" bIns="0" anchor="t">
            <a:spAutoFit/>
          </a:bodyPr>
          <a:lstStyle/>
          <a:p>
            <a:pPr algn="l">
              <a:lnSpc>
                <a:spcPct val="130000"/>
              </a:lnSpc>
            </a:pPr>
            <a:r>
              <a:rPr sz="1050" b="0" i="0">
                <a:solidFill>
                  <a:srgbClr val="4A5573"/>
                </a:solidFill>
                <a:latin typeface="Calibri"/>
              </a:rPr>
              <a:t>Opinionated by construction — dual-console, 13-phase pipeline, outcome-accounted AI, unlimited seats. Single-founder judgment, cross-document reconciled.</a:t>
            </a:r>
          </a:p>
        </p:txBody>
      </p:sp>
      <p:sp>
        <p:nvSpPr>
          <p:cNvPr id="27" name="Rectangle 26"/>
          <p:cNvSpPr/>
          <p:nvPr/>
        </p:nvSpPr>
        <p:spPr>
          <a:xfrm>
            <a:off x="4937760" y="5714999"/>
            <a:ext cx="6766560" cy="411480"/>
          </a:xfrm>
          <a:prstGeom prst="rect">
            <a:avLst/>
          </a:prstGeom>
          <a:solidFill>
            <a:srgbClr val="DCE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66360" y="5751575"/>
            <a:ext cx="6309360" cy="182880"/>
          </a:xfrm>
          <a:prstGeom prst="rect">
            <a:avLst/>
          </a:prstGeom>
          <a:noFill/>
        </p:spPr>
        <p:txBody>
          <a:bodyPr wrap="square" lIns="0" rIns="0" tIns="0" bIns="0" anchor="t">
            <a:spAutoFit/>
          </a:bodyPr>
          <a:lstStyle/>
          <a:p>
            <a:pPr algn="l">
              <a:lnSpc>
                <a:spcPct val="115000"/>
              </a:lnSpc>
            </a:pPr>
            <a:r>
              <a:rPr sz="950" b="1" i="0">
                <a:solidFill>
                  <a:srgbClr val="2E55D9"/>
                </a:solidFill>
                <a:latin typeface="Calibri"/>
              </a:rPr>
              <a:t>NEXT 12 MONTHS  ·  HIRING PLAN</a:t>
            </a:r>
          </a:p>
        </p:txBody>
      </p:sp>
      <p:sp>
        <p:nvSpPr>
          <p:cNvPr id="29" name="TextBox 28"/>
          <p:cNvSpPr txBox="1"/>
          <p:nvPr/>
        </p:nvSpPr>
        <p:spPr>
          <a:xfrm>
            <a:off x="5166360" y="5925311"/>
            <a:ext cx="6309360" cy="182880"/>
          </a:xfrm>
          <a:prstGeom prst="rect">
            <a:avLst/>
          </a:prstGeom>
          <a:noFill/>
        </p:spPr>
        <p:txBody>
          <a:bodyPr wrap="square" lIns="0" rIns="0" tIns="0" bIns="0" anchor="t">
            <a:spAutoFit/>
          </a:bodyPr>
          <a:lstStyle/>
          <a:p>
            <a:pPr algn="l">
              <a:lnSpc>
                <a:spcPct val="115000"/>
              </a:lnSpc>
            </a:pPr>
            <a:r>
              <a:rPr sz="950" b="0" i="0">
                <a:solidFill>
                  <a:srgbClr val="0F172E"/>
                </a:solidFill>
                <a:latin typeface="Calibri"/>
              </a:rPr>
              <a:t>Founding engineer → design-partner engineer → applied AI engineer → founding AE.  Lean through Design-Partner cohort.</a:t>
            </a:r>
          </a:p>
        </p:txBody>
      </p:sp>
      <p:cxnSp>
        <p:nvCxnSpPr>
          <p:cNvPr id="30" name="Connector 29"/>
          <p:cNvCxnSpPr/>
          <p:nvPr/>
        </p:nvCxnSpPr>
        <p:spPr>
          <a:xfrm>
            <a:off x="548640" y="6355080"/>
            <a:ext cx="11094415" cy="0"/>
          </a:xfrm>
          <a:prstGeom prst="line">
            <a:avLst/>
          </a:prstGeom>
          <a:ln w="9525">
            <a:solidFill>
              <a:srgbClr val="D8DFE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48640" y="6437376"/>
            <a:ext cx="3657600" cy="274320"/>
          </a:xfrm>
          <a:prstGeom prst="rect">
            <a:avLst/>
          </a:prstGeom>
          <a:noFill/>
        </p:spPr>
        <p:txBody>
          <a:bodyPr wrap="square" lIns="0" rIns="0" tIns="0" bIns="0" anchor="t">
            <a:spAutoFit/>
          </a:bodyPr>
          <a:lstStyle/>
          <a:p>
            <a:pPr algn="l">
              <a:lnSpc>
                <a:spcPct val="115000"/>
              </a:lnSpc>
            </a:pPr>
            <a:r>
              <a:rPr sz="900" b="1" i="0">
                <a:solidFill>
                  <a:srgbClr val="4A5573"/>
                </a:solidFill>
                <a:latin typeface="Calibri"/>
              </a:rPr>
              <a:t>SOURCERA  ·  THE TEAM</a:t>
            </a:r>
          </a:p>
        </p:txBody>
      </p:sp>
      <p:sp>
        <p:nvSpPr>
          <p:cNvPr id="32" name="TextBox 31"/>
          <p:cNvSpPr txBox="1"/>
          <p:nvPr/>
        </p:nvSpPr>
        <p:spPr>
          <a:xfrm>
            <a:off x="10362895" y="6437376"/>
            <a:ext cx="1280160" cy="274320"/>
          </a:xfrm>
          <a:prstGeom prst="rect">
            <a:avLst/>
          </a:prstGeom>
          <a:noFill/>
        </p:spPr>
        <p:txBody>
          <a:bodyPr wrap="square" lIns="0" rIns="0" tIns="0" bIns="0" anchor="t">
            <a:spAutoFit/>
          </a:bodyPr>
          <a:lstStyle/>
          <a:p>
            <a:pPr algn="r">
              <a:lnSpc>
                <a:spcPct val="115000"/>
              </a:lnSpc>
            </a:pPr>
            <a:r>
              <a:rPr sz="900" b="0" i="0">
                <a:solidFill>
                  <a:srgbClr val="4A5573"/>
                </a:solidFill>
                <a:latin typeface="Calibri"/>
              </a:rPr>
              <a:t>17 / 19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4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21792"/>
            <a:ext cx="365760" cy="73152"/>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548640"/>
            <a:ext cx="9144000" cy="274320"/>
          </a:xfrm>
          <a:prstGeom prst="rect">
            <a:avLst/>
          </a:prstGeom>
          <a:noFill/>
        </p:spPr>
        <p:txBody>
          <a:bodyPr wrap="square" lIns="0" rIns="0" tIns="0" bIns="0" anchor="t">
            <a:spAutoFit/>
          </a:bodyPr>
          <a:lstStyle/>
          <a:p>
            <a:pPr algn="l">
              <a:lnSpc>
                <a:spcPct val="115000"/>
              </a:lnSpc>
            </a:pPr>
            <a:r>
              <a:rPr sz="1000" b="1" i="0">
                <a:solidFill>
                  <a:srgbClr val="F4B400"/>
                </a:solidFill>
                <a:latin typeface="Calibri"/>
              </a:rPr>
              <a:t>THE ASK</a:t>
            </a:r>
          </a:p>
        </p:txBody>
      </p:sp>
      <p:sp>
        <p:nvSpPr>
          <p:cNvPr id="5" name="TextBox 4"/>
          <p:cNvSpPr txBox="1"/>
          <p:nvPr/>
        </p:nvSpPr>
        <p:spPr>
          <a:xfrm>
            <a:off x="548640" y="822960"/>
            <a:ext cx="10972800" cy="822960"/>
          </a:xfrm>
          <a:prstGeom prst="rect">
            <a:avLst/>
          </a:prstGeom>
          <a:noFill/>
        </p:spPr>
        <p:txBody>
          <a:bodyPr wrap="square" lIns="0" rIns="0" tIns="0" bIns="0" anchor="t">
            <a:spAutoFit/>
          </a:bodyPr>
          <a:lstStyle/>
          <a:p>
            <a:pPr algn="l">
              <a:lnSpc>
                <a:spcPct val="105000"/>
              </a:lnSpc>
            </a:pPr>
            <a:r>
              <a:rPr sz="3600" b="1" i="0">
                <a:solidFill>
                  <a:srgbClr val="E8EDF7"/>
                </a:solidFill>
                <a:latin typeface="Calibri"/>
              </a:rPr>
              <a:t>Three ways to work with Sourcera.</a:t>
            </a:r>
          </a:p>
        </p:txBody>
      </p:sp>
      <p:sp>
        <p:nvSpPr>
          <p:cNvPr id="6" name="TextBox 5"/>
          <p:cNvSpPr txBox="1"/>
          <p:nvPr/>
        </p:nvSpPr>
        <p:spPr>
          <a:xfrm>
            <a:off x="548640" y="1508760"/>
            <a:ext cx="10972800" cy="457200"/>
          </a:xfrm>
          <a:prstGeom prst="rect">
            <a:avLst/>
          </a:prstGeom>
          <a:noFill/>
        </p:spPr>
        <p:txBody>
          <a:bodyPr wrap="square" lIns="0" rIns="0" tIns="0" bIns="0" anchor="t">
            <a:spAutoFit/>
          </a:bodyPr>
          <a:lstStyle/>
          <a:p>
            <a:pPr algn="l">
              <a:lnSpc>
                <a:spcPct val="125000"/>
              </a:lnSpc>
            </a:pPr>
            <a:r>
              <a:rPr sz="1500" b="0" i="0">
                <a:solidFill>
                  <a:srgbClr val="A8B2CC"/>
                </a:solidFill>
                <a:latin typeface="Calibri"/>
              </a:rPr>
              <a:t>Each audience gets a dedicated track. Pick your path.</a:t>
            </a:r>
          </a:p>
        </p:txBody>
      </p:sp>
      <p:sp>
        <p:nvSpPr>
          <p:cNvPr id="7" name="Rectangle 6"/>
          <p:cNvSpPr/>
          <p:nvPr/>
        </p:nvSpPr>
        <p:spPr>
          <a:xfrm>
            <a:off x="548640" y="2148840"/>
            <a:ext cx="3703320" cy="3611880"/>
          </a:xfrm>
          <a:prstGeom prst="rect">
            <a:avLst/>
          </a:prstGeom>
          <a:solidFill>
            <a:srgbClr val="121E4A"/>
          </a:solidFill>
          <a:ln>
            <a:solidFill>
              <a:srgbClr val="F4B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148840"/>
            <a:ext cx="3703320" cy="457200"/>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240280"/>
            <a:ext cx="3063240" cy="274320"/>
          </a:xfrm>
          <a:prstGeom prst="rect">
            <a:avLst/>
          </a:prstGeom>
          <a:noFill/>
        </p:spPr>
        <p:txBody>
          <a:bodyPr wrap="square" lIns="0" rIns="0" tIns="0" bIns="0" anchor="t">
            <a:spAutoFit/>
          </a:bodyPr>
          <a:lstStyle/>
          <a:p>
            <a:pPr algn="l">
              <a:lnSpc>
                <a:spcPct val="115000"/>
              </a:lnSpc>
            </a:pPr>
            <a:r>
              <a:rPr sz="1100" b="1" i="0">
                <a:solidFill>
                  <a:srgbClr val="0A1432"/>
                </a:solidFill>
                <a:latin typeface="Calibri"/>
              </a:rPr>
              <a:t>INVESTOR</a:t>
            </a:r>
          </a:p>
        </p:txBody>
      </p:sp>
      <p:sp>
        <p:nvSpPr>
          <p:cNvPr id="10" name="TextBox 9"/>
          <p:cNvSpPr txBox="1"/>
          <p:nvPr/>
        </p:nvSpPr>
        <p:spPr>
          <a:xfrm>
            <a:off x="868680" y="2788920"/>
            <a:ext cx="3063240" cy="457200"/>
          </a:xfrm>
          <a:prstGeom prst="rect">
            <a:avLst/>
          </a:prstGeom>
          <a:noFill/>
        </p:spPr>
        <p:txBody>
          <a:bodyPr wrap="square" lIns="0" rIns="0" tIns="0" bIns="0" anchor="t">
            <a:spAutoFit/>
          </a:bodyPr>
          <a:lstStyle/>
          <a:p>
            <a:pPr algn="l">
              <a:lnSpc>
                <a:spcPct val="110000"/>
              </a:lnSpc>
            </a:pPr>
            <a:r>
              <a:rPr sz="2100" b="1" i="0">
                <a:solidFill>
                  <a:srgbClr val="FFFFFF"/>
                </a:solidFill>
                <a:latin typeface="Calibri"/>
              </a:rPr>
              <a:t>Seed round open.</a:t>
            </a:r>
          </a:p>
        </p:txBody>
      </p:sp>
      <p:sp>
        <p:nvSpPr>
          <p:cNvPr id="11" name="TextBox 10"/>
          <p:cNvSpPr txBox="1"/>
          <p:nvPr/>
        </p:nvSpPr>
        <p:spPr>
          <a:xfrm>
            <a:off x="868680" y="3383280"/>
            <a:ext cx="3063240" cy="1188720"/>
          </a:xfrm>
          <a:prstGeom prst="rect">
            <a:avLst/>
          </a:prstGeom>
          <a:noFill/>
        </p:spPr>
        <p:txBody>
          <a:bodyPr wrap="square" lIns="0" rIns="0" tIns="0" bIns="0" anchor="t">
            <a:spAutoFit/>
          </a:bodyPr>
          <a:lstStyle/>
          <a:p>
            <a:pPr algn="l">
              <a:lnSpc>
                <a:spcPct val="130000"/>
              </a:lnSpc>
            </a:pPr>
            <a:r>
              <a:rPr sz="1050" b="0" i="0">
                <a:solidFill>
                  <a:srgbClr val="E8EDF7"/>
                </a:solidFill>
                <a:latin typeface="Calibri"/>
              </a:rPr>
              <a:t>Category-defining two-sided platform with structural 90%+ gross margin, outcome-accounted AI pricing, and a forced-signup flywheel.</a:t>
            </a:r>
          </a:p>
        </p:txBody>
      </p:sp>
      <p:cxnSp>
        <p:nvCxnSpPr>
          <p:cNvPr id="12" name="Connector 11"/>
          <p:cNvCxnSpPr/>
          <p:nvPr/>
        </p:nvCxnSpPr>
        <p:spPr>
          <a:xfrm>
            <a:off x="868680" y="4636008"/>
            <a:ext cx="3063240" cy="0"/>
          </a:xfrm>
          <a:prstGeom prst="line">
            <a:avLst/>
          </a:prstGeom>
          <a:ln w="9525">
            <a:solidFill>
              <a:srgbClr val="1E2B5C"/>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868680" y="4805172"/>
            <a:ext cx="82296" cy="82296"/>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9848" y="4727448"/>
            <a:ext cx="2862072" cy="219456"/>
          </a:xfrm>
          <a:prstGeom prst="rect">
            <a:avLst/>
          </a:prstGeom>
          <a:noFill/>
        </p:spPr>
        <p:txBody>
          <a:bodyPr wrap="square" lIns="0" rIns="0" tIns="0" bIns="0">
            <a:spAutoFit/>
          </a:bodyPr>
          <a:lstStyle/>
          <a:p>
            <a:pPr>
              <a:lnSpc>
                <a:spcPct val="115000"/>
              </a:lnSpc>
            </a:pPr>
            <a:r>
              <a:rPr sz="1000">
                <a:solidFill>
                  <a:srgbClr val="E8EDF7"/>
                </a:solidFill>
                <a:latin typeface="Calibri"/>
              </a:rPr>
              <a:t>Pre-seed / seed round open</a:t>
            </a:r>
          </a:p>
        </p:txBody>
      </p:sp>
      <p:sp>
        <p:nvSpPr>
          <p:cNvPr id="15" name="Rectangle 14"/>
          <p:cNvSpPr/>
          <p:nvPr/>
        </p:nvSpPr>
        <p:spPr>
          <a:xfrm>
            <a:off x="868680" y="5024628"/>
            <a:ext cx="82296" cy="82296"/>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69848" y="4946904"/>
            <a:ext cx="2862072" cy="219456"/>
          </a:xfrm>
          <a:prstGeom prst="rect">
            <a:avLst/>
          </a:prstGeom>
          <a:noFill/>
        </p:spPr>
        <p:txBody>
          <a:bodyPr wrap="square" lIns="0" rIns="0" tIns="0" bIns="0">
            <a:spAutoFit/>
          </a:bodyPr>
          <a:lstStyle/>
          <a:p>
            <a:pPr>
              <a:lnSpc>
                <a:spcPct val="115000"/>
              </a:lnSpc>
            </a:pPr>
            <a:r>
              <a:rPr sz="1000">
                <a:solidFill>
                  <a:srgbClr val="E8EDF7"/>
                </a:solidFill>
                <a:latin typeface="Calibri"/>
              </a:rPr>
              <a:t>Use of funds: engineering + design-partner GTM</a:t>
            </a:r>
          </a:p>
        </p:txBody>
      </p:sp>
      <p:sp>
        <p:nvSpPr>
          <p:cNvPr id="17" name="Rectangle 16"/>
          <p:cNvSpPr/>
          <p:nvPr/>
        </p:nvSpPr>
        <p:spPr>
          <a:xfrm>
            <a:off x="868680" y="5244084"/>
            <a:ext cx="82296" cy="82296"/>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69848" y="5166360"/>
            <a:ext cx="2862072" cy="219456"/>
          </a:xfrm>
          <a:prstGeom prst="rect">
            <a:avLst/>
          </a:prstGeom>
          <a:noFill/>
        </p:spPr>
        <p:txBody>
          <a:bodyPr wrap="square" lIns="0" rIns="0" tIns="0" bIns="0">
            <a:spAutoFit/>
          </a:bodyPr>
          <a:lstStyle/>
          <a:p>
            <a:pPr>
              <a:lnSpc>
                <a:spcPct val="115000"/>
              </a:lnSpc>
            </a:pPr>
            <a:r>
              <a:rPr sz="1000">
                <a:solidFill>
                  <a:srgbClr val="E8EDF7"/>
                </a:solidFill>
                <a:latin typeface="Calibri"/>
              </a:rPr>
              <a:t>Fund the specification → shipping arc</a:t>
            </a:r>
          </a:p>
        </p:txBody>
      </p:sp>
      <p:sp>
        <p:nvSpPr>
          <p:cNvPr id="19" name="Rectangle 18"/>
          <p:cNvSpPr/>
          <p:nvPr/>
        </p:nvSpPr>
        <p:spPr>
          <a:xfrm>
            <a:off x="868680" y="5463540"/>
            <a:ext cx="82296" cy="82296"/>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69848" y="5385816"/>
            <a:ext cx="2862072" cy="219456"/>
          </a:xfrm>
          <a:prstGeom prst="rect">
            <a:avLst/>
          </a:prstGeom>
          <a:noFill/>
        </p:spPr>
        <p:txBody>
          <a:bodyPr wrap="square" lIns="0" rIns="0" tIns="0" bIns="0">
            <a:spAutoFit/>
          </a:bodyPr>
          <a:lstStyle/>
          <a:p>
            <a:pPr>
              <a:lnSpc>
                <a:spcPct val="115000"/>
              </a:lnSpc>
            </a:pPr>
            <a:r>
              <a:rPr sz="1000">
                <a:solidFill>
                  <a:srgbClr val="E8EDF7"/>
                </a:solidFill>
                <a:latin typeface="Calibri"/>
              </a:rPr>
              <a:t>18 months to combined $3M ARR (conservative)</a:t>
            </a:r>
          </a:p>
        </p:txBody>
      </p:sp>
      <p:sp>
        <p:nvSpPr>
          <p:cNvPr id="21" name="Rectangle 20"/>
          <p:cNvSpPr/>
          <p:nvPr/>
        </p:nvSpPr>
        <p:spPr>
          <a:xfrm>
            <a:off x="4361688" y="2148840"/>
            <a:ext cx="3703320" cy="3611880"/>
          </a:xfrm>
          <a:prstGeom prst="rect">
            <a:avLst/>
          </a:prstGeom>
          <a:solidFill>
            <a:srgbClr val="121E4A"/>
          </a:solidFill>
          <a:ln>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61688" y="2148840"/>
            <a:ext cx="3703320" cy="45720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81728" y="2240280"/>
            <a:ext cx="3063240" cy="274320"/>
          </a:xfrm>
          <a:prstGeom prst="rect">
            <a:avLst/>
          </a:prstGeom>
          <a:noFill/>
        </p:spPr>
        <p:txBody>
          <a:bodyPr wrap="square" lIns="0" rIns="0" tIns="0" bIns="0" anchor="t">
            <a:spAutoFit/>
          </a:bodyPr>
          <a:lstStyle/>
          <a:p>
            <a:pPr algn="l">
              <a:lnSpc>
                <a:spcPct val="115000"/>
              </a:lnSpc>
            </a:pPr>
            <a:r>
              <a:rPr sz="1100" b="1" i="0">
                <a:solidFill>
                  <a:srgbClr val="0A1432"/>
                </a:solidFill>
                <a:latin typeface="Calibri"/>
              </a:rPr>
              <a:t>PARTNER</a:t>
            </a:r>
          </a:p>
        </p:txBody>
      </p:sp>
      <p:sp>
        <p:nvSpPr>
          <p:cNvPr id="24" name="TextBox 23"/>
          <p:cNvSpPr txBox="1"/>
          <p:nvPr/>
        </p:nvSpPr>
        <p:spPr>
          <a:xfrm>
            <a:off x="4681728" y="2788920"/>
            <a:ext cx="3063240" cy="457200"/>
          </a:xfrm>
          <a:prstGeom prst="rect">
            <a:avLst/>
          </a:prstGeom>
          <a:noFill/>
        </p:spPr>
        <p:txBody>
          <a:bodyPr wrap="square" lIns="0" rIns="0" tIns="0" bIns="0" anchor="t">
            <a:spAutoFit/>
          </a:bodyPr>
          <a:lstStyle/>
          <a:p>
            <a:pPr algn="l">
              <a:lnSpc>
                <a:spcPct val="110000"/>
              </a:lnSpc>
            </a:pPr>
            <a:r>
              <a:rPr sz="2100" b="1" i="0">
                <a:solidFill>
                  <a:srgbClr val="FFFFFF"/>
                </a:solidFill>
                <a:latin typeface="Calibri"/>
              </a:rPr>
              <a:t>Integration at Phase 13.</a:t>
            </a:r>
          </a:p>
        </p:txBody>
      </p:sp>
      <p:sp>
        <p:nvSpPr>
          <p:cNvPr id="25" name="TextBox 24"/>
          <p:cNvSpPr txBox="1"/>
          <p:nvPr/>
        </p:nvSpPr>
        <p:spPr>
          <a:xfrm>
            <a:off x="4681728" y="3383280"/>
            <a:ext cx="3063240" cy="1188720"/>
          </a:xfrm>
          <a:prstGeom prst="rect">
            <a:avLst/>
          </a:prstGeom>
          <a:noFill/>
        </p:spPr>
        <p:txBody>
          <a:bodyPr wrap="square" lIns="0" rIns="0" tIns="0" bIns="0" anchor="t">
            <a:spAutoFit/>
          </a:bodyPr>
          <a:lstStyle/>
          <a:p>
            <a:pPr algn="l">
              <a:lnSpc>
                <a:spcPct val="130000"/>
              </a:lnSpc>
            </a:pPr>
            <a:r>
              <a:rPr sz="1050" b="0" i="0">
                <a:solidFill>
                  <a:srgbClr val="E8EDF7"/>
                </a:solidFill>
                <a:latin typeface="Calibri"/>
              </a:rPr>
              <a:t>Jira · Linear · Asana · Salesforce · Coupa · Ivalua · Jaggaer · Azure DevOps. Selection outputs routed downstream. First-mover positioning in the category.</a:t>
            </a:r>
          </a:p>
        </p:txBody>
      </p:sp>
      <p:cxnSp>
        <p:nvCxnSpPr>
          <p:cNvPr id="26" name="Connector 25"/>
          <p:cNvCxnSpPr/>
          <p:nvPr/>
        </p:nvCxnSpPr>
        <p:spPr>
          <a:xfrm>
            <a:off x="4681728" y="4636008"/>
            <a:ext cx="3063240" cy="0"/>
          </a:xfrm>
          <a:prstGeom prst="line">
            <a:avLst/>
          </a:prstGeom>
          <a:ln w="9525">
            <a:solidFill>
              <a:srgbClr val="1E2B5C"/>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4681728" y="4805172"/>
            <a:ext cx="82296" cy="82296"/>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82896" y="4727448"/>
            <a:ext cx="2862072" cy="219456"/>
          </a:xfrm>
          <a:prstGeom prst="rect">
            <a:avLst/>
          </a:prstGeom>
          <a:noFill/>
        </p:spPr>
        <p:txBody>
          <a:bodyPr wrap="square" lIns="0" rIns="0" tIns="0" bIns="0">
            <a:spAutoFit/>
          </a:bodyPr>
          <a:lstStyle/>
          <a:p>
            <a:pPr>
              <a:lnSpc>
                <a:spcPct val="115000"/>
              </a:lnSpc>
            </a:pPr>
            <a:r>
              <a:rPr sz="1000">
                <a:solidFill>
                  <a:srgbClr val="E8EDF7"/>
                </a:solidFill>
                <a:latin typeface="Calibri"/>
              </a:rPr>
              <a:t>Launch integration partners</a:t>
            </a:r>
          </a:p>
        </p:txBody>
      </p:sp>
      <p:sp>
        <p:nvSpPr>
          <p:cNvPr id="29" name="Rectangle 28"/>
          <p:cNvSpPr/>
          <p:nvPr/>
        </p:nvSpPr>
        <p:spPr>
          <a:xfrm>
            <a:off x="4681728" y="5024628"/>
            <a:ext cx="82296" cy="82296"/>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82896" y="4946904"/>
            <a:ext cx="2862072" cy="219456"/>
          </a:xfrm>
          <a:prstGeom prst="rect">
            <a:avLst/>
          </a:prstGeom>
          <a:noFill/>
        </p:spPr>
        <p:txBody>
          <a:bodyPr wrap="square" lIns="0" rIns="0" tIns="0" bIns="0">
            <a:spAutoFit/>
          </a:bodyPr>
          <a:lstStyle/>
          <a:p>
            <a:pPr>
              <a:lnSpc>
                <a:spcPct val="115000"/>
              </a:lnSpc>
            </a:pPr>
            <a:r>
              <a:rPr sz="1000">
                <a:solidFill>
                  <a:srgbClr val="E8EDF7"/>
                </a:solidFill>
                <a:latin typeface="Calibri"/>
              </a:rPr>
              <a:t>Co-marketing on Category Pages</a:t>
            </a:r>
          </a:p>
        </p:txBody>
      </p:sp>
      <p:sp>
        <p:nvSpPr>
          <p:cNvPr id="31" name="Rectangle 30"/>
          <p:cNvSpPr/>
          <p:nvPr/>
        </p:nvSpPr>
        <p:spPr>
          <a:xfrm>
            <a:off x="4681728" y="5244084"/>
            <a:ext cx="82296" cy="82296"/>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82896" y="5166360"/>
            <a:ext cx="2862072" cy="219456"/>
          </a:xfrm>
          <a:prstGeom prst="rect">
            <a:avLst/>
          </a:prstGeom>
          <a:noFill/>
        </p:spPr>
        <p:txBody>
          <a:bodyPr wrap="square" lIns="0" rIns="0" tIns="0" bIns="0">
            <a:spAutoFit/>
          </a:bodyPr>
          <a:lstStyle/>
          <a:p>
            <a:pPr>
              <a:lnSpc>
                <a:spcPct val="115000"/>
              </a:lnSpc>
            </a:pPr>
            <a:r>
              <a:rPr sz="1000">
                <a:solidFill>
                  <a:srgbClr val="E8EDF7"/>
                </a:solidFill>
                <a:latin typeface="Calibri"/>
              </a:rPr>
              <a:t>Referral fee on qualified intros</a:t>
            </a:r>
          </a:p>
        </p:txBody>
      </p:sp>
      <p:sp>
        <p:nvSpPr>
          <p:cNvPr id="33" name="Rectangle 32"/>
          <p:cNvSpPr/>
          <p:nvPr/>
        </p:nvSpPr>
        <p:spPr>
          <a:xfrm>
            <a:off x="4681728" y="5463540"/>
            <a:ext cx="82296" cy="82296"/>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82896" y="5385816"/>
            <a:ext cx="2862072" cy="219456"/>
          </a:xfrm>
          <a:prstGeom prst="rect">
            <a:avLst/>
          </a:prstGeom>
          <a:noFill/>
        </p:spPr>
        <p:txBody>
          <a:bodyPr wrap="square" lIns="0" rIns="0" tIns="0" bIns="0">
            <a:spAutoFit/>
          </a:bodyPr>
          <a:lstStyle/>
          <a:p>
            <a:pPr>
              <a:lnSpc>
                <a:spcPct val="115000"/>
              </a:lnSpc>
            </a:pPr>
            <a:r>
              <a:rPr sz="1000">
                <a:solidFill>
                  <a:srgbClr val="E8EDF7"/>
                </a:solidFill>
                <a:latin typeface="Calibri"/>
              </a:rPr>
              <a:t>Enterprise co-sell motion</a:t>
            </a:r>
          </a:p>
        </p:txBody>
      </p:sp>
      <p:sp>
        <p:nvSpPr>
          <p:cNvPr id="35" name="Rectangle 34"/>
          <p:cNvSpPr/>
          <p:nvPr/>
        </p:nvSpPr>
        <p:spPr>
          <a:xfrm>
            <a:off x="8174736" y="2148840"/>
            <a:ext cx="3703320" cy="3611880"/>
          </a:xfrm>
          <a:prstGeom prst="rect">
            <a:avLst/>
          </a:prstGeom>
          <a:solidFill>
            <a:srgbClr val="121E4A"/>
          </a:solidFill>
          <a:ln>
            <a:solidFill>
              <a:srgbClr val="4A7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74736" y="2148840"/>
            <a:ext cx="3703320" cy="457200"/>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94776" y="2240280"/>
            <a:ext cx="3063240" cy="274320"/>
          </a:xfrm>
          <a:prstGeom prst="rect">
            <a:avLst/>
          </a:prstGeom>
          <a:noFill/>
        </p:spPr>
        <p:txBody>
          <a:bodyPr wrap="square" lIns="0" rIns="0" tIns="0" bIns="0" anchor="t">
            <a:spAutoFit/>
          </a:bodyPr>
          <a:lstStyle/>
          <a:p>
            <a:pPr algn="l">
              <a:lnSpc>
                <a:spcPct val="115000"/>
              </a:lnSpc>
            </a:pPr>
            <a:r>
              <a:rPr sz="1100" b="1" i="0">
                <a:solidFill>
                  <a:srgbClr val="0A1432"/>
                </a:solidFill>
                <a:latin typeface="Calibri"/>
              </a:rPr>
              <a:t>ENTERPRISE</a:t>
            </a:r>
          </a:p>
        </p:txBody>
      </p:sp>
      <p:sp>
        <p:nvSpPr>
          <p:cNvPr id="38" name="TextBox 37"/>
          <p:cNvSpPr txBox="1"/>
          <p:nvPr/>
        </p:nvSpPr>
        <p:spPr>
          <a:xfrm>
            <a:off x="8494776" y="2788920"/>
            <a:ext cx="3063240" cy="457200"/>
          </a:xfrm>
          <a:prstGeom prst="rect">
            <a:avLst/>
          </a:prstGeom>
          <a:noFill/>
        </p:spPr>
        <p:txBody>
          <a:bodyPr wrap="square" lIns="0" rIns="0" tIns="0" bIns="0" anchor="t">
            <a:spAutoFit/>
          </a:bodyPr>
          <a:lstStyle/>
          <a:p>
            <a:pPr algn="l">
              <a:lnSpc>
                <a:spcPct val="110000"/>
              </a:lnSpc>
            </a:pPr>
            <a:r>
              <a:rPr sz="2100" b="1" i="0">
                <a:solidFill>
                  <a:srgbClr val="FFFFFF"/>
                </a:solidFill>
                <a:latin typeface="Calibri"/>
              </a:rPr>
              <a:t>Design partner program.</a:t>
            </a:r>
          </a:p>
        </p:txBody>
      </p:sp>
      <p:sp>
        <p:nvSpPr>
          <p:cNvPr id="39" name="TextBox 38"/>
          <p:cNvSpPr txBox="1"/>
          <p:nvPr/>
        </p:nvSpPr>
        <p:spPr>
          <a:xfrm>
            <a:off x="8494776" y="3383280"/>
            <a:ext cx="3063240" cy="1188720"/>
          </a:xfrm>
          <a:prstGeom prst="rect">
            <a:avLst/>
          </a:prstGeom>
          <a:noFill/>
        </p:spPr>
        <p:txBody>
          <a:bodyPr wrap="square" lIns="0" rIns="0" tIns="0" bIns="0" anchor="t">
            <a:spAutoFit/>
          </a:bodyPr>
          <a:lstStyle/>
          <a:p>
            <a:pPr algn="l">
              <a:lnSpc>
                <a:spcPct val="130000"/>
              </a:lnSpc>
            </a:pPr>
            <a:r>
              <a:rPr sz="1050" b="0" i="0">
                <a:solidFill>
                  <a:srgbClr val="E8EDF7"/>
                </a:solidFill>
                <a:latin typeface="Calibri"/>
              </a:rPr>
              <a:t>Run your next procurement evaluation on Sourcera with white-glove onboarding. 90-day pilot, full migration support, founder-level partnership.</a:t>
            </a:r>
          </a:p>
        </p:txBody>
      </p:sp>
      <p:cxnSp>
        <p:nvCxnSpPr>
          <p:cNvPr id="40" name="Connector 39"/>
          <p:cNvCxnSpPr/>
          <p:nvPr/>
        </p:nvCxnSpPr>
        <p:spPr>
          <a:xfrm>
            <a:off x="8494776" y="4636008"/>
            <a:ext cx="3063240" cy="0"/>
          </a:xfrm>
          <a:prstGeom prst="line">
            <a:avLst/>
          </a:prstGeom>
          <a:ln w="9525">
            <a:solidFill>
              <a:srgbClr val="1E2B5C"/>
            </a:solidFill>
          </a:ln>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8494776" y="4805172"/>
            <a:ext cx="82296" cy="82296"/>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95944" y="4727448"/>
            <a:ext cx="2862072" cy="219456"/>
          </a:xfrm>
          <a:prstGeom prst="rect">
            <a:avLst/>
          </a:prstGeom>
          <a:noFill/>
        </p:spPr>
        <p:txBody>
          <a:bodyPr wrap="square" lIns="0" rIns="0" tIns="0" bIns="0">
            <a:spAutoFit/>
          </a:bodyPr>
          <a:lstStyle/>
          <a:p>
            <a:pPr>
              <a:lnSpc>
                <a:spcPct val="115000"/>
              </a:lnSpc>
            </a:pPr>
            <a:r>
              <a:rPr sz="1000">
                <a:solidFill>
                  <a:srgbClr val="E8EDF7"/>
                </a:solidFill>
                <a:latin typeface="Calibri"/>
              </a:rPr>
              <a:t>10 design-partner slots open</a:t>
            </a:r>
          </a:p>
        </p:txBody>
      </p:sp>
      <p:sp>
        <p:nvSpPr>
          <p:cNvPr id="43" name="Rectangle 42"/>
          <p:cNvSpPr/>
          <p:nvPr/>
        </p:nvSpPr>
        <p:spPr>
          <a:xfrm>
            <a:off x="8494776" y="5024628"/>
            <a:ext cx="82296" cy="82296"/>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95944" y="4946904"/>
            <a:ext cx="2862072" cy="219456"/>
          </a:xfrm>
          <a:prstGeom prst="rect">
            <a:avLst/>
          </a:prstGeom>
          <a:noFill/>
        </p:spPr>
        <p:txBody>
          <a:bodyPr wrap="square" lIns="0" rIns="0" tIns="0" bIns="0">
            <a:spAutoFit/>
          </a:bodyPr>
          <a:lstStyle/>
          <a:p>
            <a:pPr>
              <a:lnSpc>
                <a:spcPct val="115000"/>
              </a:lnSpc>
            </a:pPr>
            <a:r>
              <a:rPr sz="1000">
                <a:solidFill>
                  <a:srgbClr val="E8EDF7"/>
                </a:solidFill>
                <a:latin typeface="Calibri"/>
              </a:rPr>
              <a:t>90-day pilot with migration support</a:t>
            </a:r>
          </a:p>
        </p:txBody>
      </p:sp>
      <p:sp>
        <p:nvSpPr>
          <p:cNvPr id="45" name="Rectangle 44"/>
          <p:cNvSpPr/>
          <p:nvPr/>
        </p:nvSpPr>
        <p:spPr>
          <a:xfrm>
            <a:off x="8494776" y="5244084"/>
            <a:ext cx="82296" cy="82296"/>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95944" y="5166360"/>
            <a:ext cx="2862072" cy="219456"/>
          </a:xfrm>
          <a:prstGeom prst="rect">
            <a:avLst/>
          </a:prstGeom>
          <a:noFill/>
        </p:spPr>
        <p:txBody>
          <a:bodyPr wrap="square" lIns="0" rIns="0" tIns="0" bIns="0">
            <a:spAutoFit/>
          </a:bodyPr>
          <a:lstStyle/>
          <a:p>
            <a:pPr>
              <a:lnSpc>
                <a:spcPct val="115000"/>
              </a:lnSpc>
            </a:pPr>
            <a:r>
              <a:rPr sz="1000">
                <a:solidFill>
                  <a:srgbClr val="E8EDF7"/>
                </a:solidFill>
                <a:latin typeface="Calibri"/>
              </a:rPr>
              <a:t>Founder-level partnership</a:t>
            </a:r>
          </a:p>
        </p:txBody>
      </p:sp>
      <p:sp>
        <p:nvSpPr>
          <p:cNvPr id="47" name="Rectangle 46"/>
          <p:cNvSpPr/>
          <p:nvPr/>
        </p:nvSpPr>
        <p:spPr>
          <a:xfrm>
            <a:off x="8494776" y="5463540"/>
            <a:ext cx="82296" cy="82296"/>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95944" y="5385816"/>
            <a:ext cx="2862072" cy="219456"/>
          </a:xfrm>
          <a:prstGeom prst="rect">
            <a:avLst/>
          </a:prstGeom>
          <a:noFill/>
        </p:spPr>
        <p:txBody>
          <a:bodyPr wrap="square" lIns="0" rIns="0" tIns="0" bIns="0">
            <a:spAutoFit/>
          </a:bodyPr>
          <a:lstStyle/>
          <a:p>
            <a:pPr>
              <a:lnSpc>
                <a:spcPct val="115000"/>
              </a:lnSpc>
            </a:pPr>
            <a:r>
              <a:rPr sz="1000">
                <a:solidFill>
                  <a:srgbClr val="E8EDF7"/>
                </a:solidFill>
                <a:latin typeface="Calibri"/>
              </a:rPr>
              <a:t>Locked-in pricing + feature roadmap co-authorship</a:t>
            </a:r>
          </a:p>
        </p:txBody>
      </p:sp>
      <p:sp>
        <p:nvSpPr>
          <p:cNvPr id="49" name="Rectangle 48"/>
          <p:cNvSpPr/>
          <p:nvPr/>
        </p:nvSpPr>
        <p:spPr>
          <a:xfrm>
            <a:off x="548640" y="5897880"/>
            <a:ext cx="11094415" cy="384048"/>
          </a:xfrm>
          <a:prstGeom prst="rect">
            <a:avLst/>
          </a:prstGeom>
          <a:solidFill>
            <a:srgbClr val="1E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31520" y="5980176"/>
            <a:ext cx="10728655" cy="274320"/>
          </a:xfrm>
          <a:prstGeom prst="rect">
            <a:avLst/>
          </a:prstGeom>
          <a:noFill/>
        </p:spPr>
        <p:txBody>
          <a:bodyPr wrap="square" lIns="0" rIns="0" tIns="0" bIns="0" anchor="t">
            <a:spAutoFit/>
          </a:bodyPr>
          <a:lstStyle/>
          <a:p>
            <a:pPr algn="ctr">
              <a:lnSpc>
                <a:spcPct val="120000"/>
              </a:lnSpc>
            </a:pPr>
            <a:r>
              <a:rPr sz="1200" b="1" i="0">
                <a:solidFill>
                  <a:srgbClr val="F4B400"/>
                </a:solidFill>
                <a:latin typeface="Calibri"/>
              </a:rPr>
              <a:t>Blake Henry Rowley</a:t>
            </a:r>
            <a:r>
              <a:rPr sz="1050" b="0" i="0">
                <a:solidFill>
                  <a:srgbClr val="A8B2CC"/>
                </a:solidFill>
                <a:latin typeface="Calibri"/>
              </a:rPr>
              <a:t>   ·   Founder, Sourcera   ·   </a:t>
            </a:r>
            <a:r>
              <a:rPr sz="1100" b="1" i="0">
                <a:solidFill>
                  <a:srgbClr val="FFFFFF"/>
                </a:solidFill>
                <a:latin typeface="Consolas"/>
              </a:rPr>
              <a:t>blake@sourcera.com</a:t>
            </a:r>
            <a:r>
              <a:rPr sz="1050" b="0" i="0">
                <a:solidFill>
                  <a:srgbClr val="A8B2CC"/>
                </a:solidFill>
                <a:latin typeface="Calibri"/>
              </a:rPr>
              <a:t>   ·   sourcera.com</a:t>
            </a:r>
          </a:p>
        </p:txBody>
      </p:sp>
      <p:cxnSp>
        <p:nvCxnSpPr>
          <p:cNvPr id="51" name="Connector 50"/>
          <p:cNvCxnSpPr/>
          <p:nvPr/>
        </p:nvCxnSpPr>
        <p:spPr>
          <a:xfrm>
            <a:off x="548640" y="6355080"/>
            <a:ext cx="11094415" cy="0"/>
          </a:xfrm>
          <a:prstGeom prst="line">
            <a:avLst/>
          </a:prstGeom>
          <a:ln w="9525">
            <a:solidFill>
              <a:srgbClr val="1E2B5C"/>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548640" y="6437376"/>
            <a:ext cx="3657600" cy="274320"/>
          </a:xfrm>
          <a:prstGeom prst="rect">
            <a:avLst/>
          </a:prstGeom>
          <a:noFill/>
        </p:spPr>
        <p:txBody>
          <a:bodyPr wrap="square" lIns="0" rIns="0" tIns="0" bIns="0" anchor="t">
            <a:spAutoFit/>
          </a:bodyPr>
          <a:lstStyle/>
          <a:p>
            <a:pPr algn="l">
              <a:lnSpc>
                <a:spcPct val="115000"/>
              </a:lnSpc>
            </a:pPr>
            <a:r>
              <a:rPr sz="900" b="1" i="0">
                <a:solidFill>
                  <a:srgbClr val="A8B2CC"/>
                </a:solidFill>
                <a:latin typeface="Calibri"/>
              </a:rPr>
              <a:t>SOURCERA  ·  THE ASK</a:t>
            </a:r>
          </a:p>
        </p:txBody>
      </p:sp>
      <p:sp>
        <p:nvSpPr>
          <p:cNvPr id="53" name="TextBox 52"/>
          <p:cNvSpPr txBox="1"/>
          <p:nvPr/>
        </p:nvSpPr>
        <p:spPr>
          <a:xfrm>
            <a:off x="10362895" y="6437376"/>
            <a:ext cx="1280160" cy="274320"/>
          </a:xfrm>
          <a:prstGeom prst="rect">
            <a:avLst/>
          </a:prstGeom>
          <a:noFill/>
        </p:spPr>
        <p:txBody>
          <a:bodyPr wrap="square" lIns="0" rIns="0" tIns="0" bIns="0" anchor="t">
            <a:spAutoFit/>
          </a:bodyPr>
          <a:lstStyle/>
          <a:p>
            <a:pPr algn="r">
              <a:lnSpc>
                <a:spcPct val="115000"/>
              </a:lnSpc>
            </a:pPr>
            <a:r>
              <a:rPr sz="900" b="0" i="0">
                <a:solidFill>
                  <a:srgbClr val="A8B2CC"/>
                </a:solidFill>
                <a:latin typeface="Calibri"/>
              </a:rPr>
              <a:t>18 / 19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21792"/>
            <a:ext cx="365760" cy="73152"/>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548640"/>
            <a:ext cx="9144000" cy="274320"/>
          </a:xfrm>
          <a:prstGeom prst="rect">
            <a:avLst/>
          </a:prstGeom>
          <a:noFill/>
        </p:spPr>
        <p:txBody>
          <a:bodyPr wrap="square" lIns="0" rIns="0" tIns="0" bIns="0" anchor="t">
            <a:spAutoFit/>
          </a:bodyPr>
          <a:lstStyle/>
          <a:p>
            <a:pPr algn="l">
              <a:lnSpc>
                <a:spcPct val="115000"/>
              </a:lnSpc>
            </a:pPr>
            <a:r>
              <a:rPr sz="1000" b="1" i="0">
                <a:solidFill>
                  <a:srgbClr val="4A7BFF"/>
                </a:solidFill>
                <a:latin typeface="Calibri"/>
              </a:rPr>
              <a:t>APPENDIX</a:t>
            </a:r>
          </a:p>
        </p:txBody>
      </p:sp>
      <p:sp>
        <p:nvSpPr>
          <p:cNvPr id="5" name="TextBox 4"/>
          <p:cNvSpPr txBox="1"/>
          <p:nvPr/>
        </p:nvSpPr>
        <p:spPr>
          <a:xfrm>
            <a:off x="548640" y="822960"/>
            <a:ext cx="10972800" cy="822960"/>
          </a:xfrm>
          <a:prstGeom prst="rect">
            <a:avLst/>
          </a:prstGeom>
          <a:noFill/>
        </p:spPr>
        <p:txBody>
          <a:bodyPr wrap="square" lIns="0" rIns="0" tIns="0" bIns="0" anchor="t">
            <a:spAutoFit/>
          </a:bodyPr>
          <a:lstStyle/>
          <a:p>
            <a:pPr algn="l">
              <a:lnSpc>
                <a:spcPct val="105000"/>
              </a:lnSpc>
            </a:pPr>
            <a:r>
              <a:rPr sz="3600" b="1" i="0">
                <a:solidFill>
                  <a:srgbClr val="0F172E"/>
                </a:solidFill>
                <a:latin typeface="Calibri"/>
              </a:rPr>
              <a:t>Conservative 24-month financial model.</a:t>
            </a:r>
          </a:p>
        </p:txBody>
      </p:sp>
      <p:sp>
        <p:nvSpPr>
          <p:cNvPr id="6" name="TextBox 5"/>
          <p:cNvSpPr txBox="1"/>
          <p:nvPr/>
        </p:nvSpPr>
        <p:spPr>
          <a:xfrm>
            <a:off x="548640" y="1508760"/>
            <a:ext cx="10972800" cy="457200"/>
          </a:xfrm>
          <a:prstGeom prst="rect">
            <a:avLst/>
          </a:prstGeom>
          <a:noFill/>
        </p:spPr>
        <p:txBody>
          <a:bodyPr wrap="square" lIns="0" rIns="0" tIns="0" bIns="0" anchor="t">
            <a:spAutoFit/>
          </a:bodyPr>
          <a:lstStyle/>
          <a:p>
            <a:pPr algn="l">
              <a:lnSpc>
                <a:spcPct val="125000"/>
              </a:lnSpc>
            </a:pPr>
            <a:r>
              <a:rPr sz="1500" b="0" i="0">
                <a:solidFill>
                  <a:srgbClr val="4A5573"/>
                </a:solidFill>
                <a:latin typeface="Calibri"/>
              </a:rPr>
              <a:t>Month-indexed build-up. All assumptions derive from published pricing and exit-mix scenarios. No hockey-stick.</a:t>
            </a:r>
          </a:p>
        </p:txBody>
      </p:sp>
      <p:sp>
        <p:nvSpPr>
          <p:cNvPr id="7" name="Rectangle 6"/>
          <p:cNvSpPr/>
          <p:nvPr/>
        </p:nvSpPr>
        <p:spPr>
          <a:xfrm>
            <a:off x="548640" y="1828800"/>
            <a:ext cx="11094415" cy="2926080"/>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828800"/>
            <a:ext cx="11094415" cy="411480"/>
          </a:xfrm>
          <a:prstGeom prst="rect">
            <a:avLst/>
          </a:prstGeom>
          <a:solidFill>
            <a:srgbClr val="0A14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920240"/>
            <a:ext cx="1828800" cy="274320"/>
          </a:xfrm>
          <a:prstGeom prst="rect">
            <a:avLst/>
          </a:prstGeom>
          <a:noFill/>
        </p:spPr>
        <p:txBody>
          <a:bodyPr wrap="square" lIns="0" rIns="0" tIns="0" bIns="0" anchor="t">
            <a:spAutoFit/>
          </a:bodyPr>
          <a:lstStyle/>
          <a:p>
            <a:pPr algn="l">
              <a:lnSpc>
                <a:spcPct val="115000"/>
              </a:lnSpc>
            </a:pPr>
            <a:r>
              <a:rPr sz="1000" b="1" i="0">
                <a:solidFill>
                  <a:srgbClr val="F4B400"/>
                </a:solidFill>
                <a:latin typeface="Calibri"/>
              </a:rPr>
              <a:t>Metric</a:t>
            </a:r>
          </a:p>
        </p:txBody>
      </p:sp>
      <p:sp>
        <p:nvSpPr>
          <p:cNvPr id="10" name="TextBox 9"/>
          <p:cNvSpPr txBox="1"/>
          <p:nvPr/>
        </p:nvSpPr>
        <p:spPr>
          <a:xfrm>
            <a:off x="2670048" y="1920240"/>
            <a:ext cx="952461" cy="274320"/>
          </a:xfrm>
          <a:prstGeom prst="rect">
            <a:avLst/>
          </a:prstGeom>
          <a:noFill/>
        </p:spPr>
        <p:txBody>
          <a:bodyPr wrap="square" lIns="0" rIns="0" tIns="0" bIns="0" anchor="t">
            <a:spAutoFit/>
          </a:bodyPr>
          <a:lstStyle/>
          <a:p>
            <a:pPr algn="ctr">
              <a:lnSpc>
                <a:spcPct val="115000"/>
              </a:lnSpc>
            </a:pPr>
            <a:r>
              <a:rPr sz="1000" b="1" i="0">
                <a:solidFill>
                  <a:srgbClr val="FFFFFF"/>
                </a:solidFill>
                <a:latin typeface="Calibri"/>
              </a:rPr>
              <a:t>M3</a:t>
            </a:r>
          </a:p>
        </p:txBody>
      </p:sp>
      <p:sp>
        <p:nvSpPr>
          <p:cNvPr id="11" name="TextBox 10"/>
          <p:cNvSpPr txBox="1"/>
          <p:nvPr/>
        </p:nvSpPr>
        <p:spPr>
          <a:xfrm>
            <a:off x="3805389" y="1920240"/>
            <a:ext cx="952461" cy="274320"/>
          </a:xfrm>
          <a:prstGeom prst="rect">
            <a:avLst/>
          </a:prstGeom>
          <a:noFill/>
        </p:spPr>
        <p:txBody>
          <a:bodyPr wrap="square" lIns="0" rIns="0" tIns="0" bIns="0" anchor="t">
            <a:spAutoFit/>
          </a:bodyPr>
          <a:lstStyle/>
          <a:p>
            <a:pPr algn="ctr">
              <a:lnSpc>
                <a:spcPct val="115000"/>
              </a:lnSpc>
            </a:pPr>
            <a:r>
              <a:rPr sz="1000" b="1" i="0">
                <a:solidFill>
                  <a:srgbClr val="FFFFFF"/>
                </a:solidFill>
                <a:latin typeface="Calibri"/>
              </a:rPr>
              <a:t>M6</a:t>
            </a:r>
          </a:p>
        </p:txBody>
      </p:sp>
      <p:sp>
        <p:nvSpPr>
          <p:cNvPr id="12" name="TextBox 11"/>
          <p:cNvSpPr txBox="1"/>
          <p:nvPr/>
        </p:nvSpPr>
        <p:spPr>
          <a:xfrm>
            <a:off x="4940731" y="1920240"/>
            <a:ext cx="952461" cy="274320"/>
          </a:xfrm>
          <a:prstGeom prst="rect">
            <a:avLst/>
          </a:prstGeom>
          <a:noFill/>
        </p:spPr>
        <p:txBody>
          <a:bodyPr wrap="square" lIns="0" rIns="0" tIns="0" bIns="0" anchor="t">
            <a:spAutoFit/>
          </a:bodyPr>
          <a:lstStyle/>
          <a:p>
            <a:pPr algn="ctr">
              <a:lnSpc>
                <a:spcPct val="115000"/>
              </a:lnSpc>
            </a:pPr>
            <a:r>
              <a:rPr sz="1000" b="1" i="0">
                <a:solidFill>
                  <a:srgbClr val="FFFFFF"/>
                </a:solidFill>
                <a:latin typeface="Calibri"/>
              </a:rPr>
              <a:t>M9</a:t>
            </a:r>
          </a:p>
        </p:txBody>
      </p:sp>
      <p:sp>
        <p:nvSpPr>
          <p:cNvPr id="13" name="TextBox 12"/>
          <p:cNvSpPr txBox="1"/>
          <p:nvPr/>
        </p:nvSpPr>
        <p:spPr>
          <a:xfrm>
            <a:off x="6076073" y="1920240"/>
            <a:ext cx="952461" cy="274320"/>
          </a:xfrm>
          <a:prstGeom prst="rect">
            <a:avLst/>
          </a:prstGeom>
          <a:noFill/>
        </p:spPr>
        <p:txBody>
          <a:bodyPr wrap="square" lIns="0" rIns="0" tIns="0" bIns="0" anchor="t">
            <a:spAutoFit/>
          </a:bodyPr>
          <a:lstStyle/>
          <a:p>
            <a:pPr algn="ctr">
              <a:lnSpc>
                <a:spcPct val="115000"/>
              </a:lnSpc>
            </a:pPr>
            <a:r>
              <a:rPr sz="1000" b="1" i="0">
                <a:solidFill>
                  <a:srgbClr val="FFFFFF"/>
                </a:solidFill>
                <a:latin typeface="Calibri"/>
              </a:rPr>
              <a:t>M12</a:t>
            </a:r>
          </a:p>
        </p:txBody>
      </p:sp>
      <p:sp>
        <p:nvSpPr>
          <p:cNvPr id="14" name="TextBox 13"/>
          <p:cNvSpPr txBox="1"/>
          <p:nvPr/>
        </p:nvSpPr>
        <p:spPr>
          <a:xfrm>
            <a:off x="7211415" y="1920240"/>
            <a:ext cx="952461" cy="274320"/>
          </a:xfrm>
          <a:prstGeom prst="rect">
            <a:avLst/>
          </a:prstGeom>
          <a:noFill/>
        </p:spPr>
        <p:txBody>
          <a:bodyPr wrap="square" lIns="0" rIns="0" tIns="0" bIns="0" anchor="t">
            <a:spAutoFit/>
          </a:bodyPr>
          <a:lstStyle/>
          <a:p>
            <a:pPr algn="ctr">
              <a:lnSpc>
                <a:spcPct val="115000"/>
              </a:lnSpc>
            </a:pPr>
            <a:r>
              <a:rPr sz="1000" b="1" i="0">
                <a:solidFill>
                  <a:srgbClr val="FFFFFF"/>
                </a:solidFill>
                <a:latin typeface="Calibri"/>
              </a:rPr>
              <a:t>M15</a:t>
            </a:r>
          </a:p>
        </p:txBody>
      </p:sp>
      <p:sp>
        <p:nvSpPr>
          <p:cNvPr id="15" name="TextBox 14"/>
          <p:cNvSpPr txBox="1"/>
          <p:nvPr/>
        </p:nvSpPr>
        <p:spPr>
          <a:xfrm>
            <a:off x="8346757" y="1920240"/>
            <a:ext cx="952461" cy="274320"/>
          </a:xfrm>
          <a:prstGeom prst="rect">
            <a:avLst/>
          </a:prstGeom>
          <a:noFill/>
        </p:spPr>
        <p:txBody>
          <a:bodyPr wrap="square" lIns="0" rIns="0" tIns="0" bIns="0" anchor="t">
            <a:spAutoFit/>
          </a:bodyPr>
          <a:lstStyle/>
          <a:p>
            <a:pPr algn="ctr">
              <a:lnSpc>
                <a:spcPct val="115000"/>
              </a:lnSpc>
            </a:pPr>
            <a:r>
              <a:rPr sz="1000" b="1" i="0">
                <a:solidFill>
                  <a:srgbClr val="FFFFFF"/>
                </a:solidFill>
                <a:latin typeface="Calibri"/>
              </a:rPr>
              <a:t>M18</a:t>
            </a:r>
          </a:p>
        </p:txBody>
      </p:sp>
      <p:sp>
        <p:nvSpPr>
          <p:cNvPr id="16" name="TextBox 15"/>
          <p:cNvSpPr txBox="1"/>
          <p:nvPr/>
        </p:nvSpPr>
        <p:spPr>
          <a:xfrm>
            <a:off x="9482099" y="1920240"/>
            <a:ext cx="952461" cy="274320"/>
          </a:xfrm>
          <a:prstGeom prst="rect">
            <a:avLst/>
          </a:prstGeom>
          <a:noFill/>
        </p:spPr>
        <p:txBody>
          <a:bodyPr wrap="square" lIns="0" rIns="0" tIns="0" bIns="0" anchor="t">
            <a:spAutoFit/>
          </a:bodyPr>
          <a:lstStyle/>
          <a:p>
            <a:pPr algn="ctr">
              <a:lnSpc>
                <a:spcPct val="115000"/>
              </a:lnSpc>
            </a:pPr>
            <a:r>
              <a:rPr sz="1000" b="1" i="0">
                <a:solidFill>
                  <a:srgbClr val="FFFFFF"/>
                </a:solidFill>
                <a:latin typeface="Calibri"/>
              </a:rPr>
              <a:t>M21</a:t>
            </a:r>
          </a:p>
        </p:txBody>
      </p:sp>
      <p:sp>
        <p:nvSpPr>
          <p:cNvPr id="17" name="TextBox 16"/>
          <p:cNvSpPr txBox="1"/>
          <p:nvPr/>
        </p:nvSpPr>
        <p:spPr>
          <a:xfrm>
            <a:off x="10617441" y="1920240"/>
            <a:ext cx="952461" cy="274320"/>
          </a:xfrm>
          <a:prstGeom prst="rect">
            <a:avLst/>
          </a:prstGeom>
          <a:noFill/>
        </p:spPr>
        <p:txBody>
          <a:bodyPr wrap="square" lIns="0" rIns="0" tIns="0" bIns="0" anchor="t">
            <a:spAutoFit/>
          </a:bodyPr>
          <a:lstStyle/>
          <a:p>
            <a:pPr algn="ctr">
              <a:lnSpc>
                <a:spcPct val="115000"/>
              </a:lnSpc>
            </a:pPr>
            <a:r>
              <a:rPr sz="1000" b="1" i="0">
                <a:solidFill>
                  <a:srgbClr val="FFFFFF"/>
                </a:solidFill>
                <a:latin typeface="Calibri"/>
              </a:rPr>
              <a:t>M24</a:t>
            </a:r>
          </a:p>
        </p:txBody>
      </p:sp>
      <p:sp>
        <p:nvSpPr>
          <p:cNvPr id="18" name="Rectangle 17"/>
          <p:cNvSpPr/>
          <p:nvPr/>
        </p:nvSpPr>
        <p:spPr>
          <a:xfrm>
            <a:off x="548640" y="2240280"/>
            <a:ext cx="11094415" cy="347472"/>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313432"/>
            <a:ext cx="1783080" cy="274320"/>
          </a:xfrm>
          <a:prstGeom prst="rect">
            <a:avLst/>
          </a:prstGeom>
          <a:noFill/>
        </p:spPr>
        <p:txBody>
          <a:bodyPr wrap="square" lIns="0" rIns="0" tIns="0" bIns="0" anchor="t">
            <a:spAutoFit/>
          </a:bodyPr>
          <a:lstStyle/>
          <a:p>
            <a:pPr algn="l">
              <a:lnSpc>
                <a:spcPct val="115000"/>
              </a:lnSpc>
            </a:pPr>
            <a:r>
              <a:rPr sz="1050" b="1" i="0">
                <a:solidFill>
                  <a:srgbClr val="0F172E"/>
                </a:solidFill>
                <a:latin typeface="Calibri"/>
              </a:rPr>
              <a:t>Design-partner cohort</a:t>
            </a:r>
          </a:p>
        </p:txBody>
      </p:sp>
      <p:sp>
        <p:nvSpPr>
          <p:cNvPr id="20" name="TextBox 19"/>
          <p:cNvSpPr txBox="1"/>
          <p:nvPr/>
        </p:nvSpPr>
        <p:spPr>
          <a:xfrm>
            <a:off x="2560320" y="2313432"/>
            <a:ext cx="1135341" cy="274320"/>
          </a:xfrm>
          <a:prstGeom prst="rect">
            <a:avLst/>
          </a:prstGeom>
          <a:noFill/>
        </p:spPr>
        <p:txBody>
          <a:bodyPr wrap="square" lIns="0" rIns="0" tIns="0" bIns="0" anchor="t">
            <a:spAutoFit/>
          </a:bodyPr>
          <a:lstStyle/>
          <a:p>
            <a:pPr algn="ctr">
              <a:lnSpc>
                <a:spcPct val="115000"/>
              </a:lnSpc>
            </a:pPr>
            <a:r>
              <a:rPr sz="1050" b="0" i="0">
                <a:solidFill>
                  <a:srgbClr val="4A5573"/>
                </a:solidFill>
                <a:latin typeface="Consolas"/>
              </a:rPr>
              <a:t>2</a:t>
            </a:r>
          </a:p>
        </p:txBody>
      </p:sp>
      <p:sp>
        <p:nvSpPr>
          <p:cNvPr id="21" name="TextBox 20"/>
          <p:cNvSpPr txBox="1"/>
          <p:nvPr/>
        </p:nvSpPr>
        <p:spPr>
          <a:xfrm>
            <a:off x="3695661" y="2313432"/>
            <a:ext cx="1135341" cy="274320"/>
          </a:xfrm>
          <a:prstGeom prst="rect">
            <a:avLst/>
          </a:prstGeom>
          <a:noFill/>
        </p:spPr>
        <p:txBody>
          <a:bodyPr wrap="square" lIns="0" rIns="0" tIns="0" bIns="0" anchor="t">
            <a:spAutoFit/>
          </a:bodyPr>
          <a:lstStyle/>
          <a:p>
            <a:pPr algn="ctr">
              <a:lnSpc>
                <a:spcPct val="115000"/>
              </a:lnSpc>
            </a:pPr>
            <a:r>
              <a:rPr sz="1050" b="0" i="0">
                <a:solidFill>
                  <a:srgbClr val="4A5573"/>
                </a:solidFill>
                <a:latin typeface="Consolas"/>
              </a:rPr>
              <a:t>5</a:t>
            </a:r>
          </a:p>
        </p:txBody>
      </p:sp>
      <p:sp>
        <p:nvSpPr>
          <p:cNvPr id="22" name="TextBox 21"/>
          <p:cNvSpPr txBox="1"/>
          <p:nvPr/>
        </p:nvSpPr>
        <p:spPr>
          <a:xfrm>
            <a:off x="4831003" y="2313432"/>
            <a:ext cx="1135341" cy="274320"/>
          </a:xfrm>
          <a:prstGeom prst="rect">
            <a:avLst/>
          </a:prstGeom>
          <a:noFill/>
        </p:spPr>
        <p:txBody>
          <a:bodyPr wrap="square" lIns="0" rIns="0" tIns="0" bIns="0" anchor="t">
            <a:spAutoFit/>
          </a:bodyPr>
          <a:lstStyle/>
          <a:p>
            <a:pPr algn="ctr">
              <a:lnSpc>
                <a:spcPct val="115000"/>
              </a:lnSpc>
            </a:pPr>
            <a:r>
              <a:rPr sz="1050" b="0" i="0">
                <a:solidFill>
                  <a:srgbClr val="4A5573"/>
                </a:solidFill>
                <a:latin typeface="Consolas"/>
              </a:rPr>
              <a:t>10</a:t>
            </a:r>
          </a:p>
        </p:txBody>
      </p:sp>
      <p:sp>
        <p:nvSpPr>
          <p:cNvPr id="23" name="TextBox 22"/>
          <p:cNvSpPr txBox="1"/>
          <p:nvPr/>
        </p:nvSpPr>
        <p:spPr>
          <a:xfrm>
            <a:off x="5966345" y="2313432"/>
            <a:ext cx="1135341" cy="274320"/>
          </a:xfrm>
          <a:prstGeom prst="rect">
            <a:avLst/>
          </a:prstGeom>
          <a:noFill/>
        </p:spPr>
        <p:txBody>
          <a:bodyPr wrap="square" lIns="0" rIns="0" tIns="0" bIns="0" anchor="t">
            <a:spAutoFit/>
          </a:bodyPr>
          <a:lstStyle/>
          <a:p>
            <a:pPr algn="ctr">
              <a:lnSpc>
                <a:spcPct val="115000"/>
              </a:lnSpc>
            </a:pPr>
            <a:r>
              <a:rPr sz="1050" b="0" i="0">
                <a:solidFill>
                  <a:srgbClr val="4A5573"/>
                </a:solidFill>
                <a:latin typeface="Consolas"/>
              </a:rPr>
              <a:t>10</a:t>
            </a:r>
          </a:p>
        </p:txBody>
      </p:sp>
      <p:sp>
        <p:nvSpPr>
          <p:cNvPr id="24" name="TextBox 23"/>
          <p:cNvSpPr txBox="1"/>
          <p:nvPr/>
        </p:nvSpPr>
        <p:spPr>
          <a:xfrm>
            <a:off x="7101687" y="2313432"/>
            <a:ext cx="1135341" cy="274320"/>
          </a:xfrm>
          <a:prstGeom prst="rect">
            <a:avLst/>
          </a:prstGeom>
          <a:noFill/>
        </p:spPr>
        <p:txBody>
          <a:bodyPr wrap="square" lIns="0" rIns="0" tIns="0" bIns="0" anchor="t">
            <a:spAutoFit/>
          </a:bodyPr>
          <a:lstStyle/>
          <a:p>
            <a:pPr algn="ctr">
              <a:lnSpc>
                <a:spcPct val="115000"/>
              </a:lnSpc>
            </a:pPr>
            <a:r>
              <a:rPr sz="1050" b="0" i="0">
                <a:solidFill>
                  <a:srgbClr val="4A5573"/>
                </a:solidFill>
                <a:latin typeface="Consolas"/>
              </a:rPr>
              <a:t>—</a:t>
            </a:r>
          </a:p>
        </p:txBody>
      </p:sp>
      <p:sp>
        <p:nvSpPr>
          <p:cNvPr id="25" name="TextBox 24"/>
          <p:cNvSpPr txBox="1"/>
          <p:nvPr/>
        </p:nvSpPr>
        <p:spPr>
          <a:xfrm>
            <a:off x="8237029" y="2313432"/>
            <a:ext cx="1135341" cy="274320"/>
          </a:xfrm>
          <a:prstGeom prst="rect">
            <a:avLst/>
          </a:prstGeom>
          <a:noFill/>
        </p:spPr>
        <p:txBody>
          <a:bodyPr wrap="square" lIns="0" rIns="0" tIns="0" bIns="0" anchor="t">
            <a:spAutoFit/>
          </a:bodyPr>
          <a:lstStyle/>
          <a:p>
            <a:pPr algn="ctr">
              <a:lnSpc>
                <a:spcPct val="115000"/>
              </a:lnSpc>
            </a:pPr>
            <a:r>
              <a:rPr sz="1050" b="0" i="0">
                <a:solidFill>
                  <a:srgbClr val="4A5573"/>
                </a:solidFill>
                <a:latin typeface="Consolas"/>
              </a:rPr>
              <a:t>—</a:t>
            </a:r>
          </a:p>
        </p:txBody>
      </p:sp>
      <p:sp>
        <p:nvSpPr>
          <p:cNvPr id="26" name="TextBox 25"/>
          <p:cNvSpPr txBox="1"/>
          <p:nvPr/>
        </p:nvSpPr>
        <p:spPr>
          <a:xfrm>
            <a:off x="9372371" y="2313432"/>
            <a:ext cx="1135341" cy="274320"/>
          </a:xfrm>
          <a:prstGeom prst="rect">
            <a:avLst/>
          </a:prstGeom>
          <a:noFill/>
        </p:spPr>
        <p:txBody>
          <a:bodyPr wrap="square" lIns="0" rIns="0" tIns="0" bIns="0" anchor="t">
            <a:spAutoFit/>
          </a:bodyPr>
          <a:lstStyle/>
          <a:p>
            <a:pPr algn="ctr">
              <a:lnSpc>
                <a:spcPct val="115000"/>
              </a:lnSpc>
            </a:pPr>
            <a:r>
              <a:rPr sz="1050" b="0" i="0">
                <a:solidFill>
                  <a:srgbClr val="4A5573"/>
                </a:solidFill>
                <a:latin typeface="Consolas"/>
              </a:rPr>
              <a:t>—</a:t>
            </a:r>
          </a:p>
        </p:txBody>
      </p:sp>
      <p:sp>
        <p:nvSpPr>
          <p:cNvPr id="27" name="TextBox 26"/>
          <p:cNvSpPr txBox="1"/>
          <p:nvPr/>
        </p:nvSpPr>
        <p:spPr>
          <a:xfrm>
            <a:off x="10507713" y="2313432"/>
            <a:ext cx="1135341" cy="274320"/>
          </a:xfrm>
          <a:prstGeom prst="rect">
            <a:avLst/>
          </a:prstGeom>
          <a:noFill/>
        </p:spPr>
        <p:txBody>
          <a:bodyPr wrap="square" lIns="0" rIns="0" tIns="0" bIns="0" anchor="t">
            <a:spAutoFit/>
          </a:bodyPr>
          <a:lstStyle/>
          <a:p>
            <a:pPr algn="ctr">
              <a:lnSpc>
                <a:spcPct val="115000"/>
              </a:lnSpc>
            </a:pPr>
            <a:r>
              <a:rPr sz="1050" b="0" i="0">
                <a:solidFill>
                  <a:srgbClr val="4A5573"/>
                </a:solidFill>
                <a:latin typeface="Consolas"/>
              </a:rPr>
              <a:t>—</a:t>
            </a:r>
          </a:p>
        </p:txBody>
      </p:sp>
      <p:sp>
        <p:nvSpPr>
          <p:cNvPr id="28" name="Rectangle 27"/>
          <p:cNvSpPr/>
          <p:nvPr/>
        </p:nvSpPr>
        <p:spPr>
          <a:xfrm>
            <a:off x="548640" y="2587752"/>
            <a:ext cx="11094415" cy="347472"/>
          </a:xfrm>
          <a:prstGeom prst="rect">
            <a:avLst/>
          </a:prstGeom>
          <a:solidFill>
            <a:srgbClr val="ECF1FA"/>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2660904"/>
            <a:ext cx="1783080" cy="274320"/>
          </a:xfrm>
          <a:prstGeom prst="rect">
            <a:avLst/>
          </a:prstGeom>
          <a:noFill/>
        </p:spPr>
        <p:txBody>
          <a:bodyPr wrap="square" lIns="0" rIns="0" tIns="0" bIns="0" anchor="t">
            <a:spAutoFit/>
          </a:bodyPr>
          <a:lstStyle/>
          <a:p>
            <a:pPr algn="l">
              <a:lnSpc>
                <a:spcPct val="115000"/>
              </a:lnSpc>
            </a:pPr>
            <a:r>
              <a:rPr sz="1050" b="1" i="0">
                <a:solidFill>
                  <a:srgbClr val="0F172E"/>
                </a:solidFill>
                <a:latin typeface="Calibri"/>
              </a:rPr>
              <a:t>Buyer paid accounts</a:t>
            </a:r>
          </a:p>
        </p:txBody>
      </p:sp>
      <p:sp>
        <p:nvSpPr>
          <p:cNvPr id="30" name="TextBox 29"/>
          <p:cNvSpPr txBox="1"/>
          <p:nvPr/>
        </p:nvSpPr>
        <p:spPr>
          <a:xfrm>
            <a:off x="2560320" y="2660904"/>
            <a:ext cx="1135341" cy="274320"/>
          </a:xfrm>
          <a:prstGeom prst="rect">
            <a:avLst/>
          </a:prstGeom>
          <a:noFill/>
        </p:spPr>
        <p:txBody>
          <a:bodyPr wrap="square" lIns="0" rIns="0" tIns="0" bIns="0" anchor="t">
            <a:spAutoFit/>
          </a:bodyPr>
          <a:lstStyle/>
          <a:p>
            <a:pPr algn="ctr">
              <a:lnSpc>
                <a:spcPct val="115000"/>
              </a:lnSpc>
            </a:pPr>
            <a:r>
              <a:rPr sz="1050" b="0" i="0">
                <a:solidFill>
                  <a:srgbClr val="4A5573"/>
                </a:solidFill>
                <a:latin typeface="Consolas"/>
              </a:rPr>
              <a:t>0</a:t>
            </a:r>
          </a:p>
        </p:txBody>
      </p:sp>
      <p:sp>
        <p:nvSpPr>
          <p:cNvPr id="31" name="TextBox 30"/>
          <p:cNvSpPr txBox="1"/>
          <p:nvPr/>
        </p:nvSpPr>
        <p:spPr>
          <a:xfrm>
            <a:off x="3695661" y="2660904"/>
            <a:ext cx="1135341" cy="274320"/>
          </a:xfrm>
          <a:prstGeom prst="rect">
            <a:avLst/>
          </a:prstGeom>
          <a:noFill/>
        </p:spPr>
        <p:txBody>
          <a:bodyPr wrap="square" lIns="0" rIns="0" tIns="0" bIns="0" anchor="t">
            <a:spAutoFit/>
          </a:bodyPr>
          <a:lstStyle/>
          <a:p>
            <a:pPr algn="ctr">
              <a:lnSpc>
                <a:spcPct val="115000"/>
              </a:lnSpc>
            </a:pPr>
            <a:r>
              <a:rPr sz="1050" b="0" i="0">
                <a:solidFill>
                  <a:srgbClr val="4A5573"/>
                </a:solidFill>
                <a:latin typeface="Consolas"/>
              </a:rPr>
              <a:t>10</a:t>
            </a:r>
          </a:p>
        </p:txBody>
      </p:sp>
      <p:sp>
        <p:nvSpPr>
          <p:cNvPr id="32" name="TextBox 31"/>
          <p:cNvSpPr txBox="1"/>
          <p:nvPr/>
        </p:nvSpPr>
        <p:spPr>
          <a:xfrm>
            <a:off x="4831003" y="2660904"/>
            <a:ext cx="1135341" cy="274320"/>
          </a:xfrm>
          <a:prstGeom prst="rect">
            <a:avLst/>
          </a:prstGeom>
          <a:noFill/>
        </p:spPr>
        <p:txBody>
          <a:bodyPr wrap="square" lIns="0" rIns="0" tIns="0" bIns="0" anchor="t">
            <a:spAutoFit/>
          </a:bodyPr>
          <a:lstStyle/>
          <a:p>
            <a:pPr algn="ctr">
              <a:lnSpc>
                <a:spcPct val="115000"/>
              </a:lnSpc>
            </a:pPr>
            <a:r>
              <a:rPr sz="1050" b="0" i="0">
                <a:solidFill>
                  <a:srgbClr val="4A5573"/>
                </a:solidFill>
                <a:latin typeface="Consolas"/>
              </a:rPr>
              <a:t>50</a:t>
            </a:r>
          </a:p>
        </p:txBody>
      </p:sp>
      <p:sp>
        <p:nvSpPr>
          <p:cNvPr id="33" name="TextBox 32"/>
          <p:cNvSpPr txBox="1"/>
          <p:nvPr/>
        </p:nvSpPr>
        <p:spPr>
          <a:xfrm>
            <a:off x="5966345" y="2660904"/>
            <a:ext cx="1135341" cy="274320"/>
          </a:xfrm>
          <a:prstGeom prst="rect">
            <a:avLst/>
          </a:prstGeom>
          <a:noFill/>
        </p:spPr>
        <p:txBody>
          <a:bodyPr wrap="square" lIns="0" rIns="0" tIns="0" bIns="0" anchor="t">
            <a:spAutoFit/>
          </a:bodyPr>
          <a:lstStyle/>
          <a:p>
            <a:pPr algn="ctr">
              <a:lnSpc>
                <a:spcPct val="115000"/>
              </a:lnSpc>
            </a:pPr>
            <a:r>
              <a:rPr sz="1050" b="0" i="0">
                <a:solidFill>
                  <a:srgbClr val="4A5573"/>
                </a:solidFill>
                <a:latin typeface="Consolas"/>
              </a:rPr>
              <a:t>150</a:t>
            </a:r>
          </a:p>
        </p:txBody>
      </p:sp>
      <p:sp>
        <p:nvSpPr>
          <p:cNvPr id="34" name="TextBox 33"/>
          <p:cNvSpPr txBox="1"/>
          <p:nvPr/>
        </p:nvSpPr>
        <p:spPr>
          <a:xfrm>
            <a:off x="7101687" y="2660904"/>
            <a:ext cx="1135341" cy="274320"/>
          </a:xfrm>
          <a:prstGeom prst="rect">
            <a:avLst/>
          </a:prstGeom>
          <a:noFill/>
        </p:spPr>
        <p:txBody>
          <a:bodyPr wrap="square" lIns="0" rIns="0" tIns="0" bIns="0" anchor="t">
            <a:spAutoFit/>
          </a:bodyPr>
          <a:lstStyle/>
          <a:p>
            <a:pPr algn="ctr">
              <a:lnSpc>
                <a:spcPct val="115000"/>
              </a:lnSpc>
            </a:pPr>
            <a:r>
              <a:rPr sz="1050" b="0" i="0">
                <a:solidFill>
                  <a:srgbClr val="4A5573"/>
                </a:solidFill>
                <a:latin typeface="Consolas"/>
              </a:rPr>
              <a:t>350</a:t>
            </a:r>
          </a:p>
        </p:txBody>
      </p:sp>
      <p:sp>
        <p:nvSpPr>
          <p:cNvPr id="35" name="TextBox 34"/>
          <p:cNvSpPr txBox="1"/>
          <p:nvPr/>
        </p:nvSpPr>
        <p:spPr>
          <a:xfrm>
            <a:off x="8237029" y="2660904"/>
            <a:ext cx="1135341" cy="274320"/>
          </a:xfrm>
          <a:prstGeom prst="rect">
            <a:avLst/>
          </a:prstGeom>
          <a:noFill/>
        </p:spPr>
        <p:txBody>
          <a:bodyPr wrap="square" lIns="0" rIns="0" tIns="0" bIns="0" anchor="t">
            <a:spAutoFit/>
          </a:bodyPr>
          <a:lstStyle/>
          <a:p>
            <a:pPr algn="ctr">
              <a:lnSpc>
                <a:spcPct val="115000"/>
              </a:lnSpc>
            </a:pPr>
            <a:r>
              <a:rPr sz="1050" b="0" i="0">
                <a:solidFill>
                  <a:srgbClr val="4A5573"/>
                </a:solidFill>
                <a:latin typeface="Consolas"/>
              </a:rPr>
              <a:t>700</a:t>
            </a:r>
          </a:p>
        </p:txBody>
      </p:sp>
      <p:sp>
        <p:nvSpPr>
          <p:cNvPr id="36" name="TextBox 35"/>
          <p:cNvSpPr txBox="1"/>
          <p:nvPr/>
        </p:nvSpPr>
        <p:spPr>
          <a:xfrm>
            <a:off x="9372371" y="2660904"/>
            <a:ext cx="1135341" cy="274320"/>
          </a:xfrm>
          <a:prstGeom prst="rect">
            <a:avLst/>
          </a:prstGeom>
          <a:noFill/>
        </p:spPr>
        <p:txBody>
          <a:bodyPr wrap="square" lIns="0" rIns="0" tIns="0" bIns="0" anchor="t">
            <a:spAutoFit/>
          </a:bodyPr>
          <a:lstStyle/>
          <a:p>
            <a:pPr algn="ctr">
              <a:lnSpc>
                <a:spcPct val="115000"/>
              </a:lnSpc>
            </a:pPr>
            <a:r>
              <a:rPr sz="1050" b="0" i="0">
                <a:solidFill>
                  <a:srgbClr val="4A5573"/>
                </a:solidFill>
                <a:latin typeface="Consolas"/>
              </a:rPr>
              <a:t>1,200</a:t>
            </a:r>
          </a:p>
        </p:txBody>
      </p:sp>
      <p:sp>
        <p:nvSpPr>
          <p:cNvPr id="37" name="TextBox 36"/>
          <p:cNvSpPr txBox="1"/>
          <p:nvPr/>
        </p:nvSpPr>
        <p:spPr>
          <a:xfrm>
            <a:off x="10507713" y="2660904"/>
            <a:ext cx="1135341" cy="274320"/>
          </a:xfrm>
          <a:prstGeom prst="rect">
            <a:avLst/>
          </a:prstGeom>
          <a:noFill/>
        </p:spPr>
        <p:txBody>
          <a:bodyPr wrap="square" lIns="0" rIns="0" tIns="0" bIns="0" anchor="t">
            <a:spAutoFit/>
          </a:bodyPr>
          <a:lstStyle/>
          <a:p>
            <a:pPr algn="ctr">
              <a:lnSpc>
                <a:spcPct val="115000"/>
              </a:lnSpc>
            </a:pPr>
            <a:r>
              <a:rPr sz="1050" b="0" i="0">
                <a:solidFill>
                  <a:srgbClr val="4A5573"/>
                </a:solidFill>
                <a:latin typeface="Consolas"/>
              </a:rPr>
              <a:t>1,800</a:t>
            </a:r>
          </a:p>
        </p:txBody>
      </p:sp>
      <p:sp>
        <p:nvSpPr>
          <p:cNvPr id="38" name="Rectangle 37"/>
          <p:cNvSpPr/>
          <p:nvPr/>
        </p:nvSpPr>
        <p:spPr>
          <a:xfrm>
            <a:off x="548640" y="2935224"/>
            <a:ext cx="11094415" cy="347472"/>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85800" y="3008376"/>
            <a:ext cx="1783080" cy="274320"/>
          </a:xfrm>
          <a:prstGeom prst="rect">
            <a:avLst/>
          </a:prstGeom>
          <a:noFill/>
        </p:spPr>
        <p:txBody>
          <a:bodyPr wrap="square" lIns="0" rIns="0" tIns="0" bIns="0" anchor="t">
            <a:spAutoFit/>
          </a:bodyPr>
          <a:lstStyle/>
          <a:p>
            <a:pPr algn="l">
              <a:lnSpc>
                <a:spcPct val="115000"/>
              </a:lnSpc>
            </a:pPr>
            <a:r>
              <a:rPr sz="1050" b="1" i="0">
                <a:solidFill>
                  <a:srgbClr val="0F172E"/>
                </a:solidFill>
                <a:latin typeface="Calibri"/>
              </a:rPr>
              <a:t>Seller paid accounts (M1 forced)</a:t>
            </a:r>
          </a:p>
        </p:txBody>
      </p:sp>
      <p:sp>
        <p:nvSpPr>
          <p:cNvPr id="40" name="TextBox 39"/>
          <p:cNvSpPr txBox="1"/>
          <p:nvPr/>
        </p:nvSpPr>
        <p:spPr>
          <a:xfrm>
            <a:off x="2560320" y="3008376"/>
            <a:ext cx="1135341" cy="274320"/>
          </a:xfrm>
          <a:prstGeom prst="rect">
            <a:avLst/>
          </a:prstGeom>
          <a:noFill/>
        </p:spPr>
        <p:txBody>
          <a:bodyPr wrap="square" lIns="0" rIns="0" tIns="0" bIns="0" anchor="t">
            <a:spAutoFit/>
          </a:bodyPr>
          <a:lstStyle/>
          <a:p>
            <a:pPr algn="ctr">
              <a:lnSpc>
                <a:spcPct val="115000"/>
              </a:lnSpc>
            </a:pPr>
            <a:r>
              <a:rPr sz="1050" b="0" i="0">
                <a:solidFill>
                  <a:srgbClr val="4A5573"/>
                </a:solidFill>
                <a:latin typeface="Consolas"/>
              </a:rPr>
              <a:t>5</a:t>
            </a:r>
          </a:p>
        </p:txBody>
      </p:sp>
      <p:sp>
        <p:nvSpPr>
          <p:cNvPr id="41" name="TextBox 40"/>
          <p:cNvSpPr txBox="1"/>
          <p:nvPr/>
        </p:nvSpPr>
        <p:spPr>
          <a:xfrm>
            <a:off x="3695661" y="3008376"/>
            <a:ext cx="1135341" cy="274320"/>
          </a:xfrm>
          <a:prstGeom prst="rect">
            <a:avLst/>
          </a:prstGeom>
          <a:noFill/>
        </p:spPr>
        <p:txBody>
          <a:bodyPr wrap="square" lIns="0" rIns="0" tIns="0" bIns="0" anchor="t">
            <a:spAutoFit/>
          </a:bodyPr>
          <a:lstStyle/>
          <a:p>
            <a:pPr algn="ctr">
              <a:lnSpc>
                <a:spcPct val="115000"/>
              </a:lnSpc>
            </a:pPr>
            <a:r>
              <a:rPr sz="1050" b="0" i="0">
                <a:solidFill>
                  <a:srgbClr val="4A5573"/>
                </a:solidFill>
                <a:latin typeface="Consolas"/>
              </a:rPr>
              <a:t>40</a:t>
            </a:r>
          </a:p>
        </p:txBody>
      </p:sp>
      <p:sp>
        <p:nvSpPr>
          <p:cNvPr id="42" name="TextBox 41"/>
          <p:cNvSpPr txBox="1"/>
          <p:nvPr/>
        </p:nvSpPr>
        <p:spPr>
          <a:xfrm>
            <a:off x="4831003" y="3008376"/>
            <a:ext cx="1135341" cy="274320"/>
          </a:xfrm>
          <a:prstGeom prst="rect">
            <a:avLst/>
          </a:prstGeom>
          <a:noFill/>
        </p:spPr>
        <p:txBody>
          <a:bodyPr wrap="square" lIns="0" rIns="0" tIns="0" bIns="0" anchor="t">
            <a:spAutoFit/>
          </a:bodyPr>
          <a:lstStyle/>
          <a:p>
            <a:pPr algn="ctr">
              <a:lnSpc>
                <a:spcPct val="115000"/>
              </a:lnSpc>
            </a:pPr>
            <a:r>
              <a:rPr sz="1050" b="0" i="0">
                <a:solidFill>
                  <a:srgbClr val="4A5573"/>
                </a:solidFill>
                <a:latin typeface="Consolas"/>
              </a:rPr>
              <a:t>200</a:t>
            </a:r>
          </a:p>
        </p:txBody>
      </p:sp>
      <p:sp>
        <p:nvSpPr>
          <p:cNvPr id="43" name="TextBox 42"/>
          <p:cNvSpPr txBox="1"/>
          <p:nvPr/>
        </p:nvSpPr>
        <p:spPr>
          <a:xfrm>
            <a:off x="5966345" y="3008376"/>
            <a:ext cx="1135341" cy="274320"/>
          </a:xfrm>
          <a:prstGeom prst="rect">
            <a:avLst/>
          </a:prstGeom>
          <a:noFill/>
        </p:spPr>
        <p:txBody>
          <a:bodyPr wrap="square" lIns="0" rIns="0" tIns="0" bIns="0" anchor="t">
            <a:spAutoFit/>
          </a:bodyPr>
          <a:lstStyle/>
          <a:p>
            <a:pPr algn="ctr">
              <a:lnSpc>
                <a:spcPct val="115000"/>
              </a:lnSpc>
            </a:pPr>
            <a:r>
              <a:rPr sz="1050" b="0" i="0">
                <a:solidFill>
                  <a:srgbClr val="4A5573"/>
                </a:solidFill>
                <a:latin typeface="Consolas"/>
              </a:rPr>
              <a:t>700</a:t>
            </a:r>
          </a:p>
        </p:txBody>
      </p:sp>
      <p:sp>
        <p:nvSpPr>
          <p:cNvPr id="44" name="TextBox 43"/>
          <p:cNvSpPr txBox="1"/>
          <p:nvPr/>
        </p:nvSpPr>
        <p:spPr>
          <a:xfrm>
            <a:off x="7101687" y="3008376"/>
            <a:ext cx="1135341" cy="274320"/>
          </a:xfrm>
          <a:prstGeom prst="rect">
            <a:avLst/>
          </a:prstGeom>
          <a:noFill/>
        </p:spPr>
        <p:txBody>
          <a:bodyPr wrap="square" lIns="0" rIns="0" tIns="0" bIns="0" anchor="t">
            <a:spAutoFit/>
          </a:bodyPr>
          <a:lstStyle/>
          <a:p>
            <a:pPr algn="ctr">
              <a:lnSpc>
                <a:spcPct val="115000"/>
              </a:lnSpc>
            </a:pPr>
            <a:r>
              <a:rPr sz="1050" b="0" i="0">
                <a:solidFill>
                  <a:srgbClr val="4A5573"/>
                </a:solidFill>
                <a:latin typeface="Consolas"/>
              </a:rPr>
              <a:t>1,800</a:t>
            </a:r>
          </a:p>
        </p:txBody>
      </p:sp>
      <p:sp>
        <p:nvSpPr>
          <p:cNvPr id="45" name="TextBox 44"/>
          <p:cNvSpPr txBox="1"/>
          <p:nvPr/>
        </p:nvSpPr>
        <p:spPr>
          <a:xfrm>
            <a:off x="8237029" y="3008376"/>
            <a:ext cx="1135341" cy="274320"/>
          </a:xfrm>
          <a:prstGeom prst="rect">
            <a:avLst/>
          </a:prstGeom>
          <a:noFill/>
        </p:spPr>
        <p:txBody>
          <a:bodyPr wrap="square" lIns="0" rIns="0" tIns="0" bIns="0" anchor="t">
            <a:spAutoFit/>
          </a:bodyPr>
          <a:lstStyle/>
          <a:p>
            <a:pPr algn="ctr">
              <a:lnSpc>
                <a:spcPct val="115000"/>
              </a:lnSpc>
            </a:pPr>
            <a:r>
              <a:rPr sz="1050" b="0" i="0">
                <a:solidFill>
                  <a:srgbClr val="4A5573"/>
                </a:solidFill>
                <a:latin typeface="Consolas"/>
              </a:rPr>
              <a:t>3,400</a:t>
            </a:r>
          </a:p>
        </p:txBody>
      </p:sp>
      <p:sp>
        <p:nvSpPr>
          <p:cNvPr id="46" name="TextBox 45"/>
          <p:cNvSpPr txBox="1"/>
          <p:nvPr/>
        </p:nvSpPr>
        <p:spPr>
          <a:xfrm>
            <a:off x="9372371" y="3008376"/>
            <a:ext cx="1135341" cy="274320"/>
          </a:xfrm>
          <a:prstGeom prst="rect">
            <a:avLst/>
          </a:prstGeom>
          <a:noFill/>
        </p:spPr>
        <p:txBody>
          <a:bodyPr wrap="square" lIns="0" rIns="0" tIns="0" bIns="0" anchor="t">
            <a:spAutoFit/>
          </a:bodyPr>
          <a:lstStyle/>
          <a:p>
            <a:pPr algn="ctr">
              <a:lnSpc>
                <a:spcPct val="115000"/>
              </a:lnSpc>
            </a:pPr>
            <a:r>
              <a:rPr sz="1050" b="0" i="0">
                <a:solidFill>
                  <a:srgbClr val="4A5573"/>
                </a:solidFill>
                <a:latin typeface="Consolas"/>
              </a:rPr>
              <a:t>5,500</a:t>
            </a:r>
          </a:p>
        </p:txBody>
      </p:sp>
      <p:sp>
        <p:nvSpPr>
          <p:cNvPr id="47" name="TextBox 46"/>
          <p:cNvSpPr txBox="1"/>
          <p:nvPr/>
        </p:nvSpPr>
        <p:spPr>
          <a:xfrm>
            <a:off x="10507713" y="3008376"/>
            <a:ext cx="1135341" cy="274320"/>
          </a:xfrm>
          <a:prstGeom prst="rect">
            <a:avLst/>
          </a:prstGeom>
          <a:noFill/>
        </p:spPr>
        <p:txBody>
          <a:bodyPr wrap="square" lIns="0" rIns="0" tIns="0" bIns="0" anchor="t">
            <a:spAutoFit/>
          </a:bodyPr>
          <a:lstStyle/>
          <a:p>
            <a:pPr algn="ctr">
              <a:lnSpc>
                <a:spcPct val="115000"/>
              </a:lnSpc>
            </a:pPr>
            <a:r>
              <a:rPr sz="1050" b="0" i="0">
                <a:solidFill>
                  <a:srgbClr val="4A5573"/>
                </a:solidFill>
                <a:latin typeface="Consolas"/>
              </a:rPr>
              <a:t>7,500</a:t>
            </a:r>
          </a:p>
        </p:txBody>
      </p:sp>
      <p:sp>
        <p:nvSpPr>
          <p:cNvPr id="48" name="Rectangle 47"/>
          <p:cNvSpPr/>
          <p:nvPr/>
        </p:nvSpPr>
        <p:spPr>
          <a:xfrm>
            <a:off x="548640" y="3282696"/>
            <a:ext cx="11094415" cy="347472"/>
          </a:xfrm>
          <a:prstGeom prst="rect">
            <a:avLst/>
          </a:prstGeom>
          <a:solidFill>
            <a:srgbClr val="ECF1FA"/>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85800" y="3355848"/>
            <a:ext cx="1783080" cy="274320"/>
          </a:xfrm>
          <a:prstGeom prst="rect">
            <a:avLst/>
          </a:prstGeom>
          <a:noFill/>
        </p:spPr>
        <p:txBody>
          <a:bodyPr wrap="square" lIns="0" rIns="0" tIns="0" bIns="0" anchor="t">
            <a:spAutoFit/>
          </a:bodyPr>
          <a:lstStyle/>
          <a:p>
            <a:pPr algn="l">
              <a:lnSpc>
                <a:spcPct val="115000"/>
              </a:lnSpc>
            </a:pPr>
            <a:r>
              <a:rPr sz="1050" b="1" i="0">
                <a:solidFill>
                  <a:srgbClr val="0F172E"/>
                </a:solidFill>
                <a:latin typeface="Calibri"/>
              </a:rPr>
              <a:t>MRR ($)</a:t>
            </a:r>
          </a:p>
        </p:txBody>
      </p:sp>
      <p:sp>
        <p:nvSpPr>
          <p:cNvPr id="50" name="TextBox 49"/>
          <p:cNvSpPr txBox="1"/>
          <p:nvPr/>
        </p:nvSpPr>
        <p:spPr>
          <a:xfrm>
            <a:off x="2560320" y="3355848"/>
            <a:ext cx="1135341" cy="274320"/>
          </a:xfrm>
          <a:prstGeom prst="rect">
            <a:avLst/>
          </a:prstGeom>
          <a:noFill/>
        </p:spPr>
        <p:txBody>
          <a:bodyPr wrap="square" lIns="0" rIns="0" tIns="0" bIns="0" anchor="t">
            <a:spAutoFit/>
          </a:bodyPr>
          <a:lstStyle/>
          <a:p>
            <a:pPr algn="ctr">
              <a:lnSpc>
                <a:spcPct val="115000"/>
              </a:lnSpc>
            </a:pPr>
            <a:r>
              <a:rPr sz="1050" b="1" i="0">
                <a:solidFill>
                  <a:srgbClr val="0F172E"/>
                </a:solidFill>
                <a:latin typeface="Consolas"/>
              </a:rPr>
              <a:t>0</a:t>
            </a:r>
          </a:p>
        </p:txBody>
      </p:sp>
      <p:sp>
        <p:nvSpPr>
          <p:cNvPr id="51" name="TextBox 50"/>
          <p:cNvSpPr txBox="1"/>
          <p:nvPr/>
        </p:nvSpPr>
        <p:spPr>
          <a:xfrm>
            <a:off x="3695661" y="3355848"/>
            <a:ext cx="1135341" cy="274320"/>
          </a:xfrm>
          <a:prstGeom prst="rect">
            <a:avLst/>
          </a:prstGeom>
          <a:noFill/>
        </p:spPr>
        <p:txBody>
          <a:bodyPr wrap="square" lIns="0" rIns="0" tIns="0" bIns="0" anchor="t">
            <a:spAutoFit/>
          </a:bodyPr>
          <a:lstStyle/>
          <a:p>
            <a:pPr algn="ctr">
              <a:lnSpc>
                <a:spcPct val="115000"/>
              </a:lnSpc>
            </a:pPr>
            <a:r>
              <a:rPr sz="1050" b="1" i="0">
                <a:solidFill>
                  <a:srgbClr val="0F172E"/>
                </a:solidFill>
                <a:latin typeface="Consolas"/>
              </a:rPr>
              <a:t>3K</a:t>
            </a:r>
          </a:p>
        </p:txBody>
      </p:sp>
      <p:sp>
        <p:nvSpPr>
          <p:cNvPr id="52" name="TextBox 51"/>
          <p:cNvSpPr txBox="1"/>
          <p:nvPr/>
        </p:nvSpPr>
        <p:spPr>
          <a:xfrm>
            <a:off x="4831003" y="3355848"/>
            <a:ext cx="1135341" cy="274320"/>
          </a:xfrm>
          <a:prstGeom prst="rect">
            <a:avLst/>
          </a:prstGeom>
          <a:noFill/>
        </p:spPr>
        <p:txBody>
          <a:bodyPr wrap="square" lIns="0" rIns="0" tIns="0" bIns="0" anchor="t">
            <a:spAutoFit/>
          </a:bodyPr>
          <a:lstStyle/>
          <a:p>
            <a:pPr algn="ctr">
              <a:lnSpc>
                <a:spcPct val="115000"/>
              </a:lnSpc>
            </a:pPr>
            <a:r>
              <a:rPr sz="1050" b="1" i="0">
                <a:solidFill>
                  <a:srgbClr val="0F172E"/>
                </a:solidFill>
                <a:latin typeface="Consolas"/>
              </a:rPr>
              <a:t>18K</a:t>
            </a:r>
          </a:p>
        </p:txBody>
      </p:sp>
      <p:sp>
        <p:nvSpPr>
          <p:cNvPr id="53" name="TextBox 52"/>
          <p:cNvSpPr txBox="1"/>
          <p:nvPr/>
        </p:nvSpPr>
        <p:spPr>
          <a:xfrm>
            <a:off x="5966345" y="3355848"/>
            <a:ext cx="1135341" cy="274320"/>
          </a:xfrm>
          <a:prstGeom prst="rect">
            <a:avLst/>
          </a:prstGeom>
          <a:noFill/>
        </p:spPr>
        <p:txBody>
          <a:bodyPr wrap="square" lIns="0" rIns="0" tIns="0" bIns="0" anchor="t">
            <a:spAutoFit/>
          </a:bodyPr>
          <a:lstStyle/>
          <a:p>
            <a:pPr algn="ctr">
              <a:lnSpc>
                <a:spcPct val="115000"/>
              </a:lnSpc>
            </a:pPr>
            <a:r>
              <a:rPr sz="1050" b="1" i="0">
                <a:solidFill>
                  <a:srgbClr val="0F172E"/>
                </a:solidFill>
                <a:latin typeface="Consolas"/>
              </a:rPr>
              <a:t>65K</a:t>
            </a:r>
          </a:p>
        </p:txBody>
      </p:sp>
      <p:sp>
        <p:nvSpPr>
          <p:cNvPr id="54" name="TextBox 53"/>
          <p:cNvSpPr txBox="1"/>
          <p:nvPr/>
        </p:nvSpPr>
        <p:spPr>
          <a:xfrm>
            <a:off x="7101687" y="3355848"/>
            <a:ext cx="1135341" cy="274320"/>
          </a:xfrm>
          <a:prstGeom prst="rect">
            <a:avLst/>
          </a:prstGeom>
          <a:noFill/>
        </p:spPr>
        <p:txBody>
          <a:bodyPr wrap="square" lIns="0" rIns="0" tIns="0" bIns="0" anchor="t">
            <a:spAutoFit/>
          </a:bodyPr>
          <a:lstStyle/>
          <a:p>
            <a:pPr algn="ctr">
              <a:lnSpc>
                <a:spcPct val="115000"/>
              </a:lnSpc>
            </a:pPr>
            <a:r>
              <a:rPr sz="1050" b="1" i="0">
                <a:solidFill>
                  <a:srgbClr val="0F172E"/>
                </a:solidFill>
                <a:latin typeface="Consolas"/>
              </a:rPr>
              <a:t>175K</a:t>
            </a:r>
          </a:p>
        </p:txBody>
      </p:sp>
      <p:sp>
        <p:nvSpPr>
          <p:cNvPr id="55" name="TextBox 54"/>
          <p:cNvSpPr txBox="1"/>
          <p:nvPr/>
        </p:nvSpPr>
        <p:spPr>
          <a:xfrm>
            <a:off x="8237029" y="3355848"/>
            <a:ext cx="1135341" cy="274320"/>
          </a:xfrm>
          <a:prstGeom prst="rect">
            <a:avLst/>
          </a:prstGeom>
          <a:noFill/>
        </p:spPr>
        <p:txBody>
          <a:bodyPr wrap="square" lIns="0" rIns="0" tIns="0" bIns="0" anchor="t">
            <a:spAutoFit/>
          </a:bodyPr>
          <a:lstStyle/>
          <a:p>
            <a:pPr algn="ctr">
              <a:lnSpc>
                <a:spcPct val="115000"/>
              </a:lnSpc>
            </a:pPr>
            <a:r>
              <a:rPr sz="1050" b="1" i="0">
                <a:solidFill>
                  <a:srgbClr val="0F172E"/>
                </a:solidFill>
                <a:latin typeface="Consolas"/>
              </a:rPr>
              <a:t>350K</a:t>
            </a:r>
          </a:p>
        </p:txBody>
      </p:sp>
      <p:sp>
        <p:nvSpPr>
          <p:cNvPr id="56" name="TextBox 55"/>
          <p:cNvSpPr txBox="1"/>
          <p:nvPr/>
        </p:nvSpPr>
        <p:spPr>
          <a:xfrm>
            <a:off x="9372371" y="3355848"/>
            <a:ext cx="1135341" cy="274320"/>
          </a:xfrm>
          <a:prstGeom prst="rect">
            <a:avLst/>
          </a:prstGeom>
          <a:noFill/>
        </p:spPr>
        <p:txBody>
          <a:bodyPr wrap="square" lIns="0" rIns="0" tIns="0" bIns="0" anchor="t">
            <a:spAutoFit/>
          </a:bodyPr>
          <a:lstStyle/>
          <a:p>
            <a:pPr algn="ctr">
              <a:lnSpc>
                <a:spcPct val="115000"/>
              </a:lnSpc>
            </a:pPr>
            <a:r>
              <a:rPr sz="1050" b="1" i="0">
                <a:solidFill>
                  <a:srgbClr val="0F172E"/>
                </a:solidFill>
                <a:latin typeface="Consolas"/>
              </a:rPr>
              <a:t>600K</a:t>
            </a:r>
          </a:p>
        </p:txBody>
      </p:sp>
      <p:sp>
        <p:nvSpPr>
          <p:cNvPr id="57" name="TextBox 56"/>
          <p:cNvSpPr txBox="1"/>
          <p:nvPr/>
        </p:nvSpPr>
        <p:spPr>
          <a:xfrm>
            <a:off x="10507713" y="3355848"/>
            <a:ext cx="1135341" cy="274320"/>
          </a:xfrm>
          <a:prstGeom prst="rect">
            <a:avLst/>
          </a:prstGeom>
          <a:noFill/>
        </p:spPr>
        <p:txBody>
          <a:bodyPr wrap="square" lIns="0" rIns="0" tIns="0" bIns="0" anchor="t">
            <a:spAutoFit/>
          </a:bodyPr>
          <a:lstStyle/>
          <a:p>
            <a:pPr algn="ctr">
              <a:lnSpc>
                <a:spcPct val="115000"/>
              </a:lnSpc>
            </a:pPr>
            <a:r>
              <a:rPr sz="1050" b="1" i="0">
                <a:solidFill>
                  <a:srgbClr val="0F172E"/>
                </a:solidFill>
                <a:latin typeface="Consolas"/>
              </a:rPr>
              <a:t>950K</a:t>
            </a:r>
          </a:p>
        </p:txBody>
      </p:sp>
      <p:sp>
        <p:nvSpPr>
          <p:cNvPr id="58" name="Rectangle 57"/>
          <p:cNvSpPr/>
          <p:nvPr/>
        </p:nvSpPr>
        <p:spPr>
          <a:xfrm>
            <a:off x="548640" y="3630168"/>
            <a:ext cx="11094415" cy="347472"/>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85800" y="3703320"/>
            <a:ext cx="1783080" cy="274320"/>
          </a:xfrm>
          <a:prstGeom prst="rect">
            <a:avLst/>
          </a:prstGeom>
          <a:noFill/>
        </p:spPr>
        <p:txBody>
          <a:bodyPr wrap="square" lIns="0" rIns="0" tIns="0" bIns="0" anchor="t">
            <a:spAutoFit/>
          </a:bodyPr>
          <a:lstStyle/>
          <a:p>
            <a:pPr algn="l">
              <a:lnSpc>
                <a:spcPct val="115000"/>
              </a:lnSpc>
            </a:pPr>
            <a:r>
              <a:rPr sz="1050" b="1" i="0">
                <a:solidFill>
                  <a:srgbClr val="0F172E"/>
                </a:solidFill>
                <a:latin typeface="Calibri"/>
              </a:rPr>
              <a:t>ARR ($)</a:t>
            </a:r>
          </a:p>
        </p:txBody>
      </p:sp>
      <p:sp>
        <p:nvSpPr>
          <p:cNvPr id="60" name="TextBox 59"/>
          <p:cNvSpPr txBox="1"/>
          <p:nvPr/>
        </p:nvSpPr>
        <p:spPr>
          <a:xfrm>
            <a:off x="2560320" y="3703320"/>
            <a:ext cx="1135341" cy="274320"/>
          </a:xfrm>
          <a:prstGeom prst="rect">
            <a:avLst/>
          </a:prstGeom>
          <a:noFill/>
        </p:spPr>
        <p:txBody>
          <a:bodyPr wrap="square" lIns="0" rIns="0" tIns="0" bIns="0" anchor="t">
            <a:spAutoFit/>
          </a:bodyPr>
          <a:lstStyle/>
          <a:p>
            <a:pPr algn="ctr">
              <a:lnSpc>
                <a:spcPct val="115000"/>
              </a:lnSpc>
            </a:pPr>
            <a:r>
              <a:rPr sz="1050" b="1" i="0">
                <a:solidFill>
                  <a:srgbClr val="F4B400"/>
                </a:solidFill>
                <a:latin typeface="Consolas"/>
              </a:rPr>
              <a:t>0</a:t>
            </a:r>
          </a:p>
        </p:txBody>
      </p:sp>
      <p:sp>
        <p:nvSpPr>
          <p:cNvPr id="61" name="TextBox 60"/>
          <p:cNvSpPr txBox="1"/>
          <p:nvPr/>
        </p:nvSpPr>
        <p:spPr>
          <a:xfrm>
            <a:off x="3695661" y="3703320"/>
            <a:ext cx="1135341" cy="274320"/>
          </a:xfrm>
          <a:prstGeom prst="rect">
            <a:avLst/>
          </a:prstGeom>
          <a:noFill/>
        </p:spPr>
        <p:txBody>
          <a:bodyPr wrap="square" lIns="0" rIns="0" tIns="0" bIns="0" anchor="t">
            <a:spAutoFit/>
          </a:bodyPr>
          <a:lstStyle/>
          <a:p>
            <a:pPr algn="ctr">
              <a:lnSpc>
                <a:spcPct val="115000"/>
              </a:lnSpc>
            </a:pPr>
            <a:r>
              <a:rPr sz="1050" b="1" i="0">
                <a:solidFill>
                  <a:srgbClr val="F4B400"/>
                </a:solidFill>
                <a:latin typeface="Consolas"/>
              </a:rPr>
              <a:t>36K</a:t>
            </a:r>
          </a:p>
        </p:txBody>
      </p:sp>
      <p:sp>
        <p:nvSpPr>
          <p:cNvPr id="62" name="TextBox 61"/>
          <p:cNvSpPr txBox="1"/>
          <p:nvPr/>
        </p:nvSpPr>
        <p:spPr>
          <a:xfrm>
            <a:off x="4831003" y="3703320"/>
            <a:ext cx="1135341" cy="274320"/>
          </a:xfrm>
          <a:prstGeom prst="rect">
            <a:avLst/>
          </a:prstGeom>
          <a:noFill/>
        </p:spPr>
        <p:txBody>
          <a:bodyPr wrap="square" lIns="0" rIns="0" tIns="0" bIns="0" anchor="t">
            <a:spAutoFit/>
          </a:bodyPr>
          <a:lstStyle/>
          <a:p>
            <a:pPr algn="ctr">
              <a:lnSpc>
                <a:spcPct val="115000"/>
              </a:lnSpc>
            </a:pPr>
            <a:r>
              <a:rPr sz="1050" b="1" i="0">
                <a:solidFill>
                  <a:srgbClr val="F4B400"/>
                </a:solidFill>
                <a:latin typeface="Consolas"/>
              </a:rPr>
              <a:t>220K</a:t>
            </a:r>
          </a:p>
        </p:txBody>
      </p:sp>
      <p:sp>
        <p:nvSpPr>
          <p:cNvPr id="63" name="TextBox 62"/>
          <p:cNvSpPr txBox="1"/>
          <p:nvPr/>
        </p:nvSpPr>
        <p:spPr>
          <a:xfrm>
            <a:off x="5966345" y="3703320"/>
            <a:ext cx="1135341" cy="274320"/>
          </a:xfrm>
          <a:prstGeom prst="rect">
            <a:avLst/>
          </a:prstGeom>
          <a:noFill/>
        </p:spPr>
        <p:txBody>
          <a:bodyPr wrap="square" lIns="0" rIns="0" tIns="0" bIns="0" anchor="t">
            <a:spAutoFit/>
          </a:bodyPr>
          <a:lstStyle/>
          <a:p>
            <a:pPr algn="ctr">
              <a:lnSpc>
                <a:spcPct val="115000"/>
              </a:lnSpc>
            </a:pPr>
            <a:r>
              <a:rPr sz="1050" b="1" i="0">
                <a:solidFill>
                  <a:srgbClr val="F4B400"/>
                </a:solidFill>
                <a:latin typeface="Consolas"/>
              </a:rPr>
              <a:t>780K</a:t>
            </a:r>
          </a:p>
        </p:txBody>
      </p:sp>
      <p:sp>
        <p:nvSpPr>
          <p:cNvPr id="64" name="TextBox 63"/>
          <p:cNvSpPr txBox="1"/>
          <p:nvPr/>
        </p:nvSpPr>
        <p:spPr>
          <a:xfrm>
            <a:off x="7101687" y="3703320"/>
            <a:ext cx="1135341" cy="274320"/>
          </a:xfrm>
          <a:prstGeom prst="rect">
            <a:avLst/>
          </a:prstGeom>
          <a:noFill/>
        </p:spPr>
        <p:txBody>
          <a:bodyPr wrap="square" lIns="0" rIns="0" tIns="0" bIns="0" anchor="t">
            <a:spAutoFit/>
          </a:bodyPr>
          <a:lstStyle/>
          <a:p>
            <a:pPr algn="ctr">
              <a:lnSpc>
                <a:spcPct val="115000"/>
              </a:lnSpc>
            </a:pPr>
            <a:r>
              <a:rPr sz="1050" b="1" i="0">
                <a:solidFill>
                  <a:srgbClr val="F4B400"/>
                </a:solidFill>
                <a:latin typeface="Consolas"/>
              </a:rPr>
              <a:t>2.1M</a:t>
            </a:r>
          </a:p>
        </p:txBody>
      </p:sp>
      <p:sp>
        <p:nvSpPr>
          <p:cNvPr id="65" name="TextBox 64"/>
          <p:cNvSpPr txBox="1"/>
          <p:nvPr/>
        </p:nvSpPr>
        <p:spPr>
          <a:xfrm>
            <a:off x="8237029" y="3703320"/>
            <a:ext cx="1135341" cy="274320"/>
          </a:xfrm>
          <a:prstGeom prst="rect">
            <a:avLst/>
          </a:prstGeom>
          <a:noFill/>
        </p:spPr>
        <p:txBody>
          <a:bodyPr wrap="square" lIns="0" rIns="0" tIns="0" bIns="0" anchor="t">
            <a:spAutoFit/>
          </a:bodyPr>
          <a:lstStyle/>
          <a:p>
            <a:pPr algn="ctr">
              <a:lnSpc>
                <a:spcPct val="115000"/>
              </a:lnSpc>
            </a:pPr>
            <a:r>
              <a:rPr sz="1050" b="1" i="0">
                <a:solidFill>
                  <a:srgbClr val="F4B400"/>
                </a:solidFill>
                <a:latin typeface="Consolas"/>
              </a:rPr>
              <a:t>4.2M</a:t>
            </a:r>
          </a:p>
        </p:txBody>
      </p:sp>
      <p:sp>
        <p:nvSpPr>
          <p:cNvPr id="66" name="TextBox 65"/>
          <p:cNvSpPr txBox="1"/>
          <p:nvPr/>
        </p:nvSpPr>
        <p:spPr>
          <a:xfrm>
            <a:off x="9372371" y="3703320"/>
            <a:ext cx="1135341" cy="274320"/>
          </a:xfrm>
          <a:prstGeom prst="rect">
            <a:avLst/>
          </a:prstGeom>
          <a:noFill/>
        </p:spPr>
        <p:txBody>
          <a:bodyPr wrap="square" lIns="0" rIns="0" tIns="0" bIns="0" anchor="t">
            <a:spAutoFit/>
          </a:bodyPr>
          <a:lstStyle/>
          <a:p>
            <a:pPr algn="ctr">
              <a:lnSpc>
                <a:spcPct val="115000"/>
              </a:lnSpc>
            </a:pPr>
            <a:r>
              <a:rPr sz="1050" b="1" i="0">
                <a:solidFill>
                  <a:srgbClr val="F4B400"/>
                </a:solidFill>
                <a:latin typeface="Consolas"/>
              </a:rPr>
              <a:t>7.2M</a:t>
            </a:r>
          </a:p>
        </p:txBody>
      </p:sp>
      <p:sp>
        <p:nvSpPr>
          <p:cNvPr id="67" name="TextBox 66"/>
          <p:cNvSpPr txBox="1"/>
          <p:nvPr/>
        </p:nvSpPr>
        <p:spPr>
          <a:xfrm>
            <a:off x="10507713" y="3703320"/>
            <a:ext cx="1135341" cy="274320"/>
          </a:xfrm>
          <a:prstGeom prst="rect">
            <a:avLst/>
          </a:prstGeom>
          <a:noFill/>
        </p:spPr>
        <p:txBody>
          <a:bodyPr wrap="square" lIns="0" rIns="0" tIns="0" bIns="0" anchor="t">
            <a:spAutoFit/>
          </a:bodyPr>
          <a:lstStyle/>
          <a:p>
            <a:pPr algn="ctr">
              <a:lnSpc>
                <a:spcPct val="115000"/>
              </a:lnSpc>
            </a:pPr>
            <a:r>
              <a:rPr sz="1050" b="1" i="0">
                <a:solidFill>
                  <a:srgbClr val="F4B400"/>
                </a:solidFill>
                <a:latin typeface="Consolas"/>
              </a:rPr>
              <a:t>11.4M</a:t>
            </a:r>
          </a:p>
        </p:txBody>
      </p:sp>
      <p:sp>
        <p:nvSpPr>
          <p:cNvPr id="68" name="Rectangle 67"/>
          <p:cNvSpPr/>
          <p:nvPr/>
        </p:nvSpPr>
        <p:spPr>
          <a:xfrm>
            <a:off x="548640" y="3977640"/>
            <a:ext cx="11094415" cy="347472"/>
          </a:xfrm>
          <a:prstGeom prst="rect">
            <a:avLst/>
          </a:prstGeom>
          <a:solidFill>
            <a:srgbClr val="ECF1FA"/>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85800" y="4050792"/>
            <a:ext cx="1783080" cy="274320"/>
          </a:xfrm>
          <a:prstGeom prst="rect">
            <a:avLst/>
          </a:prstGeom>
          <a:noFill/>
        </p:spPr>
        <p:txBody>
          <a:bodyPr wrap="square" lIns="0" rIns="0" tIns="0" bIns="0" anchor="t">
            <a:spAutoFit/>
          </a:bodyPr>
          <a:lstStyle/>
          <a:p>
            <a:pPr algn="l">
              <a:lnSpc>
                <a:spcPct val="115000"/>
              </a:lnSpc>
            </a:pPr>
            <a:r>
              <a:rPr sz="1050" b="1" i="0">
                <a:solidFill>
                  <a:srgbClr val="0F172E"/>
                </a:solidFill>
                <a:latin typeface="Calibri"/>
              </a:rPr>
              <a:t>Gross margin (blended)</a:t>
            </a:r>
          </a:p>
        </p:txBody>
      </p:sp>
      <p:sp>
        <p:nvSpPr>
          <p:cNvPr id="70" name="TextBox 69"/>
          <p:cNvSpPr txBox="1"/>
          <p:nvPr/>
        </p:nvSpPr>
        <p:spPr>
          <a:xfrm>
            <a:off x="2560320" y="4050792"/>
            <a:ext cx="1135341" cy="274320"/>
          </a:xfrm>
          <a:prstGeom prst="rect">
            <a:avLst/>
          </a:prstGeom>
          <a:noFill/>
        </p:spPr>
        <p:txBody>
          <a:bodyPr wrap="square" lIns="0" rIns="0" tIns="0" bIns="0" anchor="t">
            <a:spAutoFit/>
          </a:bodyPr>
          <a:lstStyle/>
          <a:p>
            <a:pPr algn="ctr">
              <a:lnSpc>
                <a:spcPct val="115000"/>
              </a:lnSpc>
            </a:pPr>
            <a:r>
              <a:rPr sz="1050" b="0" i="0">
                <a:solidFill>
                  <a:srgbClr val="4A5573"/>
                </a:solidFill>
                <a:latin typeface="Consolas"/>
              </a:rPr>
              <a:t>—</a:t>
            </a:r>
          </a:p>
        </p:txBody>
      </p:sp>
      <p:sp>
        <p:nvSpPr>
          <p:cNvPr id="71" name="TextBox 70"/>
          <p:cNvSpPr txBox="1"/>
          <p:nvPr/>
        </p:nvSpPr>
        <p:spPr>
          <a:xfrm>
            <a:off x="3695661" y="4050792"/>
            <a:ext cx="1135341" cy="274320"/>
          </a:xfrm>
          <a:prstGeom prst="rect">
            <a:avLst/>
          </a:prstGeom>
          <a:noFill/>
        </p:spPr>
        <p:txBody>
          <a:bodyPr wrap="square" lIns="0" rIns="0" tIns="0" bIns="0" anchor="t">
            <a:spAutoFit/>
          </a:bodyPr>
          <a:lstStyle/>
          <a:p>
            <a:pPr algn="ctr">
              <a:lnSpc>
                <a:spcPct val="115000"/>
              </a:lnSpc>
            </a:pPr>
            <a:r>
              <a:rPr sz="1050" b="0" i="0">
                <a:solidFill>
                  <a:srgbClr val="4A5573"/>
                </a:solidFill>
                <a:latin typeface="Consolas"/>
              </a:rPr>
              <a:t>88%</a:t>
            </a:r>
          </a:p>
        </p:txBody>
      </p:sp>
      <p:sp>
        <p:nvSpPr>
          <p:cNvPr id="72" name="TextBox 71"/>
          <p:cNvSpPr txBox="1"/>
          <p:nvPr/>
        </p:nvSpPr>
        <p:spPr>
          <a:xfrm>
            <a:off x="4831003" y="4050792"/>
            <a:ext cx="1135341" cy="274320"/>
          </a:xfrm>
          <a:prstGeom prst="rect">
            <a:avLst/>
          </a:prstGeom>
          <a:noFill/>
        </p:spPr>
        <p:txBody>
          <a:bodyPr wrap="square" lIns="0" rIns="0" tIns="0" bIns="0" anchor="t">
            <a:spAutoFit/>
          </a:bodyPr>
          <a:lstStyle/>
          <a:p>
            <a:pPr algn="ctr">
              <a:lnSpc>
                <a:spcPct val="115000"/>
              </a:lnSpc>
            </a:pPr>
            <a:r>
              <a:rPr sz="1050" b="0" i="0">
                <a:solidFill>
                  <a:srgbClr val="4A5573"/>
                </a:solidFill>
                <a:latin typeface="Consolas"/>
              </a:rPr>
              <a:t>89%</a:t>
            </a:r>
          </a:p>
        </p:txBody>
      </p:sp>
      <p:sp>
        <p:nvSpPr>
          <p:cNvPr id="73" name="TextBox 72"/>
          <p:cNvSpPr txBox="1"/>
          <p:nvPr/>
        </p:nvSpPr>
        <p:spPr>
          <a:xfrm>
            <a:off x="5966345" y="4050792"/>
            <a:ext cx="1135341" cy="274320"/>
          </a:xfrm>
          <a:prstGeom prst="rect">
            <a:avLst/>
          </a:prstGeom>
          <a:noFill/>
        </p:spPr>
        <p:txBody>
          <a:bodyPr wrap="square" lIns="0" rIns="0" tIns="0" bIns="0" anchor="t">
            <a:spAutoFit/>
          </a:bodyPr>
          <a:lstStyle/>
          <a:p>
            <a:pPr algn="ctr">
              <a:lnSpc>
                <a:spcPct val="115000"/>
              </a:lnSpc>
            </a:pPr>
            <a:r>
              <a:rPr sz="1050" b="0" i="0">
                <a:solidFill>
                  <a:srgbClr val="4A5573"/>
                </a:solidFill>
                <a:latin typeface="Consolas"/>
              </a:rPr>
              <a:t>90%</a:t>
            </a:r>
          </a:p>
        </p:txBody>
      </p:sp>
      <p:sp>
        <p:nvSpPr>
          <p:cNvPr id="74" name="TextBox 73"/>
          <p:cNvSpPr txBox="1"/>
          <p:nvPr/>
        </p:nvSpPr>
        <p:spPr>
          <a:xfrm>
            <a:off x="7101687" y="4050792"/>
            <a:ext cx="1135341" cy="274320"/>
          </a:xfrm>
          <a:prstGeom prst="rect">
            <a:avLst/>
          </a:prstGeom>
          <a:noFill/>
        </p:spPr>
        <p:txBody>
          <a:bodyPr wrap="square" lIns="0" rIns="0" tIns="0" bIns="0" anchor="t">
            <a:spAutoFit/>
          </a:bodyPr>
          <a:lstStyle/>
          <a:p>
            <a:pPr algn="ctr">
              <a:lnSpc>
                <a:spcPct val="115000"/>
              </a:lnSpc>
            </a:pPr>
            <a:r>
              <a:rPr sz="1050" b="0" i="0">
                <a:solidFill>
                  <a:srgbClr val="4A5573"/>
                </a:solidFill>
                <a:latin typeface="Consolas"/>
              </a:rPr>
              <a:t>91%</a:t>
            </a:r>
          </a:p>
        </p:txBody>
      </p:sp>
      <p:sp>
        <p:nvSpPr>
          <p:cNvPr id="75" name="TextBox 74"/>
          <p:cNvSpPr txBox="1"/>
          <p:nvPr/>
        </p:nvSpPr>
        <p:spPr>
          <a:xfrm>
            <a:off x="8237029" y="4050792"/>
            <a:ext cx="1135341" cy="274320"/>
          </a:xfrm>
          <a:prstGeom prst="rect">
            <a:avLst/>
          </a:prstGeom>
          <a:noFill/>
        </p:spPr>
        <p:txBody>
          <a:bodyPr wrap="square" lIns="0" rIns="0" tIns="0" bIns="0" anchor="t">
            <a:spAutoFit/>
          </a:bodyPr>
          <a:lstStyle/>
          <a:p>
            <a:pPr algn="ctr">
              <a:lnSpc>
                <a:spcPct val="115000"/>
              </a:lnSpc>
            </a:pPr>
            <a:r>
              <a:rPr sz="1050" b="0" i="0">
                <a:solidFill>
                  <a:srgbClr val="4A5573"/>
                </a:solidFill>
                <a:latin typeface="Consolas"/>
              </a:rPr>
              <a:t>91%</a:t>
            </a:r>
          </a:p>
        </p:txBody>
      </p:sp>
      <p:sp>
        <p:nvSpPr>
          <p:cNvPr id="76" name="TextBox 75"/>
          <p:cNvSpPr txBox="1"/>
          <p:nvPr/>
        </p:nvSpPr>
        <p:spPr>
          <a:xfrm>
            <a:off x="9372371" y="4050792"/>
            <a:ext cx="1135341" cy="274320"/>
          </a:xfrm>
          <a:prstGeom prst="rect">
            <a:avLst/>
          </a:prstGeom>
          <a:noFill/>
        </p:spPr>
        <p:txBody>
          <a:bodyPr wrap="square" lIns="0" rIns="0" tIns="0" bIns="0" anchor="t">
            <a:spAutoFit/>
          </a:bodyPr>
          <a:lstStyle/>
          <a:p>
            <a:pPr algn="ctr">
              <a:lnSpc>
                <a:spcPct val="115000"/>
              </a:lnSpc>
            </a:pPr>
            <a:r>
              <a:rPr sz="1050" b="0" i="0">
                <a:solidFill>
                  <a:srgbClr val="4A5573"/>
                </a:solidFill>
                <a:latin typeface="Consolas"/>
              </a:rPr>
              <a:t>91%</a:t>
            </a:r>
          </a:p>
        </p:txBody>
      </p:sp>
      <p:sp>
        <p:nvSpPr>
          <p:cNvPr id="77" name="TextBox 76"/>
          <p:cNvSpPr txBox="1"/>
          <p:nvPr/>
        </p:nvSpPr>
        <p:spPr>
          <a:xfrm>
            <a:off x="10507713" y="4050792"/>
            <a:ext cx="1135341" cy="274320"/>
          </a:xfrm>
          <a:prstGeom prst="rect">
            <a:avLst/>
          </a:prstGeom>
          <a:noFill/>
        </p:spPr>
        <p:txBody>
          <a:bodyPr wrap="square" lIns="0" rIns="0" tIns="0" bIns="0" anchor="t">
            <a:spAutoFit/>
          </a:bodyPr>
          <a:lstStyle/>
          <a:p>
            <a:pPr algn="ctr">
              <a:lnSpc>
                <a:spcPct val="115000"/>
              </a:lnSpc>
            </a:pPr>
            <a:r>
              <a:rPr sz="1050" b="0" i="0">
                <a:solidFill>
                  <a:srgbClr val="4A5573"/>
                </a:solidFill>
                <a:latin typeface="Consolas"/>
              </a:rPr>
              <a:t>92%</a:t>
            </a:r>
          </a:p>
        </p:txBody>
      </p:sp>
      <p:sp>
        <p:nvSpPr>
          <p:cNvPr id="78" name="Rectangle 77"/>
          <p:cNvSpPr/>
          <p:nvPr/>
        </p:nvSpPr>
        <p:spPr>
          <a:xfrm>
            <a:off x="548640" y="4325112"/>
            <a:ext cx="11094415" cy="347472"/>
          </a:xfrm>
          <a:prstGeom prst="rect">
            <a:avLst/>
          </a:prstGeom>
          <a:solidFill>
            <a:srgbClr val="FFFFFF"/>
          </a:solidFill>
          <a:ln>
            <a:solidFill>
              <a:srgbClr val="D8DF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85800" y="4398264"/>
            <a:ext cx="1783080" cy="274320"/>
          </a:xfrm>
          <a:prstGeom prst="rect">
            <a:avLst/>
          </a:prstGeom>
          <a:noFill/>
        </p:spPr>
        <p:txBody>
          <a:bodyPr wrap="square" lIns="0" rIns="0" tIns="0" bIns="0" anchor="t">
            <a:spAutoFit/>
          </a:bodyPr>
          <a:lstStyle/>
          <a:p>
            <a:pPr algn="l">
              <a:lnSpc>
                <a:spcPct val="115000"/>
              </a:lnSpc>
            </a:pPr>
            <a:r>
              <a:rPr sz="1050" b="1" i="0">
                <a:solidFill>
                  <a:srgbClr val="0F172E"/>
                </a:solidFill>
                <a:latin typeface="Calibri"/>
              </a:rPr>
              <a:t>Cash burn ($/mo)</a:t>
            </a:r>
          </a:p>
        </p:txBody>
      </p:sp>
      <p:sp>
        <p:nvSpPr>
          <p:cNvPr id="80" name="TextBox 79"/>
          <p:cNvSpPr txBox="1"/>
          <p:nvPr/>
        </p:nvSpPr>
        <p:spPr>
          <a:xfrm>
            <a:off x="2560320" y="4398264"/>
            <a:ext cx="1135341" cy="274320"/>
          </a:xfrm>
          <a:prstGeom prst="rect">
            <a:avLst/>
          </a:prstGeom>
          <a:noFill/>
        </p:spPr>
        <p:txBody>
          <a:bodyPr wrap="square" lIns="0" rIns="0" tIns="0" bIns="0" anchor="t">
            <a:spAutoFit/>
          </a:bodyPr>
          <a:lstStyle/>
          <a:p>
            <a:pPr algn="ctr">
              <a:lnSpc>
                <a:spcPct val="115000"/>
              </a:lnSpc>
            </a:pPr>
            <a:r>
              <a:rPr sz="1050" b="0" i="0">
                <a:solidFill>
                  <a:srgbClr val="4A5573"/>
                </a:solidFill>
                <a:latin typeface="Consolas"/>
              </a:rPr>
              <a:t>45K</a:t>
            </a:r>
          </a:p>
        </p:txBody>
      </p:sp>
      <p:sp>
        <p:nvSpPr>
          <p:cNvPr id="81" name="TextBox 80"/>
          <p:cNvSpPr txBox="1"/>
          <p:nvPr/>
        </p:nvSpPr>
        <p:spPr>
          <a:xfrm>
            <a:off x="3695661" y="4398264"/>
            <a:ext cx="1135341" cy="274320"/>
          </a:xfrm>
          <a:prstGeom prst="rect">
            <a:avLst/>
          </a:prstGeom>
          <a:noFill/>
        </p:spPr>
        <p:txBody>
          <a:bodyPr wrap="square" lIns="0" rIns="0" tIns="0" bIns="0" anchor="t">
            <a:spAutoFit/>
          </a:bodyPr>
          <a:lstStyle/>
          <a:p>
            <a:pPr algn="ctr">
              <a:lnSpc>
                <a:spcPct val="115000"/>
              </a:lnSpc>
            </a:pPr>
            <a:r>
              <a:rPr sz="1050" b="0" i="0">
                <a:solidFill>
                  <a:srgbClr val="4A5573"/>
                </a:solidFill>
                <a:latin typeface="Consolas"/>
              </a:rPr>
              <a:t>80K</a:t>
            </a:r>
          </a:p>
        </p:txBody>
      </p:sp>
      <p:sp>
        <p:nvSpPr>
          <p:cNvPr id="82" name="TextBox 81"/>
          <p:cNvSpPr txBox="1"/>
          <p:nvPr/>
        </p:nvSpPr>
        <p:spPr>
          <a:xfrm>
            <a:off x="4831003" y="4398264"/>
            <a:ext cx="1135341" cy="274320"/>
          </a:xfrm>
          <a:prstGeom prst="rect">
            <a:avLst/>
          </a:prstGeom>
          <a:noFill/>
        </p:spPr>
        <p:txBody>
          <a:bodyPr wrap="square" lIns="0" rIns="0" tIns="0" bIns="0" anchor="t">
            <a:spAutoFit/>
          </a:bodyPr>
          <a:lstStyle/>
          <a:p>
            <a:pPr algn="ctr">
              <a:lnSpc>
                <a:spcPct val="115000"/>
              </a:lnSpc>
            </a:pPr>
            <a:r>
              <a:rPr sz="1050" b="0" i="0">
                <a:solidFill>
                  <a:srgbClr val="4A5573"/>
                </a:solidFill>
                <a:latin typeface="Consolas"/>
              </a:rPr>
              <a:t>120K</a:t>
            </a:r>
          </a:p>
        </p:txBody>
      </p:sp>
      <p:sp>
        <p:nvSpPr>
          <p:cNvPr id="83" name="TextBox 82"/>
          <p:cNvSpPr txBox="1"/>
          <p:nvPr/>
        </p:nvSpPr>
        <p:spPr>
          <a:xfrm>
            <a:off x="5966345" y="4398264"/>
            <a:ext cx="1135341" cy="274320"/>
          </a:xfrm>
          <a:prstGeom prst="rect">
            <a:avLst/>
          </a:prstGeom>
          <a:noFill/>
        </p:spPr>
        <p:txBody>
          <a:bodyPr wrap="square" lIns="0" rIns="0" tIns="0" bIns="0" anchor="t">
            <a:spAutoFit/>
          </a:bodyPr>
          <a:lstStyle/>
          <a:p>
            <a:pPr algn="ctr">
              <a:lnSpc>
                <a:spcPct val="115000"/>
              </a:lnSpc>
            </a:pPr>
            <a:r>
              <a:rPr sz="1050" b="0" i="0">
                <a:solidFill>
                  <a:srgbClr val="4A5573"/>
                </a:solidFill>
                <a:latin typeface="Consolas"/>
              </a:rPr>
              <a:t>160K</a:t>
            </a:r>
          </a:p>
        </p:txBody>
      </p:sp>
      <p:sp>
        <p:nvSpPr>
          <p:cNvPr id="84" name="TextBox 83"/>
          <p:cNvSpPr txBox="1"/>
          <p:nvPr/>
        </p:nvSpPr>
        <p:spPr>
          <a:xfrm>
            <a:off x="7101687" y="4398264"/>
            <a:ext cx="1135341" cy="274320"/>
          </a:xfrm>
          <a:prstGeom prst="rect">
            <a:avLst/>
          </a:prstGeom>
          <a:noFill/>
        </p:spPr>
        <p:txBody>
          <a:bodyPr wrap="square" lIns="0" rIns="0" tIns="0" bIns="0" anchor="t">
            <a:spAutoFit/>
          </a:bodyPr>
          <a:lstStyle/>
          <a:p>
            <a:pPr algn="ctr">
              <a:lnSpc>
                <a:spcPct val="115000"/>
              </a:lnSpc>
            </a:pPr>
            <a:r>
              <a:rPr sz="1050" b="0" i="0">
                <a:solidFill>
                  <a:srgbClr val="4A5573"/>
                </a:solidFill>
                <a:latin typeface="Consolas"/>
              </a:rPr>
              <a:t>200K</a:t>
            </a:r>
          </a:p>
        </p:txBody>
      </p:sp>
      <p:sp>
        <p:nvSpPr>
          <p:cNvPr id="85" name="TextBox 84"/>
          <p:cNvSpPr txBox="1"/>
          <p:nvPr/>
        </p:nvSpPr>
        <p:spPr>
          <a:xfrm>
            <a:off x="8237029" y="4398264"/>
            <a:ext cx="1135341" cy="274320"/>
          </a:xfrm>
          <a:prstGeom prst="rect">
            <a:avLst/>
          </a:prstGeom>
          <a:noFill/>
        </p:spPr>
        <p:txBody>
          <a:bodyPr wrap="square" lIns="0" rIns="0" tIns="0" bIns="0" anchor="t">
            <a:spAutoFit/>
          </a:bodyPr>
          <a:lstStyle/>
          <a:p>
            <a:pPr algn="ctr">
              <a:lnSpc>
                <a:spcPct val="115000"/>
              </a:lnSpc>
            </a:pPr>
            <a:r>
              <a:rPr sz="1050" b="0" i="0">
                <a:solidFill>
                  <a:srgbClr val="4A5573"/>
                </a:solidFill>
                <a:latin typeface="Consolas"/>
              </a:rPr>
              <a:t>230K</a:t>
            </a:r>
          </a:p>
        </p:txBody>
      </p:sp>
      <p:sp>
        <p:nvSpPr>
          <p:cNvPr id="86" name="TextBox 85"/>
          <p:cNvSpPr txBox="1"/>
          <p:nvPr/>
        </p:nvSpPr>
        <p:spPr>
          <a:xfrm>
            <a:off x="9372371" y="4398264"/>
            <a:ext cx="1135341" cy="274320"/>
          </a:xfrm>
          <a:prstGeom prst="rect">
            <a:avLst/>
          </a:prstGeom>
          <a:noFill/>
        </p:spPr>
        <p:txBody>
          <a:bodyPr wrap="square" lIns="0" rIns="0" tIns="0" bIns="0" anchor="t">
            <a:spAutoFit/>
          </a:bodyPr>
          <a:lstStyle/>
          <a:p>
            <a:pPr algn="ctr">
              <a:lnSpc>
                <a:spcPct val="115000"/>
              </a:lnSpc>
            </a:pPr>
            <a:r>
              <a:rPr sz="1050" b="0" i="0">
                <a:solidFill>
                  <a:srgbClr val="4A5573"/>
                </a:solidFill>
                <a:latin typeface="Consolas"/>
              </a:rPr>
              <a:t>220K</a:t>
            </a:r>
          </a:p>
        </p:txBody>
      </p:sp>
      <p:sp>
        <p:nvSpPr>
          <p:cNvPr id="87" name="TextBox 86"/>
          <p:cNvSpPr txBox="1"/>
          <p:nvPr/>
        </p:nvSpPr>
        <p:spPr>
          <a:xfrm>
            <a:off x="10507713" y="4398264"/>
            <a:ext cx="1135341" cy="274320"/>
          </a:xfrm>
          <a:prstGeom prst="rect">
            <a:avLst/>
          </a:prstGeom>
          <a:noFill/>
        </p:spPr>
        <p:txBody>
          <a:bodyPr wrap="square" lIns="0" rIns="0" tIns="0" bIns="0" anchor="t">
            <a:spAutoFit/>
          </a:bodyPr>
          <a:lstStyle/>
          <a:p>
            <a:pPr algn="ctr">
              <a:lnSpc>
                <a:spcPct val="115000"/>
              </a:lnSpc>
            </a:pPr>
            <a:r>
              <a:rPr sz="1050" b="0" i="0">
                <a:solidFill>
                  <a:srgbClr val="4A5573"/>
                </a:solidFill>
                <a:latin typeface="Consolas"/>
              </a:rPr>
              <a:t>180K</a:t>
            </a:r>
          </a:p>
        </p:txBody>
      </p:sp>
      <p:sp>
        <p:nvSpPr>
          <p:cNvPr id="88" name="Rectangle 87"/>
          <p:cNvSpPr/>
          <p:nvPr/>
        </p:nvSpPr>
        <p:spPr>
          <a:xfrm>
            <a:off x="548640" y="4937760"/>
            <a:ext cx="5760720" cy="1280160"/>
          </a:xfrm>
          <a:prstGeom prst="rect">
            <a:avLst/>
          </a:prstGeom>
          <a:solidFill>
            <a:srgbClr val="0A14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548640" y="4937760"/>
            <a:ext cx="73152" cy="1280160"/>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822960" y="5120640"/>
            <a:ext cx="5486400" cy="274320"/>
          </a:xfrm>
          <a:prstGeom prst="rect">
            <a:avLst/>
          </a:prstGeom>
          <a:noFill/>
        </p:spPr>
        <p:txBody>
          <a:bodyPr wrap="square" lIns="0" rIns="0" tIns="0" bIns="0" anchor="t">
            <a:spAutoFit/>
          </a:bodyPr>
          <a:lstStyle/>
          <a:p>
            <a:pPr algn="l">
              <a:lnSpc>
                <a:spcPct val="115000"/>
              </a:lnSpc>
            </a:pPr>
            <a:r>
              <a:rPr sz="1000" b="1" i="0">
                <a:solidFill>
                  <a:srgbClr val="4A7BFF"/>
                </a:solidFill>
                <a:latin typeface="Calibri"/>
              </a:rPr>
              <a:t>KEY DRIVERS</a:t>
            </a:r>
          </a:p>
        </p:txBody>
      </p:sp>
      <p:sp>
        <p:nvSpPr>
          <p:cNvPr id="91" name="Rectangle 90"/>
          <p:cNvSpPr/>
          <p:nvPr/>
        </p:nvSpPr>
        <p:spPr>
          <a:xfrm>
            <a:off x="822960" y="5472684"/>
            <a:ext cx="82296" cy="82296"/>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1024128" y="5394960"/>
            <a:ext cx="5285232" cy="201168"/>
          </a:xfrm>
          <a:prstGeom prst="rect">
            <a:avLst/>
          </a:prstGeom>
          <a:noFill/>
        </p:spPr>
        <p:txBody>
          <a:bodyPr wrap="square" lIns="0" rIns="0" tIns="0" bIns="0">
            <a:spAutoFit/>
          </a:bodyPr>
          <a:lstStyle/>
          <a:p>
            <a:pPr>
              <a:lnSpc>
                <a:spcPct val="115000"/>
              </a:lnSpc>
            </a:pPr>
            <a:r>
              <a:rPr sz="1000">
                <a:solidFill>
                  <a:srgbClr val="E8EDF7"/>
                </a:solidFill>
                <a:latin typeface="Calibri"/>
              </a:rPr>
              <a:t>Forced-signup conversion: 4% Free → Starter (conservative vs. category)</a:t>
            </a:r>
          </a:p>
        </p:txBody>
      </p:sp>
      <p:sp>
        <p:nvSpPr>
          <p:cNvPr id="93" name="Rectangle 92"/>
          <p:cNvSpPr/>
          <p:nvPr/>
        </p:nvSpPr>
        <p:spPr>
          <a:xfrm>
            <a:off x="822960" y="5673852"/>
            <a:ext cx="82296" cy="82296"/>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024128" y="5596128"/>
            <a:ext cx="5285232" cy="201168"/>
          </a:xfrm>
          <a:prstGeom prst="rect">
            <a:avLst/>
          </a:prstGeom>
          <a:noFill/>
        </p:spPr>
        <p:txBody>
          <a:bodyPr wrap="square" lIns="0" rIns="0" tIns="0" bIns="0">
            <a:spAutoFit/>
          </a:bodyPr>
          <a:lstStyle/>
          <a:p>
            <a:pPr>
              <a:lnSpc>
                <a:spcPct val="115000"/>
              </a:lnSpc>
            </a:pPr>
            <a:r>
              <a:rPr sz="1000">
                <a:solidFill>
                  <a:srgbClr val="E8EDF7"/>
                </a:solidFill>
                <a:latin typeface="Calibri"/>
              </a:rPr>
              <a:t>Buyer Free → Starter: 8% within 90 days of first evaluation</a:t>
            </a:r>
          </a:p>
        </p:txBody>
      </p:sp>
      <p:sp>
        <p:nvSpPr>
          <p:cNvPr id="95" name="Rectangle 94"/>
          <p:cNvSpPr/>
          <p:nvPr/>
        </p:nvSpPr>
        <p:spPr>
          <a:xfrm>
            <a:off x="822960" y="5875020"/>
            <a:ext cx="82296" cy="82296"/>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024128" y="5797296"/>
            <a:ext cx="5285232" cy="201168"/>
          </a:xfrm>
          <a:prstGeom prst="rect">
            <a:avLst/>
          </a:prstGeom>
          <a:noFill/>
        </p:spPr>
        <p:txBody>
          <a:bodyPr wrap="square" lIns="0" rIns="0" tIns="0" bIns="0">
            <a:spAutoFit/>
          </a:bodyPr>
          <a:lstStyle/>
          <a:p>
            <a:pPr>
              <a:lnSpc>
                <a:spcPct val="115000"/>
              </a:lnSpc>
            </a:pPr>
            <a:r>
              <a:rPr sz="1000">
                <a:solidFill>
                  <a:srgbClr val="E8EDF7"/>
                </a:solidFill>
                <a:latin typeface="Calibri"/>
              </a:rPr>
              <a:t>Starter → Growth expansion: 22% at 6 months (budget 80% × 2 months)</a:t>
            </a:r>
          </a:p>
        </p:txBody>
      </p:sp>
      <p:sp>
        <p:nvSpPr>
          <p:cNvPr id="97" name="Rectangle 96"/>
          <p:cNvSpPr/>
          <p:nvPr/>
        </p:nvSpPr>
        <p:spPr>
          <a:xfrm>
            <a:off x="822960" y="6076188"/>
            <a:ext cx="82296" cy="82296"/>
          </a:xfrm>
          <a:prstGeom prst="rect">
            <a:avLst/>
          </a:prstGeom>
          <a:solidFill>
            <a:srgbClr val="4A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024128" y="5998464"/>
            <a:ext cx="5285232" cy="201168"/>
          </a:xfrm>
          <a:prstGeom prst="rect">
            <a:avLst/>
          </a:prstGeom>
          <a:noFill/>
        </p:spPr>
        <p:txBody>
          <a:bodyPr wrap="square" lIns="0" rIns="0" tIns="0" bIns="0">
            <a:spAutoFit/>
          </a:bodyPr>
          <a:lstStyle/>
          <a:p>
            <a:pPr>
              <a:lnSpc>
                <a:spcPct val="115000"/>
              </a:lnSpc>
            </a:pPr>
            <a:r>
              <a:rPr sz="1000">
                <a:solidFill>
                  <a:srgbClr val="E8EDF7"/>
                </a:solidFill>
                <a:latin typeface="Calibri"/>
              </a:rPr>
              <a:t>Enterprise share capped at 10% of accounts through M24</a:t>
            </a:r>
          </a:p>
        </p:txBody>
      </p:sp>
      <p:sp>
        <p:nvSpPr>
          <p:cNvPr id="99" name="Rectangle 98"/>
          <p:cNvSpPr/>
          <p:nvPr/>
        </p:nvSpPr>
        <p:spPr>
          <a:xfrm>
            <a:off x="6492240" y="4937760"/>
            <a:ext cx="5150815" cy="1280160"/>
          </a:xfrm>
          <a:prstGeom prst="rect">
            <a:avLst/>
          </a:prstGeom>
          <a:solidFill>
            <a:srgbClr val="0A14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6492240" y="4937760"/>
            <a:ext cx="73152" cy="1280160"/>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6766560" y="5120640"/>
            <a:ext cx="4693615" cy="274320"/>
          </a:xfrm>
          <a:prstGeom prst="rect">
            <a:avLst/>
          </a:prstGeom>
          <a:noFill/>
        </p:spPr>
        <p:txBody>
          <a:bodyPr wrap="square" lIns="0" rIns="0" tIns="0" bIns="0" anchor="t">
            <a:spAutoFit/>
          </a:bodyPr>
          <a:lstStyle/>
          <a:p>
            <a:pPr algn="l">
              <a:lnSpc>
                <a:spcPct val="115000"/>
              </a:lnSpc>
            </a:pPr>
            <a:r>
              <a:rPr sz="1000" b="1" i="0">
                <a:solidFill>
                  <a:srgbClr val="F4B400"/>
                </a:solidFill>
                <a:latin typeface="Calibri"/>
              </a:rPr>
              <a:t>DOWNSIDE / UPSIDE BRACKETS</a:t>
            </a:r>
          </a:p>
        </p:txBody>
      </p:sp>
      <p:sp>
        <p:nvSpPr>
          <p:cNvPr id="102" name="Rectangle 101"/>
          <p:cNvSpPr/>
          <p:nvPr/>
        </p:nvSpPr>
        <p:spPr>
          <a:xfrm>
            <a:off x="6766560" y="5472684"/>
            <a:ext cx="82296" cy="82296"/>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6967728" y="5394960"/>
            <a:ext cx="4492447" cy="201168"/>
          </a:xfrm>
          <a:prstGeom prst="rect">
            <a:avLst/>
          </a:prstGeom>
          <a:noFill/>
        </p:spPr>
        <p:txBody>
          <a:bodyPr wrap="square" lIns="0" rIns="0" tIns="0" bIns="0">
            <a:spAutoFit/>
          </a:bodyPr>
          <a:lstStyle/>
          <a:p>
            <a:pPr>
              <a:lnSpc>
                <a:spcPct val="115000"/>
              </a:lnSpc>
            </a:pPr>
            <a:r>
              <a:rPr sz="1000">
                <a:solidFill>
                  <a:srgbClr val="E8EDF7"/>
                </a:solidFill>
                <a:latin typeface="Calibri"/>
              </a:rPr>
              <a:t>Downside (conversion −50%): $6M ARR at M24</a:t>
            </a:r>
          </a:p>
        </p:txBody>
      </p:sp>
      <p:sp>
        <p:nvSpPr>
          <p:cNvPr id="104" name="Rectangle 103"/>
          <p:cNvSpPr/>
          <p:nvPr/>
        </p:nvSpPr>
        <p:spPr>
          <a:xfrm>
            <a:off x="6766560" y="5673852"/>
            <a:ext cx="82296" cy="82296"/>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6967728" y="5596128"/>
            <a:ext cx="4492447" cy="201168"/>
          </a:xfrm>
          <a:prstGeom prst="rect">
            <a:avLst/>
          </a:prstGeom>
          <a:noFill/>
        </p:spPr>
        <p:txBody>
          <a:bodyPr wrap="square" lIns="0" rIns="0" tIns="0" bIns="0">
            <a:spAutoFit/>
          </a:bodyPr>
          <a:lstStyle/>
          <a:p>
            <a:pPr>
              <a:lnSpc>
                <a:spcPct val="115000"/>
              </a:lnSpc>
            </a:pPr>
            <a:r>
              <a:rPr sz="1000">
                <a:solidFill>
                  <a:srgbClr val="E8EDF7"/>
                </a:solidFill>
                <a:latin typeface="Calibri"/>
              </a:rPr>
              <a:t>Base (shown above): $11.4M ARR at M24</a:t>
            </a:r>
          </a:p>
        </p:txBody>
      </p:sp>
      <p:sp>
        <p:nvSpPr>
          <p:cNvPr id="106" name="Rectangle 105"/>
          <p:cNvSpPr/>
          <p:nvPr/>
        </p:nvSpPr>
        <p:spPr>
          <a:xfrm>
            <a:off x="6766560" y="5875020"/>
            <a:ext cx="82296" cy="82296"/>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6967728" y="5797296"/>
            <a:ext cx="4492447" cy="201168"/>
          </a:xfrm>
          <a:prstGeom prst="rect">
            <a:avLst/>
          </a:prstGeom>
          <a:noFill/>
        </p:spPr>
        <p:txBody>
          <a:bodyPr wrap="square" lIns="0" rIns="0" tIns="0" bIns="0">
            <a:spAutoFit/>
          </a:bodyPr>
          <a:lstStyle/>
          <a:p>
            <a:pPr>
              <a:lnSpc>
                <a:spcPct val="115000"/>
              </a:lnSpc>
            </a:pPr>
            <a:r>
              <a:rPr sz="1000">
                <a:solidFill>
                  <a:srgbClr val="E8EDF7"/>
                </a:solidFill>
                <a:latin typeface="Calibri"/>
              </a:rPr>
              <a:t>Upside (forced-signup conversion 8%): $18M ARR at M24</a:t>
            </a:r>
          </a:p>
        </p:txBody>
      </p:sp>
      <p:sp>
        <p:nvSpPr>
          <p:cNvPr id="108" name="Rectangle 107"/>
          <p:cNvSpPr/>
          <p:nvPr/>
        </p:nvSpPr>
        <p:spPr>
          <a:xfrm>
            <a:off x="6766560" y="6076188"/>
            <a:ext cx="82296" cy="82296"/>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6967728" y="5998464"/>
            <a:ext cx="4492447" cy="201168"/>
          </a:xfrm>
          <a:prstGeom prst="rect">
            <a:avLst/>
          </a:prstGeom>
          <a:noFill/>
        </p:spPr>
        <p:txBody>
          <a:bodyPr wrap="square" lIns="0" rIns="0" tIns="0" bIns="0">
            <a:spAutoFit/>
          </a:bodyPr>
          <a:lstStyle/>
          <a:p>
            <a:pPr>
              <a:lnSpc>
                <a:spcPct val="115000"/>
              </a:lnSpc>
            </a:pPr>
            <a:r>
              <a:rPr sz="1000">
                <a:solidFill>
                  <a:srgbClr val="E8EDF7"/>
                </a:solidFill>
                <a:latin typeface="Calibri"/>
              </a:rPr>
              <a:t>Wallet overage stays off-by-default — no bill-shock churn modeled.</a:t>
            </a:r>
          </a:p>
        </p:txBody>
      </p:sp>
      <p:cxnSp>
        <p:nvCxnSpPr>
          <p:cNvPr id="110" name="Connector 109"/>
          <p:cNvCxnSpPr/>
          <p:nvPr/>
        </p:nvCxnSpPr>
        <p:spPr>
          <a:xfrm>
            <a:off x="548640" y="6355080"/>
            <a:ext cx="11094415" cy="0"/>
          </a:xfrm>
          <a:prstGeom prst="line">
            <a:avLst/>
          </a:prstGeom>
          <a:ln w="9525">
            <a:solidFill>
              <a:srgbClr val="D8DFEE"/>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548640" y="6437376"/>
            <a:ext cx="3657600" cy="274320"/>
          </a:xfrm>
          <a:prstGeom prst="rect">
            <a:avLst/>
          </a:prstGeom>
          <a:noFill/>
        </p:spPr>
        <p:txBody>
          <a:bodyPr wrap="square" lIns="0" rIns="0" tIns="0" bIns="0" anchor="t">
            <a:spAutoFit/>
          </a:bodyPr>
          <a:lstStyle/>
          <a:p>
            <a:pPr algn="l">
              <a:lnSpc>
                <a:spcPct val="115000"/>
              </a:lnSpc>
            </a:pPr>
            <a:r>
              <a:rPr sz="900" b="1" i="0">
                <a:solidFill>
                  <a:srgbClr val="4A5573"/>
                </a:solidFill>
                <a:latin typeface="Calibri"/>
              </a:rPr>
              <a:t>SOURCERA  ·  APPENDIX</a:t>
            </a:r>
          </a:p>
        </p:txBody>
      </p:sp>
      <p:sp>
        <p:nvSpPr>
          <p:cNvPr id="112" name="TextBox 111"/>
          <p:cNvSpPr txBox="1"/>
          <p:nvPr/>
        </p:nvSpPr>
        <p:spPr>
          <a:xfrm>
            <a:off x="10362895" y="6437376"/>
            <a:ext cx="1280160" cy="274320"/>
          </a:xfrm>
          <a:prstGeom prst="rect">
            <a:avLst/>
          </a:prstGeom>
          <a:noFill/>
        </p:spPr>
        <p:txBody>
          <a:bodyPr wrap="square" lIns="0" rIns="0" tIns="0" bIns="0" anchor="t">
            <a:spAutoFit/>
          </a:bodyPr>
          <a:lstStyle/>
          <a:p>
            <a:pPr algn="r">
              <a:lnSpc>
                <a:spcPct val="115000"/>
              </a:lnSpc>
            </a:pPr>
            <a:r>
              <a:rPr sz="900" b="0" i="0">
                <a:solidFill>
                  <a:srgbClr val="4A5573"/>
                </a:solidFill>
                <a:latin typeface="Calibri"/>
              </a:rPr>
              <a:t>19 / 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